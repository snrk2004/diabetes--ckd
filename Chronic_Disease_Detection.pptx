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75" r:id="rId4"/>
    <p:sldId id="258" r:id="rId5"/>
    <p:sldId id="278" r:id="rId6"/>
    <p:sldId id="279" r:id="rId7"/>
    <p:sldId id="259" r:id="rId8"/>
    <p:sldId id="260" r:id="rId9"/>
    <p:sldId id="261" r:id="rId10"/>
    <p:sldId id="262" r:id="rId11"/>
    <p:sldId id="277" r:id="rId12"/>
    <p:sldId id="263" r:id="rId13"/>
    <p:sldId id="265" r:id="rId14"/>
    <p:sldId id="264" r:id="rId15"/>
    <p:sldId id="281" r:id="rId16"/>
    <p:sldId id="282" r:id="rId17"/>
    <p:sldId id="266" r:id="rId18"/>
    <p:sldId id="283" r:id="rId19"/>
    <p:sldId id="285" r:id="rId20"/>
    <p:sldId id="295" r:id="rId21"/>
    <p:sldId id="297" r:id="rId22"/>
    <p:sldId id="276" r:id="rId23"/>
    <p:sldId id="267" r:id="rId24"/>
    <p:sldId id="268" r:id="rId25"/>
    <p:sldId id="269" r:id="rId26"/>
    <p:sldId id="270" r:id="rId27"/>
    <p:sldId id="292" r:id="rId28"/>
    <p:sldId id="273" r:id="rId29"/>
    <p:sldId id="274" r:id="rId30"/>
    <p:sldId id="280"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5" d="100"/>
          <a:sy n="85" d="100"/>
        </p:scale>
        <p:origin x="74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3150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9B51F-7135-57F3-BF3E-43D7241A9C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36B41-728A-3887-F647-50AC401C39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DFF053-F020-909F-20D2-530C5B4D5B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3A6B7F-CC0E-201D-E55A-C6A9E63F64BD}"/>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229004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96B86-F1D1-9FDF-AD4D-2C6C0F691B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46F45-07A6-E140-C261-1496B20E2A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B4B754-3E26-1243-BC19-C36050D772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6F8C7C-D4E5-C170-B264-6DAA10FC06D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769565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86566-4813-8C9E-E836-DEDBF889D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10AE1-B4C4-02DE-2891-BB7E9C296A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CE7322-1B53-FEAE-814A-2D639C3EEE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12B85C-DC66-B3FB-9293-0E6C7CEC98D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586955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39E94-34EB-8EAE-D100-6856D2B231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DC0F00-302C-1653-E443-CF7E7403ED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1B918-A603-49EF-247C-F60EF5364A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126842-98AE-2570-4988-37F5882F2809}"/>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7702971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EEC56-EEE0-7734-56D6-5B39362335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B20C3-B357-F8D3-799D-B3FA39210F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EEFA2B-2832-4671-D1F9-10FD230926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C669FC-D8E9-8215-528B-E8FFAC907141}"/>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7500853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EEC56-EEE0-7734-56D6-5B39362335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B20C3-B357-F8D3-799D-B3FA39210F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EEFA2B-2832-4671-D1F9-10FD230926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C669FC-D8E9-8215-528B-E8FFAC907141}"/>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7500853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71FCC-4516-074A-F580-CA593FCAFB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240C9-302E-3522-2CBC-E90C08580C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0A69B-5E6D-5AE1-DB63-A9144A82FD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B2595A-4847-E97C-51A1-A7B275687396}"/>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8167011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BF44B-8DC1-F220-A377-79EE025273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B00F4-45DB-677F-73AD-68927921AF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4D0458-1C05-0153-7D46-0BE3F71E90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0AF4CE-7E0F-926B-B9E3-150BE07A0770}"/>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204425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Shape 0"/>
          <p:cNvSpPr/>
          <p:nvPr/>
        </p:nvSpPr>
        <p:spPr>
          <a:xfrm>
            <a:off x="0" y="0"/>
            <a:ext cx="9144000" cy="73152"/>
          </a:xfrm>
          <a:prstGeom prst="rect">
            <a:avLst/>
          </a:prstGeom>
          <a:solidFill>
            <a:srgbClr val="E87722"/>
          </a:solidFill>
          <a:ln w="12700">
            <a:solidFill>
              <a:srgbClr val="E87722"/>
            </a:solidFill>
            <a:prstDash val="solid"/>
          </a:ln>
        </p:spPr>
      </p:sp>
      <p:sp>
        <p:nvSpPr>
          <p:cNvPr id="4" name="Text 1"/>
          <p:cNvSpPr/>
          <p:nvPr/>
        </p:nvSpPr>
        <p:spPr>
          <a:xfrm>
            <a:off x="502920" y="1005840"/>
            <a:ext cx="8138160" cy="658368"/>
          </a:xfrm>
          <a:prstGeom prst="rect">
            <a:avLst/>
          </a:prstGeom>
          <a:noFill/>
          <a:ln/>
        </p:spPr>
        <p:txBody>
          <a:bodyPr wrap="square" rtlCol="0" anchor="ctr"/>
          <a:lstStyle/>
          <a:p>
            <a:pPr marL="0" indent="0" algn="ctr">
              <a:buNone/>
            </a:pPr>
            <a:r>
              <a:rPr lang="en-US" sz="3600" b="1" dirty="0">
                <a:solidFill>
                  <a:srgbClr val="1F3864"/>
                </a:solidFill>
                <a:latin typeface="Times New Roman" pitchFamily="34" charset="0"/>
                <a:ea typeface="Times New Roman" pitchFamily="34" charset="-122"/>
                <a:cs typeface="Times New Roman" pitchFamily="34" charset="-120"/>
              </a:rPr>
              <a:t>Early Detection of Chronic Kidney Disease and Diabetes</a:t>
            </a:r>
            <a:endParaRPr lang="en-US" sz="3600" dirty="0"/>
          </a:p>
        </p:txBody>
      </p:sp>
      <p:sp>
        <p:nvSpPr>
          <p:cNvPr id="6" name="Shape 3"/>
          <p:cNvSpPr/>
          <p:nvPr/>
        </p:nvSpPr>
        <p:spPr>
          <a:xfrm>
            <a:off x="2286000" y="2240280"/>
            <a:ext cx="4572000" cy="27432"/>
          </a:xfrm>
          <a:prstGeom prst="rect">
            <a:avLst/>
          </a:prstGeom>
          <a:solidFill>
            <a:srgbClr val="E87722"/>
          </a:solidFill>
          <a:ln w="12700">
            <a:solidFill>
              <a:srgbClr val="E87722"/>
            </a:solidFill>
            <a:prstDash val="solid"/>
          </a:ln>
        </p:spPr>
      </p:sp>
      <p:sp>
        <p:nvSpPr>
          <p:cNvPr id="7" name="Text 4"/>
          <p:cNvSpPr/>
          <p:nvPr/>
        </p:nvSpPr>
        <p:spPr>
          <a:xfrm>
            <a:off x="502920" y="2331720"/>
            <a:ext cx="8138160" cy="685800"/>
          </a:xfrm>
          <a:prstGeom prst="rect">
            <a:avLst/>
          </a:prstGeom>
          <a:noFill/>
          <a:ln/>
        </p:spPr>
        <p:txBody>
          <a:bodyPr wrap="square" rtlCol="0" anchor="ctr"/>
          <a:lstStyle/>
          <a:p>
            <a:pPr marL="0" indent="0" algn="ctr">
              <a:buNone/>
            </a:pPr>
            <a:r>
              <a:rPr lang="en-US" sz="2000" i="1" dirty="0">
                <a:solidFill>
                  <a:srgbClr val="3D3D3D"/>
                </a:solidFill>
                <a:latin typeface="Times New Roman" pitchFamily="34" charset="0"/>
                <a:ea typeface="Times New Roman" pitchFamily="34" charset="-122"/>
                <a:cs typeface="Times New Roman" pitchFamily="34" charset="-120"/>
              </a:rPr>
              <a:t>A Stratified Cross-Validation Approach Comparing</a:t>
            </a:r>
            <a:endParaRPr lang="en-US" sz="2000" dirty="0"/>
          </a:p>
          <a:p>
            <a:pPr marL="0" indent="0" algn="ctr">
              <a:buNone/>
            </a:pPr>
            <a:r>
              <a:rPr lang="en-US" sz="2000" i="1" dirty="0">
                <a:solidFill>
                  <a:srgbClr val="3D3D3D"/>
                </a:solidFill>
                <a:latin typeface="Times New Roman" pitchFamily="34" charset="0"/>
                <a:ea typeface="Times New Roman" pitchFamily="34" charset="-122"/>
                <a:cs typeface="Times New Roman" pitchFamily="34" charset="-120"/>
              </a:rPr>
              <a:t>Random Forest, XGBoost, and Neural Networks</a:t>
            </a:r>
            <a:endParaRPr lang="en-US" sz="2000" dirty="0"/>
          </a:p>
        </p:txBody>
      </p:sp>
      <p:sp>
        <p:nvSpPr>
          <p:cNvPr id="8" name="Text 5"/>
          <p:cNvSpPr/>
          <p:nvPr/>
        </p:nvSpPr>
        <p:spPr>
          <a:xfrm>
            <a:off x="502920" y="3127248"/>
            <a:ext cx="8138160" cy="365760"/>
          </a:xfrm>
          <a:prstGeom prst="rect">
            <a:avLst/>
          </a:prstGeom>
          <a:noFill/>
          <a:ln/>
        </p:spPr>
        <p:txBody>
          <a:bodyPr wrap="square" rtlCol="0" anchor="ctr"/>
          <a:lstStyle/>
          <a:p>
            <a:pPr marL="0" indent="0" algn="ctr">
              <a:buNone/>
            </a:pPr>
            <a:r>
              <a:rPr lang="en-US" sz="1700" dirty="0">
                <a:solidFill>
                  <a:srgbClr val="777777"/>
                </a:solidFill>
                <a:latin typeface="Times New Roman" pitchFamily="34" charset="0"/>
                <a:ea typeface="Times New Roman" pitchFamily="34" charset="-122"/>
                <a:cs typeface="Times New Roman" pitchFamily="34" charset="-120"/>
              </a:rPr>
              <a:t>Machine Learning in Healthcare Diagnostics</a:t>
            </a:r>
            <a:endParaRPr lang="en-US" sz="1700" dirty="0"/>
          </a:p>
        </p:txBody>
      </p:sp>
      <p:sp>
        <p:nvSpPr>
          <p:cNvPr id="9" name="Shape 6"/>
          <p:cNvSpPr/>
          <p:nvPr/>
        </p:nvSpPr>
        <p:spPr>
          <a:xfrm>
            <a:off x="0" y="4850892"/>
            <a:ext cx="9144000" cy="292608"/>
          </a:xfrm>
          <a:prstGeom prst="rect">
            <a:avLst/>
          </a:prstGeom>
          <a:solidFill>
            <a:srgbClr val="E87722"/>
          </a:solidFill>
          <a:ln w="12700">
            <a:solidFill>
              <a:srgbClr val="E87722"/>
            </a:solidFill>
            <a:prstDash val="solid"/>
          </a:ln>
        </p:spPr>
      </p:sp>
      <p:sp>
        <p:nvSpPr>
          <p:cNvPr id="10" name="Text 7"/>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ea typeface="Times New Roman" pitchFamily="34" charset="-122"/>
                <a:cs typeface="Times New Roman" pitchFamily="34" charset="-120"/>
              </a:rPr>
              <a:t>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Introduction</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7" name="Text 4"/>
          <p:cNvSpPr/>
          <p:nvPr/>
        </p:nvSpPr>
        <p:spPr>
          <a:xfrm>
            <a:off x="365760" y="1325880"/>
            <a:ext cx="8412480" cy="1005840"/>
          </a:xfrm>
          <a:prstGeom prst="rect">
            <a:avLst/>
          </a:prstGeom>
          <a:noFill/>
          <a:ln/>
        </p:spPr>
        <p:txBody>
          <a:bodyPr wrap="square" rtlCol="0" anchor="ctr"/>
          <a:lstStyle/>
          <a:p>
            <a:pPr marL="0" indent="0" algn="l">
              <a:buNone/>
            </a:pPr>
            <a:r>
              <a:rPr lang="en-US" sz="1800" dirty="0">
                <a:solidFill>
                  <a:srgbClr val="3D3D3D"/>
                </a:solidFill>
                <a:latin typeface="Times New Roman" pitchFamily="34" charset="0"/>
                <a:ea typeface="Times New Roman" pitchFamily="34" charset="-122"/>
                <a:cs typeface="Times New Roman" pitchFamily="34" charset="-120"/>
              </a:rPr>
              <a:t>Chronic diseases claim 41 million lives annually, representing 74% of global mortality. Early detection through machine learning offers hope for saving millions of lives, yet current approaches face critical challenges in reliability and interpretability that limit clinical adoption.</a:t>
            </a:r>
            <a:endParaRPr lang="en-US" sz="1800" dirty="0"/>
          </a:p>
        </p:txBody>
      </p:sp>
      <p:sp>
        <p:nvSpPr>
          <p:cNvPr id="8" name="Shape 5"/>
          <p:cNvSpPr/>
          <p:nvPr/>
        </p:nvSpPr>
        <p:spPr>
          <a:xfrm>
            <a:off x="365760" y="2487168"/>
            <a:ext cx="2606040" cy="1417320"/>
          </a:xfrm>
          <a:prstGeom prst="rect">
            <a:avLst/>
          </a:prstGeom>
          <a:solidFill>
            <a:srgbClr val="F5F5F5"/>
          </a:solidFill>
          <a:ln w="12700">
            <a:solidFill>
              <a:srgbClr val="DDDDDD"/>
            </a:solidFill>
            <a:prstDash val="solid"/>
          </a:ln>
        </p:spPr>
      </p:sp>
      <p:sp>
        <p:nvSpPr>
          <p:cNvPr id="9" name="Text 6"/>
          <p:cNvSpPr/>
          <p:nvPr/>
        </p:nvSpPr>
        <p:spPr>
          <a:xfrm>
            <a:off x="365760" y="2532888"/>
            <a:ext cx="2606040" cy="779526"/>
          </a:xfrm>
          <a:prstGeom prst="rect">
            <a:avLst/>
          </a:prstGeom>
          <a:noFill/>
          <a:ln/>
        </p:spPr>
        <p:txBody>
          <a:bodyPr wrap="square" lIns="0" tIns="0" rIns="0" bIns="0" rtlCol="0" anchor="b"/>
          <a:lstStyle/>
          <a:p>
            <a:pPr marL="0" indent="0" algn="ctr">
              <a:buNone/>
            </a:pPr>
            <a:r>
              <a:rPr lang="en-US" sz="3400" b="1" dirty="0">
                <a:solidFill>
                  <a:srgbClr val="E87722"/>
                </a:solidFill>
                <a:latin typeface="Times New Roman" pitchFamily="34" charset="0"/>
                <a:ea typeface="Times New Roman" pitchFamily="34" charset="-122"/>
                <a:cs typeface="Times New Roman" pitchFamily="34" charset="-120"/>
              </a:rPr>
              <a:t>41M</a:t>
            </a:r>
            <a:endParaRPr lang="en-US" sz="3400" dirty="0"/>
          </a:p>
        </p:txBody>
      </p:sp>
      <p:sp>
        <p:nvSpPr>
          <p:cNvPr id="10" name="Text 7"/>
          <p:cNvSpPr/>
          <p:nvPr/>
        </p:nvSpPr>
        <p:spPr>
          <a:xfrm>
            <a:off x="365760" y="3266694"/>
            <a:ext cx="2606040" cy="595274"/>
          </a:xfrm>
          <a:prstGeom prst="rect">
            <a:avLst/>
          </a:prstGeom>
          <a:noFill/>
          <a:ln/>
        </p:spPr>
        <p:txBody>
          <a:bodyPr wrap="square" lIns="0" tIns="0" rIns="0" bIns="0" rtlCol="0" anchor="t"/>
          <a:lstStyle/>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Annual deaths from</a:t>
            </a:r>
            <a:endParaRPr lang="en-US" sz="1300" dirty="0"/>
          </a:p>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chronic diseases</a:t>
            </a:r>
            <a:endParaRPr lang="en-US" sz="1300" dirty="0"/>
          </a:p>
        </p:txBody>
      </p:sp>
      <p:sp>
        <p:nvSpPr>
          <p:cNvPr id="11" name="Shape 8"/>
          <p:cNvSpPr/>
          <p:nvPr/>
        </p:nvSpPr>
        <p:spPr>
          <a:xfrm>
            <a:off x="3246120" y="2487168"/>
            <a:ext cx="2606040" cy="1417320"/>
          </a:xfrm>
          <a:prstGeom prst="rect">
            <a:avLst/>
          </a:prstGeom>
          <a:solidFill>
            <a:srgbClr val="F5F5F5"/>
          </a:solidFill>
          <a:ln w="12700">
            <a:solidFill>
              <a:srgbClr val="DDDDDD"/>
            </a:solidFill>
            <a:prstDash val="solid"/>
          </a:ln>
        </p:spPr>
      </p:sp>
      <p:sp>
        <p:nvSpPr>
          <p:cNvPr id="12" name="Text 9"/>
          <p:cNvSpPr/>
          <p:nvPr/>
        </p:nvSpPr>
        <p:spPr>
          <a:xfrm>
            <a:off x="3246120" y="2532888"/>
            <a:ext cx="2606040" cy="779526"/>
          </a:xfrm>
          <a:prstGeom prst="rect">
            <a:avLst/>
          </a:prstGeom>
          <a:noFill/>
          <a:ln/>
        </p:spPr>
        <p:txBody>
          <a:bodyPr wrap="square" lIns="0" tIns="0" rIns="0" bIns="0" rtlCol="0" anchor="b"/>
          <a:lstStyle/>
          <a:p>
            <a:pPr marL="0" indent="0" algn="ctr">
              <a:buNone/>
            </a:pPr>
            <a:r>
              <a:rPr lang="en-US" sz="3400" b="1" dirty="0">
                <a:solidFill>
                  <a:srgbClr val="E87722"/>
                </a:solidFill>
                <a:latin typeface="Times New Roman" pitchFamily="34" charset="0"/>
                <a:ea typeface="Times New Roman" pitchFamily="34" charset="-122"/>
                <a:cs typeface="Times New Roman" pitchFamily="34" charset="-120"/>
              </a:rPr>
              <a:t>74%</a:t>
            </a:r>
            <a:endParaRPr lang="en-US" sz="3400" dirty="0"/>
          </a:p>
        </p:txBody>
      </p:sp>
      <p:sp>
        <p:nvSpPr>
          <p:cNvPr id="13" name="Text 10"/>
          <p:cNvSpPr/>
          <p:nvPr/>
        </p:nvSpPr>
        <p:spPr>
          <a:xfrm>
            <a:off x="3246120" y="3266694"/>
            <a:ext cx="2606040" cy="595274"/>
          </a:xfrm>
          <a:prstGeom prst="rect">
            <a:avLst/>
          </a:prstGeom>
          <a:noFill/>
          <a:ln/>
        </p:spPr>
        <p:txBody>
          <a:bodyPr wrap="square" lIns="0" tIns="0" rIns="0" bIns="0" rtlCol="0" anchor="t"/>
          <a:lstStyle/>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Global mortality rate</a:t>
            </a:r>
            <a:endParaRPr lang="en-US" sz="1300" dirty="0"/>
          </a:p>
        </p:txBody>
      </p:sp>
      <p:sp>
        <p:nvSpPr>
          <p:cNvPr id="14" name="Shape 11"/>
          <p:cNvSpPr/>
          <p:nvPr/>
        </p:nvSpPr>
        <p:spPr>
          <a:xfrm>
            <a:off x="6172200" y="2487168"/>
            <a:ext cx="2606040" cy="1417320"/>
          </a:xfrm>
          <a:prstGeom prst="rect">
            <a:avLst/>
          </a:prstGeom>
          <a:solidFill>
            <a:srgbClr val="F5F5F5"/>
          </a:solidFill>
          <a:ln w="12700">
            <a:solidFill>
              <a:srgbClr val="DDDDDD"/>
            </a:solidFill>
            <a:prstDash val="solid"/>
          </a:ln>
        </p:spPr>
      </p:sp>
      <p:sp>
        <p:nvSpPr>
          <p:cNvPr id="15" name="Text 12"/>
          <p:cNvSpPr/>
          <p:nvPr/>
        </p:nvSpPr>
        <p:spPr>
          <a:xfrm>
            <a:off x="6172200" y="2532888"/>
            <a:ext cx="2606040" cy="779526"/>
          </a:xfrm>
          <a:prstGeom prst="rect">
            <a:avLst/>
          </a:prstGeom>
          <a:noFill/>
          <a:ln/>
        </p:spPr>
        <p:txBody>
          <a:bodyPr wrap="square" lIns="0" tIns="0" rIns="0" bIns="0" rtlCol="0" anchor="b"/>
          <a:lstStyle/>
          <a:p>
            <a:pPr marL="0" indent="0" algn="ctr">
              <a:buNone/>
            </a:pPr>
            <a:r>
              <a:rPr lang="en-US" sz="3400" b="1" dirty="0">
                <a:solidFill>
                  <a:srgbClr val="E87722"/>
                </a:solidFill>
                <a:latin typeface="Times New Roman" pitchFamily="34" charset="0"/>
                <a:ea typeface="Times New Roman" pitchFamily="34" charset="-122"/>
                <a:cs typeface="Times New Roman" pitchFamily="34" charset="-120"/>
              </a:rPr>
              <a:t>2</a:t>
            </a:r>
            <a:endParaRPr lang="en-US" sz="3400" dirty="0"/>
          </a:p>
        </p:txBody>
      </p:sp>
      <p:sp>
        <p:nvSpPr>
          <p:cNvPr id="16" name="Text 13"/>
          <p:cNvSpPr/>
          <p:nvPr/>
        </p:nvSpPr>
        <p:spPr>
          <a:xfrm>
            <a:off x="6172200" y="3266694"/>
            <a:ext cx="2606040" cy="595274"/>
          </a:xfrm>
          <a:prstGeom prst="rect">
            <a:avLst/>
          </a:prstGeom>
          <a:noFill/>
          <a:ln/>
        </p:spPr>
        <p:txBody>
          <a:bodyPr wrap="square" lIns="0" tIns="0" rIns="0" bIns="0" rtlCol="0" anchor="t"/>
          <a:lstStyle/>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Critical challenges for</a:t>
            </a:r>
            <a:endParaRPr lang="en-US" sz="1300" dirty="0"/>
          </a:p>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ML clinical adoption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373715F-886A-4271-4D9B-090049C829C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1A9BDEF-71F5-0AF4-55F2-FF07253E688E}"/>
              </a:ext>
            </a:extLst>
          </p:cNvPr>
          <p:cNvPicPr>
            <a:picLocks noChangeAspect="1"/>
          </p:cNvPicPr>
          <p:nvPr/>
        </p:nvPicPr>
        <p:blipFill>
          <a:blip r:embed="rId3"/>
          <a:stretch>
            <a:fillRect/>
          </a:stretch>
        </p:blipFill>
        <p:spPr>
          <a:xfrm>
            <a:off x="7818120" y="91440"/>
            <a:ext cx="1143000" cy="475488"/>
          </a:xfrm>
          <a:prstGeom prst="rect">
            <a:avLst/>
          </a:prstGeom>
        </p:spPr>
      </p:pic>
      <p:sp>
        <p:nvSpPr>
          <p:cNvPr id="3" name="Text 0">
            <a:extLst>
              <a:ext uri="{FF2B5EF4-FFF2-40B4-BE49-F238E27FC236}">
                <a16:creationId xmlns:a16="http://schemas.microsoft.com/office/drawing/2014/main" id="{0672CAE3-5707-AF8E-72C6-61ADC54EEAD2}"/>
              </a:ext>
            </a:extLst>
          </p:cNvPr>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Project Scope: Why CKD and Diabetes?</a:t>
            </a:r>
            <a:endParaRPr lang="en-US" sz="2600" dirty="0"/>
          </a:p>
        </p:txBody>
      </p:sp>
      <p:sp>
        <p:nvSpPr>
          <p:cNvPr id="4" name="Shape 1">
            <a:extLst>
              <a:ext uri="{FF2B5EF4-FFF2-40B4-BE49-F238E27FC236}">
                <a16:creationId xmlns:a16="http://schemas.microsoft.com/office/drawing/2014/main" id="{CF38B80F-9718-0438-1AD7-663323B2BF29}"/>
              </a:ext>
            </a:extLst>
          </p:cNvPr>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a:extLst>
              <a:ext uri="{FF2B5EF4-FFF2-40B4-BE49-F238E27FC236}">
                <a16:creationId xmlns:a16="http://schemas.microsoft.com/office/drawing/2014/main" id="{D062FF2B-07D7-F771-9B55-36A385EA9D12}"/>
              </a:ext>
            </a:extLst>
          </p:cNvPr>
          <p:cNvSpPr/>
          <p:nvPr/>
        </p:nvSpPr>
        <p:spPr>
          <a:xfrm>
            <a:off x="0" y="4850892"/>
            <a:ext cx="9144000" cy="292608"/>
          </a:xfrm>
          <a:prstGeom prst="rect">
            <a:avLst/>
          </a:prstGeom>
          <a:solidFill>
            <a:srgbClr val="E87722"/>
          </a:solidFill>
          <a:ln w="12700">
            <a:solidFill>
              <a:srgbClr val="E87722"/>
            </a:solidFill>
            <a:prstDash val="solid"/>
          </a:ln>
        </p:spPr>
      </p:sp>
      <p:sp>
        <p:nvSpPr>
          <p:cNvPr id="6" name="Text 3">
            <a:extLst>
              <a:ext uri="{FF2B5EF4-FFF2-40B4-BE49-F238E27FC236}">
                <a16:creationId xmlns:a16="http://schemas.microsoft.com/office/drawing/2014/main" id="{03F486EA-9040-5995-8E89-3A538BB1ACBB}"/>
              </a:ext>
            </a:extLst>
          </p:cNvPr>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3</a:t>
            </a:r>
            <a:endParaRPr lang="en-US" sz="1400" dirty="0"/>
          </a:p>
        </p:txBody>
      </p:sp>
      <p:sp>
        <p:nvSpPr>
          <p:cNvPr id="7" name="Text 4">
            <a:extLst>
              <a:ext uri="{FF2B5EF4-FFF2-40B4-BE49-F238E27FC236}">
                <a16:creationId xmlns:a16="http://schemas.microsoft.com/office/drawing/2014/main" id="{E4C6007A-AE08-CB53-6C83-6DAB1BD50633}"/>
              </a:ext>
            </a:extLst>
          </p:cNvPr>
          <p:cNvSpPr/>
          <p:nvPr/>
        </p:nvSpPr>
        <p:spPr>
          <a:xfrm>
            <a:off x="365760" y="1325879"/>
            <a:ext cx="8412480" cy="3298231"/>
          </a:xfrm>
          <a:prstGeom prst="rect">
            <a:avLst/>
          </a:prstGeom>
          <a:noFill/>
          <a:ln/>
        </p:spPr>
        <p:txBody>
          <a:bodyPr wrap="square" rtlCol="0" anchor="ctr"/>
          <a:lstStyle/>
          <a:p>
            <a:pPr marL="285750" indent="-285750" algn="l">
              <a:buFont typeface="Arial" panose="020B0604020202020204" pitchFamily="34" charset="0"/>
              <a:buChar char="•"/>
            </a:pPr>
            <a:r>
              <a:rPr lang="en-US" b="1" i="1" dirty="0">
                <a:solidFill>
                  <a:srgbClr val="1F3864"/>
                </a:solidFill>
                <a:latin typeface="Times New Roman" pitchFamily="34" charset="0"/>
                <a:ea typeface="Times New Roman" pitchFamily="34" charset="-122"/>
                <a:cs typeface="Times New Roman" pitchFamily="34" charset="-120"/>
              </a:rPr>
              <a:t>Massive Global Burden</a:t>
            </a:r>
            <a:r>
              <a:rPr lang="en-US" i="1" dirty="0">
                <a:solidFill>
                  <a:srgbClr val="3D3D3D"/>
                </a:solidFill>
                <a:latin typeface="Times New Roman" pitchFamily="34" charset="0"/>
                <a:ea typeface="Times New Roman" pitchFamily="34" charset="-122"/>
                <a:cs typeface="Times New Roman" pitchFamily="34" charset="-120"/>
              </a:rPr>
              <a:t>: </a:t>
            </a:r>
          </a:p>
          <a:p>
            <a:pPr marL="742950" lvl="1" indent="-285750">
              <a:buFont typeface="Arial" panose="020B0604020202020204" pitchFamily="34" charset="0"/>
              <a:buChar char="•"/>
            </a:pPr>
            <a:r>
              <a:rPr lang="en-US" sz="1600" dirty="0">
                <a:solidFill>
                  <a:srgbClr val="3D3D3D"/>
                </a:solidFill>
                <a:latin typeface="Times New Roman" pitchFamily="34" charset="0"/>
                <a:ea typeface="Times New Roman" pitchFamily="34" charset="-122"/>
                <a:cs typeface="Times New Roman" pitchFamily="34" charset="-120"/>
              </a:rPr>
              <a:t>While there are 15 major chronic disease clusters, we targeted two of the most critical: CKD (843 million affected globally) and Type 2 Diabetes (537 million).</a:t>
            </a:r>
          </a:p>
          <a:p>
            <a:pPr marL="285750" indent="-285750" algn="l">
              <a:buFont typeface="Arial" panose="020B0604020202020204" pitchFamily="34" charset="0"/>
              <a:buChar char="•"/>
            </a:pPr>
            <a:r>
              <a:rPr lang="en-US" b="1" i="1" dirty="0">
                <a:solidFill>
                  <a:srgbClr val="1F3864"/>
                </a:solidFill>
                <a:latin typeface="Times New Roman" pitchFamily="34" charset="0"/>
                <a:ea typeface="Times New Roman" pitchFamily="34" charset="-122"/>
                <a:cs typeface="Times New Roman" pitchFamily="34" charset="-120"/>
              </a:rPr>
              <a:t>Strong Mechanistic Links</a:t>
            </a:r>
            <a:r>
              <a:rPr lang="en-US" i="1" dirty="0">
                <a:solidFill>
                  <a:srgbClr val="3D3D3D"/>
                </a:solidFill>
                <a:latin typeface="Times New Roman" pitchFamily="34" charset="0"/>
                <a:ea typeface="Times New Roman" pitchFamily="34" charset="-122"/>
                <a:cs typeface="Times New Roman" pitchFamily="34" charset="-120"/>
              </a:rPr>
              <a:t>:</a:t>
            </a:r>
            <a:r>
              <a:rPr lang="en-US" dirty="0">
                <a:solidFill>
                  <a:srgbClr val="3D3D3D"/>
                </a:solidFill>
                <a:latin typeface="Times New Roman" pitchFamily="34" charset="0"/>
                <a:ea typeface="Times New Roman" pitchFamily="34" charset="-122"/>
                <a:cs typeface="Times New Roman" pitchFamily="34" charset="-120"/>
              </a:rPr>
              <a:t> </a:t>
            </a:r>
          </a:p>
          <a:p>
            <a:pPr marL="742950" lvl="1" indent="-285750">
              <a:buFont typeface="Arial" panose="020B0604020202020204" pitchFamily="34" charset="0"/>
              <a:buChar char="•"/>
            </a:pPr>
            <a:r>
              <a:rPr lang="en-US" sz="1600" dirty="0">
                <a:solidFill>
                  <a:srgbClr val="3D3D3D"/>
                </a:solidFill>
                <a:latin typeface="Times New Roman" pitchFamily="34" charset="0"/>
                <a:ea typeface="Times New Roman" pitchFamily="34" charset="-122"/>
                <a:cs typeface="Times New Roman" pitchFamily="34" charset="-120"/>
              </a:rPr>
              <a:t>These diseases are not isolated. Diabetic nephropathy is the leading cause of end-stage renal disease (ESRD), making their dual-analysis clinically highly relevant.</a:t>
            </a:r>
          </a:p>
          <a:p>
            <a:pPr marL="285750" indent="-285750" algn="l">
              <a:buFont typeface="Arial" panose="020B0604020202020204" pitchFamily="34" charset="0"/>
              <a:buChar char="•"/>
            </a:pPr>
            <a:r>
              <a:rPr lang="en-US" b="1" i="1" dirty="0">
                <a:solidFill>
                  <a:srgbClr val="1F3864"/>
                </a:solidFill>
                <a:latin typeface="Times New Roman" pitchFamily="34" charset="0"/>
                <a:ea typeface="Times New Roman" pitchFamily="34" charset="-122"/>
                <a:cs typeface="Times New Roman" pitchFamily="34" charset="-120"/>
              </a:rPr>
              <a:t>The "Silent" Threat</a:t>
            </a:r>
            <a:r>
              <a:rPr lang="en-US" i="1" dirty="0">
                <a:solidFill>
                  <a:srgbClr val="3D3D3D"/>
                </a:solidFill>
                <a:latin typeface="Times New Roman" pitchFamily="34" charset="0"/>
                <a:ea typeface="Times New Roman" pitchFamily="34" charset="-122"/>
                <a:cs typeface="Times New Roman" pitchFamily="34" charset="-120"/>
              </a:rPr>
              <a:t>:</a:t>
            </a:r>
            <a:r>
              <a:rPr lang="en-US" dirty="0">
                <a:solidFill>
                  <a:srgbClr val="3D3D3D"/>
                </a:solidFill>
                <a:latin typeface="Times New Roman" pitchFamily="34" charset="0"/>
                <a:ea typeface="Times New Roman" pitchFamily="34" charset="-122"/>
                <a:cs typeface="Times New Roman" pitchFamily="34" charset="-120"/>
              </a:rPr>
              <a:t> </a:t>
            </a:r>
          </a:p>
          <a:p>
            <a:pPr marL="742950" lvl="1" indent="-285750">
              <a:buFont typeface="Arial" panose="020B0604020202020204" pitchFamily="34" charset="0"/>
              <a:buChar char="•"/>
            </a:pPr>
            <a:r>
              <a:rPr lang="en-US" sz="1600" dirty="0">
                <a:solidFill>
                  <a:srgbClr val="3D3D3D"/>
                </a:solidFill>
                <a:latin typeface="Times New Roman" pitchFamily="34" charset="0"/>
                <a:ea typeface="Times New Roman" pitchFamily="34" charset="-122"/>
                <a:cs typeface="Times New Roman" pitchFamily="34" charset="-120"/>
              </a:rPr>
              <a:t>Both diseases are largely asymptomatic in their early stages, making them the perfect candidates for early-warning Machine Learning detection.</a:t>
            </a:r>
          </a:p>
          <a:p>
            <a:pPr marL="285750" indent="-285750">
              <a:buFont typeface="Arial" panose="020B0604020202020204" pitchFamily="34" charset="0"/>
              <a:buChar char="•"/>
            </a:pPr>
            <a:r>
              <a:rPr lang="en-US" sz="1600" dirty="0">
                <a:solidFill>
                  <a:srgbClr val="3D3D3D"/>
                </a:solidFill>
                <a:latin typeface="Times New Roman" pitchFamily="34" charset="0"/>
                <a:ea typeface="Times New Roman" pitchFamily="34" charset="-122"/>
                <a:cs typeface="Times New Roman" pitchFamily="34" charset="-120"/>
              </a:rPr>
              <a:t>Zhang et al., ML for CKD prediction from diabetes records — Computers in Biology and Medicine, 2022. Found an optimal probability threshold of 0.45–0.52 for </a:t>
            </a:r>
            <a:r>
              <a:rPr lang="en-US" sz="1600" dirty="0" err="1">
                <a:solidFill>
                  <a:srgbClr val="3D3D3D"/>
                </a:solidFill>
                <a:latin typeface="Times New Roman" pitchFamily="34" charset="0"/>
                <a:ea typeface="Times New Roman" pitchFamily="34" charset="-122"/>
                <a:cs typeface="Times New Roman" pitchFamily="34" charset="-120"/>
              </a:rPr>
              <a:t>diabetes→CKD</a:t>
            </a:r>
            <a:r>
              <a:rPr lang="en-US" sz="1600" dirty="0">
                <a:solidFill>
                  <a:srgbClr val="3D3D3D"/>
                </a:solidFill>
                <a:latin typeface="Times New Roman" pitchFamily="34" charset="0"/>
                <a:ea typeface="Times New Roman" pitchFamily="34" charset="-122"/>
                <a:cs typeface="Times New Roman" pitchFamily="34" charset="-120"/>
              </a:rPr>
              <a:t> escalation using gradient boosting, not 0.82. Link: https://doi.org/10.1016/j.compbiomed.2022.105263</a:t>
            </a:r>
          </a:p>
          <a:p>
            <a:pPr marL="285750" indent="-285750">
              <a:buFont typeface="Arial" panose="020B0604020202020204" pitchFamily="34" charset="0"/>
              <a:buChar char="•"/>
            </a:pPr>
            <a:endParaRPr lang="en-US" sz="1600" dirty="0">
              <a:solidFill>
                <a:srgbClr val="3D3D3D"/>
              </a:solidFill>
              <a:latin typeface="Times New Roman" pitchFamily="34" charset="0"/>
              <a:ea typeface="Times New Roman" pitchFamily="34" charset="-122"/>
              <a:cs typeface="Times New Roman" pitchFamily="34" charset="-120"/>
            </a:endParaRPr>
          </a:p>
        </p:txBody>
      </p:sp>
    </p:spTree>
    <p:extLst>
      <p:ext uri="{BB962C8B-B14F-4D97-AF65-F5344CB8AC3E}">
        <p14:creationId xmlns:p14="http://schemas.microsoft.com/office/powerpoint/2010/main" val="3076973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Problem Statement</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4</a:t>
            </a:r>
            <a:endParaRPr lang="en-US" sz="1400" dirty="0"/>
          </a:p>
        </p:txBody>
      </p:sp>
      <p:sp>
        <p:nvSpPr>
          <p:cNvPr id="7" name="Shape 4"/>
          <p:cNvSpPr/>
          <p:nvPr/>
        </p:nvSpPr>
        <p:spPr>
          <a:xfrm>
            <a:off x="365760" y="1325880"/>
            <a:ext cx="8412480" cy="960120"/>
          </a:xfrm>
          <a:prstGeom prst="rect">
            <a:avLst/>
          </a:prstGeom>
          <a:solidFill>
            <a:srgbClr val="FFF4EC"/>
          </a:solidFill>
          <a:ln w="12700">
            <a:solidFill>
              <a:srgbClr val="E87722"/>
            </a:solidFill>
            <a:prstDash val="solid"/>
          </a:ln>
        </p:spPr>
      </p:sp>
      <p:sp>
        <p:nvSpPr>
          <p:cNvPr id="8" name="Text 5"/>
          <p:cNvSpPr/>
          <p:nvPr/>
        </p:nvSpPr>
        <p:spPr>
          <a:xfrm>
            <a:off x="502920" y="1371600"/>
            <a:ext cx="8138160" cy="868680"/>
          </a:xfrm>
          <a:prstGeom prst="rect">
            <a:avLst/>
          </a:prstGeom>
          <a:noFill/>
          <a:ln/>
        </p:spPr>
        <p:txBody>
          <a:bodyPr wrap="square" rtlCol="0" anchor="ctr"/>
          <a:lstStyle/>
          <a:p>
            <a:pPr marL="0" indent="0">
              <a:buNone/>
            </a:pPr>
            <a:r>
              <a:rPr lang="en-US" sz="1600" dirty="0">
                <a:solidFill>
                  <a:srgbClr val="3D3D3D"/>
                </a:solidFill>
                <a:latin typeface="Times New Roman" pitchFamily="34" charset="0"/>
                <a:ea typeface="Times New Roman" pitchFamily="34" charset="-122"/>
                <a:cs typeface="Times New Roman" pitchFamily="34" charset="-120"/>
              </a:rPr>
              <a:t>Current machine learning approaches for chronic disease prediction suffer from inadequate validation methods, lack of interpretability, and insufficient handling of class imbalance, limiting their clinical adoption and reliability.</a:t>
            </a:r>
            <a:endParaRPr lang="en-US" sz="1600" dirty="0"/>
          </a:p>
        </p:txBody>
      </p:sp>
      <p:sp>
        <p:nvSpPr>
          <p:cNvPr id="9" name="Text 6"/>
          <p:cNvSpPr/>
          <p:nvPr/>
        </p:nvSpPr>
        <p:spPr>
          <a:xfrm>
            <a:off x="365760" y="2423160"/>
            <a:ext cx="8412480" cy="292608"/>
          </a:xfrm>
          <a:prstGeom prst="rect">
            <a:avLst/>
          </a:prstGeom>
          <a:noFill/>
          <a:ln/>
        </p:spPr>
        <p:txBody>
          <a:bodyPr wrap="square" rtlCol="0" anchor="ctr"/>
          <a:lstStyle/>
          <a:p>
            <a:pPr marL="0" indent="0">
              <a:buNone/>
            </a:pPr>
            <a:r>
              <a:rPr lang="en-US" sz="1800" b="1" dirty="0">
                <a:solidFill>
                  <a:srgbClr val="1F3864"/>
                </a:solidFill>
                <a:latin typeface="Times New Roman" pitchFamily="34" charset="0"/>
                <a:ea typeface="Times New Roman" pitchFamily="34" charset="-122"/>
                <a:cs typeface="Times New Roman" pitchFamily="34" charset="-120"/>
              </a:rPr>
              <a:t>Our Solution</a:t>
            </a:r>
            <a:endParaRPr lang="en-US" sz="1800" dirty="0"/>
          </a:p>
        </p:txBody>
      </p:sp>
      <p:sp>
        <p:nvSpPr>
          <p:cNvPr id="10" name="Shape 7"/>
          <p:cNvSpPr/>
          <p:nvPr/>
        </p:nvSpPr>
        <p:spPr>
          <a:xfrm>
            <a:off x="365760" y="2761488"/>
            <a:ext cx="2743200" cy="2016252"/>
          </a:xfrm>
          <a:prstGeom prst="rect">
            <a:avLst/>
          </a:prstGeom>
          <a:solidFill>
            <a:srgbClr val="F9F9F9"/>
          </a:solidFill>
          <a:ln w="12700">
            <a:solidFill>
              <a:srgbClr val="E0E0E0"/>
            </a:solidFill>
            <a:prstDash val="solid"/>
          </a:ln>
        </p:spPr>
      </p:sp>
      <p:sp>
        <p:nvSpPr>
          <p:cNvPr id="11" name="Shape 8"/>
          <p:cNvSpPr/>
          <p:nvPr/>
        </p:nvSpPr>
        <p:spPr>
          <a:xfrm>
            <a:off x="457200" y="2852928"/>
            <a:ext cx="365760" cy="365760"/>
          </a:xfrm>
          <a:prstGeom prst="ellipse">
            <a:avLst/>
          </a:prstGeom>
          <a:solidFill>
            <a:srgbClr val="E87722"/>
          </a:solidFill>
          <a:ln w="12700">
            <a:solidFill>
              <a:srgbClr val="E87722"/>
            </a:solidFill>
            <a:prstDash val="solid"/>
          </a:ln>
        </p:spPr>
      </p:sp>
      <p:sp>
        <p:nvSpPr>
          <p:cNvPr id="12" name="Text 9"/>
          <p:cNvSpPr/>
          <p:nvPr/>
        </p:nvSpPr>
        <p:spPr>
          <a:xfrm>
            <a:off x="457200" y="285292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1</a:t>
            </a:r>
            <a:endParaRPr lang="en-US" sz="1500" dirty="0"/>
          </a:p>
        </p:txBody>
      </p:sp>
      <p:sp>
        <p:nvSpPr>
          <p:cNvPr id="13" name="Text 10"/>
          <p:cNvSpPr/>
          <p:nvPr/>
        </p:nvSpPr>
        <p:spPr>
          <a:xfrm>
            <a:off x="896112" y="2852928"/>
            <a:ext cx="2121408" cy="292608"/>
          </a:xfrm>
          <a:prstGeom prst="rect">
            <a:avLst/>
          </a:prstGeom>
          <a:noFill/>
          <a:ln/>
        </p:spPr>
        <p:txBody>
          <a:bodyPr wrap="square" lIns="0" tIns="0" rIns="0" bIns="0" rtlCol="0" anchor="ctr"/>
          <a:lstStyle/>
          <a:p>
            <a:pPr marL="0" indent="0">
              <a:buNone/>
            </a:pPr>
            <a:r>
              <a:rPr lang="en-US" sz="1500" b="1" dirty="0">
                <a:solidFill>
                  <a:srgbClr val="1F3864"/>
                </a:solidFill>
                <a:latin typeface="Times New Roman" pitchFamily="34" charset="0"/>
                <a:ea typeface="Times New Roman" pitchFamily="34" charset="-122"/>
                <a:cs typeface="Times New Roman" pitchFamily="34" charset="-120"/>
              </a:rPr>
              <a:t>Stratified 10-Fold Cross-Validation</a:t>
            </a:r>
            <a:endParaRPr lang="en-US" sz="1500" dirty="0"/>
          </a:p>
        </p:txBody>
      </p:sp>
      <p:sp>
        <p:nvSpPr>
          <p:cNvPr id="14" name="Text 11"/>
          <p:cNvSpPr/>
          <p:nvPr/>
        </p:nvSpPr>
        <p:spPr>
          <a:xfrm>
            <a:off x="493776" y="3218688"/>
            <a:ext cx="2523744" cy="1467612"/>
          </a:xfrm>
          <a:prstGeom prst="rect">
            <a:avLst/>
          </a:prstGeom>
          <a:noFill/>
          <a:ln/>
        </p:spPr>
        <p:txBody>
          <a:bodyPr wrap="square" lIns="0" tIns="0" rIns="0" bIns="0" rtlCol="0" anchor="ctr"/>
          <a:lstStyle/>
          <a:p>
            <a:pPr marL="0" indent="0">
              <a:buNone/>
            </a:pPr>
            <a:r>
              <a:rPr lang="en-US" sz="1600" dirty="0">
                <a:solidFill>
                  <a:srgbClr val="3D3D3D"/>
                </a:solidFill>
                <a:latin typeface="Times New Roman" pitchFamily="34" charset="0"/>
                <a:ea typeface="Times New Roman" pitchFamily="34" charset="-122"/>
                <a:cs typeface="Times New Roman" pitchFamily="34" charset="-120"/>
              </a:rPr>
              <a:t>Robust validation prevents overfitting</a:t>
            </a:r>
            <a:endParaRPr lang="en-US" sz="1600" dirty="0"/>
          </a:p>
        </p:txBody>
      </p:sp>
      <p:sp>
        <p:nvSpPr>
          <p:cNvPr id="15" name="Shape 12"/>
          <p:cNvSpPr/>
          <p:nvPr/>
        </p:nvSpPr>
        <p:spPr>
          <a:xfrm>
            <a:off x="3200400" y="2761488"/>
            <a:ext cx="2743200" cy="2016252"/>
          </a:xfrm>
          <a:prstGeom prst="rect">
            <a:avLst/>
          </a:prstGeom>
          <a:solidFill>
            <a:srgbClr val="F9F9F9"/>
          </a:solidFill>
          <a:ln w="12700">
            <a:solidFill>
              <a:srgbClr val="E0E0E0"/>
            </a:solidFill>
            <a:prstDash val="solid"/>
          </a:ln>
        </p:spPr>
      </p:sp>
      <p:sp>
        <p:nvSpPr>
          <p:cNvPr id="16" name="Shape 13"/>
          <p:cNvSpPr/>
          <p:nvPr/>
        </p:nvSpPr>
        <p:spPr>
          <a:xfrm>
            <a:off x="3291840" y="2852928"/>
            <a:ext cx="365760" cy="365760"/>
          </a:xfrm>
          <a:prstGeom prst="ellipse">
            <a:avLst/>
          </a:prstGeom>
          <a:solidFill>
            <a:srgbClr val="E87722"/>
          </a:solidFill>
          <a:ln w="12700">
            <a:solidFill>
              <a:srgbClr val="E87722"/>
            </a:solidFill>
            <a:prstDash val="solid"/>
          </a:ln>
        </p:spPr>
      </p:sp>
      <p:sp>
        <p:nvSpPr>
          <p:cNvPr id="17" name="Text 14"/>
          <p:cNvSpPr/>
          <p:nvPr/>
        </p:nvSpPr>
        <p:spPr>
          <a:xfrm>
            <a:off x="3291840" y="285292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2</a:t>
            </a:r>
            <a:endParaRPr lang="en-US" sz="1500" dirty="0"/>
          </a:p>
        </p:txBody>
      </p:sp>
      <p:sp>
        <p:nvSpPr>
          <p:cNvPr id="18" name="Text 15"/>
          <p:cNvSpPr/>
          <p:nvPr/>
        </p:nvSpPr>
        <p:spPr>
          <a:xfrm>
            <a:off x="3730752" y="2852928"/>
            <a:ext cx="2121408" cy="292608"/>
          </a:xfrm>
          <a:prstGeom prst="rect">
            <a:avLst/>
          </a:prstGeom>
          <a:noFill/>
          <a:ln/>
        </p:spPr>
        <p:txBody>
          <a:bodyPr wrap="square" lIns="0" tIns="0" rIns="0" bIns="0" rtlCol="0" anchor="ctr"/>
          <a:lstStyle/>
          <a:p>
            <a:pPr marL="0" indent="0">
              <a:buNone/>
            </a:pPr>
            <a:r>
              <a:rPr lang="en-US" sz="1500" b="1" dirty="0">
                <a:solidFill>
                  <a:srgbClr val="1F3864"/>
                </a:solidFill>
                <a:latin typeface="Times New Roman" pitchFamily="34" charset="0"/>
                <a:ea typeface="Times New Roman" pitchFamily="34" charset="-122"/>
                <a:cs typeface="Times New Roman" pitchFamily="34" charset="-120"/>
              </a:rPr>
              <a:t>SHAP Integration</a:t>
            </a:r>
            <a:endParaRPr lang="en-US" sz="1500" dirty="0"/>
          </a:p>
        </p:txBody>
      </p:sp>
      <p:sp>
        <p:nvSpPr>
          <p:cNvPr id="19" name="Text 16"/>
          <p:cNvSpPr/>
          <p:nvPr/>
        </p:nvSpPr>
        <p:spPr>
          <a:xfrm>
            <a:off x="3328416" y="3218688"/>
            <a:ext cx="2523744" cy="1467612"/>
          </a:xfrm>
          <a:prstGeom prst="rect">
            <a:avLst/>
          </a:prstGeom>
          <a:noFill/>
          <a:ln/>
        </p:spPr>
        <p:txBody>
          <a:bodyPr wrap="square" lIns="0" tIns="0" rIns="0" bIns="0" rtlCol="0" anchor="ctr"/>
          <a:lstStyle/>
          <a:p>
            <a:pPr marL="0" indent="0">
              <a:buNone/>
            </a:pPr>
            <a:r>
              <a:rPr lang="en-US" sz="1600" dirty="0">
                <a:solidFill>
                  <a:srgbClr val="3D3D3D"/>
                </a:solidFill>
                <a:latin typeface="Times New Roman" pitchFamily="34" charset="0"/>
                <a:ea typeface="Times New Roman" pitchFamily="34" charset="-122"/>
                <a:cs typeface="Times New Roman" pitchFamily="34" charset="-120"/>
              </a:rPr>
              <a:t>Model interpretability for clinical trust</a:t>
            </a:r>
            <a:endParaRPr lang="en-US" sz="1600" dirty="0"/>
          </a:p>
        </p:txBody>
      </p:sp>
      <p:sp>
        <p:nvSpPr>
          <p:cNvPr id="20" name="Shape 17"/>
          <p:cNvSpPr/>
          <p:nvPr/>
        </p:nvSpPr>
        <p:spPr>
          <a:xfrm>
            <a:off x="6035040" y="2761488"/>
            <a:ext cx="2743200" cy="2016252"/>
          </a:xfrm>
          <a:prstGeom prst="rect">
            <a:avLst/>
          </a:prstGeom>
          <a:solidFill>
            <a:srgbClr val="F9F9F9"/>
          </a:solidFill>
          <a:ln w="12700">
            <a:solidFill>
              <a:srgbClr val="E0E0E0"/>
            </a:solidFill>
            <a:prstDash val="solid"/>
          </a:ln>
        </p:spPr>
      </p:sp>
      <p:sp>
        <p:nvSpPr>
          <p:cNvPr id="21" name="Shape 18"/>
          <p:cNvSpPr/>
          <p:nvPr/>
        </p:nvSpPr>
        <p:spPr>
          <a:xfrm>
            <a:off x="6126480" y="2852928"/>
            <a:ext cx="365760" cy="365760"/>
          </a:xfrm>
          <a:prstGeom prst="ellipse">
            <a:avLst/>
          </a:prstGeom>
          <a:solidFill>
            <a:srgbClr val="E87722"/>
          </a:solidFill>
          <a:ln w="12700">
            <a:solidFill>
              <a:srgbClr val="E87722"/>
            </a:solidFill>
            <a:prstDash val="solid"/>
          </a:ln>
        </p:spPr>
      </p:sp>
      <p:sp>
        <p:nvSpPr>
          <p:cNvPr id="22" name="Text 19"/>
          <p:cNvSpPr/>
          <p:nvPr/>
        </p:nvSpPr>
        <p:spPr>
          <a:xfrm>
            <a:off x="6126480" y="285292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3</a:t>
            </a:r>
            <a:endParaRPr lang="en-US" sz="1500" dirty="0"/>
          </a:p>
        </p:txBody>
      </p:sp>
      <p:sp>
        <p:nvSpPr>
          <p:cNvPr id="23" name="Text 20"/>
          <p:cNvSpPr/>
          <p:nvPr/>
        </p:nvSpPr>
        <p:spPr>
          <a:xfrm>
            <a:off x="6565392" y="2852928"/>
            <a:ext cx="2121408" cy="292608"/>
          </a:xfrm>
          <a:prstGeom prst="rect">
            <a:avLst/>
          </a:prstGeom>
          <a:noFill/>
          <a:ln/>
        </p:spPr>
        <p:txBody>
          <a:bodyPr wrap="square" lIns="0" tIns="0" rIns="0" bIns="0" rtlCol="0" anchor="ctr"/>
          <a:lstStyle/>
          <a:p>
            <a:pPr marL="0" indent="0">
              <a:buNone/>
            </a:pPr>
            <a:r>
              <a:rPr lang="en-US" sz="1500" b="1" dirty="0">
                <a:solidFill>
                  <a:srgbClr val="1F3864"/>
                </a:solidFill>
                <a:latin typeface="Times New Roman" pitchFamily="34" charset="0"/>
                <a:ea typeface="Times New Roman" pitchFamily="34" charset="-122"/>
                <a:cs typeface="Times New Roman" pitchFamily="34" charset="-120"/>
              </a:rPr>
              <a:t>SMOTE Algorithm</a:t>
            </a:r>
            <a:endParaRPr lang="en-US" sz="1500" dirty="0"/>
          </a:p>
        </p:txBody>
      </p:sp>
      <p:sp>
        <p:nvSpPr>
          <p:cNvPr id="24" name="Text 21"/>
          <p:cNvSpPr/>
          <p:nvPr/>
        </p:nvSpPr>
        <p:spPr>
          <a:xfrm>
            <a:off x="6163056" y="3218688"/>
            <a:ext cx="2523744" cy="1467612"/>
          </a:xfrm>
          <a:prstGeom prst="rect">
            <a:avLst/>
          </a:prstGeom>
          <a:noFill/>
          <a:ln/>
        </p:spPr>
        <p:txBody>
          <a:bodyPr wrap="square" lIns="0" tIns="0" rIns="0" bIns="0" rtlCol="0" anchor="ctr"/>
          <a:lstStyle/>
          <a:p>
            <a:pPr marL="0" indent="0">
              <a:buNone/>
            </a:pPr>
            <a:r>
              <a:rPr lang="en-US" sz="1600" dirty="0">
                <a:solidFill>
                  <a:srgbClr val="3D3D3D"/>
                </a:solidFill>
                <a:latin typeface="Times New Roman" pitchFamily="34" charset="0"/>
                <a:ea typeface="Times New Roman" pitchFamily="34" charset="-122"/>
                <a:cs typeface="Times New Roman" pitchFamily="34" charset="-120"/>
              </a:rPr>
              <a:t>Class imbalance handling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F1A06-96CC-B087-9F78-5F62B9B6885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C0B9B5E-F66E-293B-5728-AA5196004DA1}"/>
              </a:ext>
            </a:extLst>
          </p:cNvPr>
          <p:cNvPicPr>
            <a:picLocks noChangeAspect="1"/>
          </p:cNvPicPr>
          <p:nvPr/>
        </p:nvPicPr>
        <p:blipFill>
          <a:blip r:embed="rId3"/>
          <a:stretch>
            <a:fillRect/>
          </a:stretch>
        </p:blipFill>
        <p:spPr>
          <a:xfrm>
            <a:off x="7818120" y="91440"/>
            <a:ext cx="1143000" cy="475488"/>
          </a:xfrm>
          <a:prstGeom prst="rect">
            <a:avLst/>
          </a:prstGeom>
        </p:spPr>
      </p:pic>
      <p:sp>
        <p:nvSpPr>
          <p:cNvPr id="3" name="Text 0">
            <a:extLst>
              <a:ext uri="{FF2B5EF4-FFF2-40B4-BE49-F238E27FC236}">
                <a16:creationId xmlns:a16="http://schemas.microsoft.com/office/drawing/2014/main" id="{DD7295A8-79C2-F9A3-A140-87405704C0D1}"/>
              </a:ext>
            </a:extLst>
          </p:cNvPr>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Primary Base Papers</a:t>
            </a:r>
            <a:endParaRPr lang="en-US" sz="2600" dirty="0"/>
          </a:p>
        </p:txBody>
      </p:sp>
      <p:sp>
        <p:nvSpPr>
          <p:cNvPr id="4" name="Shape 1">
            <a:extLst>
              <a:ext uri="{FF2B5EF4-FFF2-40B4-BE49-F238E27FC236}">
                <a16:creationId xmlns:a16="http://schemas.microsoft.com/office/drawing/2014/main" id="{204F937C-51CB-15E6-5F76-032A53DF896D}"/>
              </a:ext>
            </a:extLst>
          </p:cNvPr>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a:extLst>
              <a:ext uri="{FF2B5EF4-FFF2-40B4-BE49-F238E27FC236}">
                <a16:creationId xmlns:a16="http://schemas.microsoft.com/office/drawing/2014/main" id="{5127634D-3C21-7460-0D88-0AAEF97D3B49}"/>
              </a:ext>
            </a:extLst>
          </p:cNvPr>
          <p:cNvSpPr/>
          <p:nvPr/>
        </p:nvSpPr>
        <p:spPr>
          <a:xfrm>
            <a:off x="0" y="4850892"/>
            <a:ext cx="9144000" cy="292608"/>
          </a:xfrm>
          <a:prstGeom prst="rect">
            <a:avLst/>
          </a:prstGeom>
          <a:solidFill>
            <a:srgbClr val="E87722"/>
          </a:solidFill>
          <a:ln w="12700">
            <a:solidFill>
              <a:srgbClr val="E87722"/>
            </a:solidFill>
            <a:prstDash val="solid"/>
          </a:ln>
        </p:spPr>
      </p:sp>
      <p:sp>
        <p:nvSpPr>
          <p:cNvPr id="6" name="Text 3">
            <a:extLst>
              <a:ext uri="{FF2B5EF4-FFF2-40B4-BE49-F238E27FC236}">
                <a16:creationId xmlns:a16="http://schemas.microsoft.com/office/drawing/2014/main" id="{B60339F1-F42C-CB50-C34C-1341CDA18B8C}"/>
              </a:ext>
            </a:extLst>
          </p:cNvPr>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6</a:t>
            </a:r>
            <a:endParaRPr lang="en-US" sz="1400" dirty="0"/>
          </a:p>
        </p:txBody>
      </p:sp>
      <p:sp>
        <p:nvSpPr>
          <p:cNvPr id="7" name="Text 4">
            <a:extLst>
              <a:ext uri="{FF2B5EF4-FFF2-40B4-BE49-F238E27FC236}">
                <a16:creationId xmlns:a16="http://schemas.microsoft.com/office/drawing/2014/main" id="{D24580A3-E780-FA77-5E8D-99BC25FCF208}"/>
              </a:ext>
            </a:extLst>
          </p:cNvPr>
          <p:cNvSpPr/>
          <p:nvPr/>
        </p:nvSpPr>
        <p:spPr>
          <a:xfrm>
            <a:off x="365760" y="1325879"/>
            <a:ext cx="8412480" cy="3298231"/>
          </a:xfrm>
          <a:prstGeom prst="rect">
            <a:avLst/>
          </a:prstGeom>
          <a:noFill/>
          <a:ln/>
        </p:spPr>
        <p:txBody>
          <a:bodyPr wrap="square" rtlCol="0" anchor="ctr"/>
          <a:lstStyle/>
          <a:p>
            <a:pPr marL="285750" indent="-285750">
              <a:buFont typeface="Courier New" panose="02070309020205020404" pitchFamily="49" charset="0"/>
              <a:buChar char="o"/>
            </a:pPr>
            <a:r>
              <a:rPr lang="en-US" sz="1600" b="1" i="1" dirty="0">
                <a:solidFill>
                  <a:srgbClr val="1F3864"/>
                </a:solidFill>
                <a:latin typeface="Times New Roman" pitchFamily="34" charset="0"/>
                <a:ea typeface="Times New Roman" pitchFamily="34" charset="-122"/>
                <a:cs typeface="Times New Roman" pitchFamily="34" charset="-120"/>
              </a:rPr>
              <a:t>Saba Naz (2024): The Early Prediction of Chronic Diseases Through Diverse Machine Learning Techniques: </a:t>
            </a:r>
          </a:p>
          <a:p>
            <a:pPr marL="742950" lvl="1" indent="-285750">
              <a:buFont typeface="Arial" panose="020B0604020202020204" pitchFamily="34" charset="0"/>
              <a:buChar char="•"/>
            </a:pPr>
            <a:r>
              <a:rPr lang="en-US" sz="1400" dirty="0">
                <a:solidFill>
                  <a:srgbClr val="3D3D3D"/>
                </a:solidFill>
                <a:latin typeface="Times New Roman" pitchFamily="34" charset="0"/>
                <a:ea typeface="Times New Roman" pitchFamily="34" charset="-122"/>
                <a:cs typeface="Times New Roman" pitchFamily="34" charset="-120"/>
              </a:rPr>
              <a:t>Our Project's Extension: We reproduce this Random Forest architecture but extend it by adding a strict SMOTE-pipeline (to prevent data leakage) and SHAP explainability.</a:t>
            </a:r>
          </a:p>
          <a:p>
            <a:pPr marL="742950" lvl="1" indent="-285750">
              <a:buFont typeface="Arial" panose="020B0604020202020204" pitchFamily="34" charset="0"/>
              <a:buChar char="•"/>
            </a:pPr>
            <a:r>
              <a:rPr lang="en-US" sz="1400" dirty="0">
                <a:solidFill>
                  <a:srgbClr val="3D3D3D"/>
                </a:solidFill>
                <a:latin typeface="Times New Roman" pitchFamily="34" charset="0"/>
                <a:ea typeface="Times New Roman" pitchFamily="34" charset="-122"/>
                <a:cs typeface="Times New Roman" pitchFamily="34" charset="-120"/>
              </a:rPr>
              <a:t>Key Performance: Random Forest achieved 98.5% Accuracy on CKD, outperforming Gradient Boosted Trees (97.2%) and Neural Networks (95.8%).</a:t>
            </a:r>
          </a:p>
          <a:p>
            <a:pPr marL="285750" indent="-285750">
              <a:buFont typeface="Courier New" panose="02070309020205020404" pitchFamily="49" charset="0"/>
              <a:buChar char="o"/>
            </a:pPr>
            <a:endParaRPr lang="en-US" sz="1600" b="1" i="1" dirty="0">
              <a:solidFill>
                <a:srgbClr val="1F3864"/>
              </a:solidFill>
              <a:latin typeface="Times New Roman" pitchFamily="34" charset="0"/>
              <a:ea typeface="Times New Roman" pitchFamily="34" charset="-122"/>
              <a:cs typeface="Times New Roman" pitchFamily="34" charset="-120"/>
            </a:endParaRPr>
          </a:p>
          <a:p>
            <a:pPr marL="285750" indent="-285750">
              <a:buFont typeface="Courier New" panose="02070309020205020404" pitchFamily="49" charset="0"/>
              <a:buChar char="o"/>
            </a:pPr>
            <a:r>
              <a:rPr lang="en-US" sz="1600" b="1" i="1" dirty="0">
                <a:solidFill>
                  <a:srgbClr val="1F3864"/>
                </a:solidFill>
                <a:latin typeface="Times New Roman" pitchFamily="34" charset="0"/>
                <a:ea typeface="Times New Roman" pitchFamily="34" charset="-122"/>
                <a:cs typeface="Times New Roman" pitchFamily="34" charset="-120"/>
              </a:rPr>
              <a:t>Parama Sridevi (2024): ML-based Chronic Kidney Disease and Diabetes Prediction With Feature Effect Analysis Using SHAP: </a:t>
            </a:r>
          </a:p>
          <a:p>
            <a:pPr marL="742950" lvl="1" indent="-285750">
              <a:buFont typeface="Arial" panose="020B0604020202020204" pitchFamily="34" charset="0"/>
              <a:buChar char="•"/>
            </a:pPr>
            <a:r>
              <a:rPr lang="en-US" sz="1400" dirty="0">
                <a:solidFill>
                  <a:srgbClr val="3D3D3D"/>
                </a:solidFill>
                <a:latin typeface="Times New Roman" pitchFamily="34" charset="0"/>
                <a:ea typeface="Times New Roman" pitchFamily="34" charset="-122"/>
                <a:cs typeface="Times New Roman" pitchFamily="34" charset="-120"/>
              </a:rPr>
              <a:t>Our Project's Extension: While this paper successfully established the dual-disease SHAP framework, we extend their work by implementing a strict Stratified 10-Fold SMOTE Pipeline. By applying SMOTE exclusively inside the training folds, we guarantee zero data leakage during synthetic oversampling, ensuring our metrics (AUC 1.00 for CKD, 0.81 for Diabetes) are mathematically robust..</a:t>
            </a:r>
          </a:p>
          <a:p>
            <a:pPr marL="742950" lvl="1" indent="-285750">
              <a:buFont typeface="Arial" panose="020B0604020202020204" pitchFamily="34" charset="0"/>
              <a:buChar char="•"/>
            </a:pPr>
            <a:r>
              <a:rPr lang="en-US" sz="1400" dirty="0">
                <a:solidFill>
                  <a:srgbClr val="3D3D3D"/>
                </a:solidFill>
                <a:latin typeface="Times New Roman" pitchFamily="34" charset="0"/>
                <a:ea typeface="Times New Roman" pitchFamily="34" charset="-122"/>
                <a:cs typeface="Times New Roman" pitchFamily="34" charset="-120"/>
              </a:rPr>
              <a:t>Key Performance: </a:t>
            </a:r>
            <a:r>
              <a:rPr lang="en-US" sz="1400" dirty="0" err="1">
                <a:solidFill>
                  <a:srgbClr val="3D3D3D"/>
                </a:solidFill>
                <a:latin typeface="Times New Roman" pitchFamily="34" charset="0"/>
                <a:ea typeface="Times New Roman" pitchFamily="34" charset="-122"/>
                <a:cs typeface="Times New Roman" pitchFamily="34" charset="-120"/>
              </a:rPr>
              <a:t>CatBoost</a:t>
            </a:r>
            <a:r>
              <a:rPr lang="en-US" sz="1400" dirty="0">
                <a:solidFill>
                  <a:srgbClr val="3D3D3D"/>
                </a:solidFill>
                <a:latin typeface="Times New Roman" pitchFamily="34" charset="0"/>
                <a:ea typeface="Times New Roman" pitchFamily="34" charset="-122"/>
                <a:cs typeface="Times New Roman" pitchFamily="34" charset="-120"/>
              </a:rPr>
              <a:t> achieved 95.0% Accuracy (AUC 0.99) for CKD and 99.0% Accuracy (AUC 1.00) for Diabetes.</a:t>
            </a:r>
          </a:p>
        </p:txBody>
      </p:sp>
    </p:spTree>
    <p:extLst>
      <p:ext uri="{BB962C8B-B14F-4D97-AF65-F5344CB8AC3E}">
        <p14:creationId xmlns:p14="http://schemas.microsoft.com/office/powerpoint/2010/main" val="313475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B83CA-D974-3A54-528D-D9660683570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9F7F95A-625F-6A8C-3461-4229F2A3684A}"/>
              </a:ext>
            </a:extLst>
          </p:cNvPr>
          <p:cNvPicPr>
            <a:picLocks noChangeAspect="1"/>
          </p:cNvPicPr>
          <p:nvPr/>
        </p:nvPicPr>
        <p:blipFill>
          <a:blip r:embed="rId3"/>
          <a:stretch>
            <a:fillRect/>
          </a:stretch>
        </p:blipFill>
        <p:spPr>
          <a:xfrm>
            <a:off x="7818120" y="91440"/>
            <a:ext cx="1143000" cy="475488"/>
          </a:xfrm>
          <a:prstGeom prst="rect">
            <a:avLst/>
          </a:prstGeom>
        </p:spPr>
      </p:pic>
      <p:sp>
        <p:nvSpPr>
          <p:cNvPr id="3" name="Text 0">
            <a:extLst>
              <a:ext uri="{FF2B5EF4-FFF2-40B4-BE49-F238E27FC236}">
                <a16:creationId xmlns:a16="http://schemas.microsoft.com/office/drawing/2014/main" id="{A443FDF3-F451-1A62-E7A5-027350BB504C}"/>
              </a:ext>
            </a:extLst>
          </p:cNvPr>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Primary Base Papers</a:t>
            </a:r>
            <a:endParaRPr lang="en-US" sz="2600" dirty="0"/>
          </a:p>
        </p:txBody>
      </p:sp>
      <p:sp>
        <p:nvSpPr>
          <p:cNvPr id="4" name="Shape 1">
            <a:extLst>
              <a:ext uri="{FF2B5EF4-FFF2-40B4-BE49-F238E27FC236}">
                <a16:creationId xmlns:a16="http://schemas.microsoft.com/office/drawing/2014/main" id="{F4BCD2A7-E81F-DC9E-F500-2AE1889079FA}"/>
              </a:ext>
            </a:extLst>
          </p:cNvPr>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a:extLst>
              <a:ext uri="{FF2B5EF4-FFF2-40B4-BE49-F238E27FC236}">
                <a16:creationId xmlns:a16="http://schemas.microsoft.com/office/drawing/2014/main" id="{6A20BCD0-3F8C-65D3-D75D-898FDC4A8555}"/>
              </a:ext>
            </a:extLst>
          </p:cNvPr>
          <p:cNvSpPr/>
          <p:nvPr/>
        </p:nvSpPr>
        <p:spPr>
          <a:xfrm>
            <a:off x="0" y="4850892"/>
            <a:ext cx="9144000" cy="292608"/>
          </a:xfrm>
          <a:prstGeom prst="rect">
            <a:avLst/>
          </a:prstGeom>
          <a:solidFill>
            <a:srgbClr val="E87722"/>
          </a:solidFill>
          <a:ln w="12700">
            <a:solidFill>
              <a:srgbClr val="E87722"/>
            </a:solidFill>
            <a:prstDash val="solid"/>
          </a:ln>
        </p:spPr>
      </p:sp>
      <p:sp>
        <p:nvSpPr>
          <p:cNvPr id="6" name="Text 3">
            <a:extLst>
              <a:ext uri="{FF2B5EF4-FFF2-40B4-BE49-F238E27FC236}">
                <a16:creationId xmlns:a16="http://schemas.microsoft.com/office/drawing/2014/main" id="{ACD5581B-2C9F-35BE-9D1A-52484F6D06D1}"/>
              </a:ext>
            </a:extLst>
          </p:cNvPr>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7</a:t>
            </a:r>
            <a:endParaRPr lang="en-US" sz="1400" dirty="0"/>
          </a:p>
        </p:txBody>
      </p:sp>
      <p:sp>
        <p:nvSpPr>
          <p:cNvPr id="7" name="Text 4">
            <a:extLst>
              <a:ext uri="{FF2B5EF4-FFF2-40B4-BE49-F238E27FC236}">
                <a16:creationId xmlns:a16="http://schemas.microsoft.com/office/drawing/2014/main" id="{95A8F9A4-C260-9D97-448A-CAFFCB4A4970}"/>
              </a:ext>
            </a:extLst>
          </p:cNvPr>
          <p:cNvSpPr/>
          <p:nvPr/>
        </p:nvSpPr>
        <p:spPr>
          <a:xfrm>
            <a:off x="365760" y="1325879"/>
            <a:ext cx="8412480" cy="3298231"/>
          </a:xfrm>
          <a:prstGeom prst="rect">
            <a:avLst/>
          </a:prstGeom>
          <a:noFill/>
          <a:ln/>
        </p:spPr>
        <p:txBody>
          <a:bodyPr wrap="square" rtlCol="0" anchor="t"/>
          <a:lstStyle/>
          <a:p>
            <a:pPr marL="285750" indent="-285750">
              <a:buFont typeface="Courier New" panose="02070309020205020404" pitchFamily="49" charset="0"/>
              <a:buChar char="o"/>
            </a:pPr>
            <a:endParaRPr lang="en-US" sz="1600" b="1" i="1" dirty="0">
              <a:solidFill>
                <a:srgbClr val="1F3864"/>
              </a:solidFill>
              <a:latin typeface="Times New Roman" pitchFamily="34" charset="0"/>
              <a:ea typeface="Times New Roman" pitchFamily="34" charset="-122"/>
              <a:cs typeface="Times New Roman" pitchFamily="34" charset="-120"/>
            </a:endParaRPr>
          </a:p>
          <a:p>
            <a:pPr marL="285750" indent="-285750">
              <a:buFont typeface="Courier New" panose="02070309020205020404" pitchFamily="49" charset="0"/>
              <a:buChar char="o"/>
            </a:pPr>
            <a:r>
              <a:rPr lang="en-US" sz="1600" b="1" i="1" dirty="0">
                <a:solidFill>
                  <a:srgbClr val="1F3864"/>
                </a:solidFill>
                <a:latin typeface="Times New Roman" pitchFamily="34" charset="0"/>
                <a:ea typeface="Times New Roman" pitchFamily="34" charset="-122"/>
                <a:cs typeface="Times New Roman" pitchFamily="34" charset="-120"/>
              </a:rPr>
              <a:t>El Mehdi </a:t>
            </a:r>
            <a:r>
              <a:rPr lang="en-US" sz="1600" b="1" i="1" dirty="0" err="1">
                <a:solidFill>
                  <a:srgbClr val="1F3864"/>
                </a:solidFill>
                <a:latin typeface="Times New Roman" pitchFamily="34" charset="0"/>
                <a:ea typeface="Times New Roman" pitchFamily="34" charset="-122"/>
                <a:cs typeface="Times New Roman" pitchFamily="34" charset="-120"/>
              </a:rPr>
              <a:t>Chouit</a:t>
            </a:r>
            <a:r>
              <a:rPr lang="en-US" sz="1600" b="1" i="1" dirty="0">
                <a:solidFill>
                  <a:srgbClr val="1F3864"/>
                </a:solidFill>
                <a:latin typeface="Times New Roman" pitchFamily="34" charset="0"/>
                <a:ea typeface="Times New Roman" pitchFamily="34" charset="-122"/>
                <a:cs typeface="Times New Roman" pitchFamily="34" charset="-120"/>
              </a:rPr>
              <a:t> (2026): Interpretable machine learning for chronic kidney disease prediction: Insights from SHAP and LIME analyses: </a:t>
            </a:r>
          </a:p>
          <a:p>
            <a:pPr marL="742950" lvl="1" indent="-285750">
              <a:buFont typeface="Arial" panose="020B0604020202020204" pitchFamily="34" charset="0"/>
              <a:buChar char="•"/>
            </a:pPr>
            <a:r>
              <a:rPr lang="en-US" sz="1400" dirty="0">
                <a:solidFill>
                  <a:srgbClr val="3D3D3D"/>
                </a:solidFill>
                <a:latin typeface="Times New Roman" pitchFamily="34" charset="0"/>
                <a:ea typeface="Times New Roman" pitchFamily="34" charset="-122"/>
                <a:cs typeface="Times New Roman" pitchFamily="34" charset="-120"/>
              </a:rPr>
              <a:t>Our Project's Extension: We adopt their rigorous leakage-prevention methodology (isolating SMOTE inside the cross-validation folds) but extend it in two major ways. First, we scale this pipeline across multiple chronic disease domains by validating it on the noisy Pima Diabetes dataset. Second, we introduce a formal evaluation against a linear clinical baseline (Logistic Regression) to explicitly justify the computational cost of using non-linear ensembles like Random Forest and </a:t>
            </a:r>
            <a:r>
              <a:rPr lang="en-US" sz="1400" dirty="0" err="1">
                <a:solidFill>
                  <a:srgbClr val="3D3D3D"/>
                </a:solidFill>
                <a:latin typeface="Times New Roman" pitchFamily="34" charset="0"/>
                <a:ea typeface="Times New Roman" pitchFamily="34" charset="-122"/>
                <a:cs typeface="Times New Roman" pitchFamily="34" charset="-120"/>
              </a:rPr>
              <a:t>XGBoost</a:t>
            </a:r>
            <a:r>
              <a:rPr lang="en-US" sz="1400" dirty="0">
                <a:solidFill>
                  <a:srgbClr val="3D3D3D"/>
                </a:solidFill>
                <a:latin typeface="Times New Roman" pitchFamily="34" charset="0"/>
                <a:ea typeface="Times New Roman" pitchFamily="34" charset="-122"/>
                <a:cs typeface="Times New Roman" pitchFamily="34" charset="-120"/>
              </a:rPr>
              <a:t>.</a:t>
            </a:r>
          </a:p>
          <a:p>
            <a:pPr marL="742950" lvl="1" indent="-285750">
              <a:buFont typeface="Arial" panose="020B0604020202020204" pitchFamily="34" charset="0"/>
              <a:buChar char="•"/>
            </a:pPr>
            <a:r>
              <a:rPr lang="en-US" sz="1400" dirty="0">
                <a:solidFill>
                  <a:srgbClr val="3D3D3D"/>
                </a:solidFill>
                <a:latin typeface="Times New Roman" pitchFamily="34" charset="0"/>
                <a:ea typeface="Times New Roman" pitchFamily="34" charset="-122"/>
                <a:cs typeface="Times New Roman" pitchFamily="34" charset="-120"/>
              </a:rPr>
              <a:t>Key Performance: </a:t>
            </a:r>
            <a:r>
              <a:rPr lang="en-US" sz="1400" dirty="0" err="1">
                <a:solidFill>
                  <a:srgbClr val="3D3D3D"/>
                </a:solidFill>
                <a:latin typeface="Times New Roman" pitchFamily="34" charset="0"/>
                <a:ea typeface="Times New Roman" pitchFamily="34" charset="-122"/>
                <a:cs typeface="Times New Roman" pitchFamily="34" charset="-120"/>
              </a:rPr>
              <a:t>XGBoost</a:t>
            </a:r>
            <a:r>
              <a:rPr lang="en-US" sz="1400" dirty="0">
                <a:solidFill>
                  <a:srgbClr val="3D3D3D"/>
                </a:solidFill>
                <a:latin typeface="Times New Roman" pitchFamily="34" charset="0"/>
                <a:ea typeface="Times New Roman" pitchFamily="34" charset="-122"/>
                <a:cs typeface="Times New Roman" pitchFamily="34" charset="-120"/>
              </a:rPr>
              <a:t> with SMOTE achieved 94.6% Accuracy (AUC 0.948) on the UCI CKD dataset.</a:t>
            </a:r>
          </a:p>
        </p:txBody>
      </p:sp>
    </p:spTree>
    <p:extLst>
      <p:ext uri="{BB962C8B-B14F-4D97-AF65-F5344CB8AC3E}">
        <p14:creationId xmlns:p14="http://schemas.microsoft.com/office/powerpoint/2010/main" val="1152979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Literature Review: State-of-the-Art</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5</a:t>
            </a:r>
            <a:endParaRPr lang="en-US" sz="1400" dirty="0"/>
          </a:p>
        </p:txBody>
      </p:sp>
      <p:sp>
        <p:nvSpPr>
          <p:cNvPr id="7" name="Shape 4"/>
          <p:cNvSpPr/>
          <p:nvPr/>
        </p:nvSpPr>
        <p:spPr>
          <a:xfrm>
            <a:off x="365760" y="1325880"/>
            <a:ext cx="4114800" cy="347472"/>
          </a:xfrm>
          <a:prstGeom prst="rect">
            <a:avLst/>
          </a:prstGeom>
          <a:solidFill>
            <a:srgbClr val="1F3864"/>
          </a:solidFill>
          <a:ln w="12700">
            <a:solidFill>
              <a:srgbClr val="1F3864"/>
            </a:solidFill>
            <a:prstDash val="solid"/>
          </a:ln>
        </p:spPr>
      </p:sp>
      <p:sp>
        <p:nvSpPr>
          <p:cNvPr id="8" name="Text 5"/>
          <p:cNvSpPr/>
          <p:nvPr/>
        </p:nvSpPr>
        <p:spPr>
          <a:xfrm>
            <a:off x="36576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Saba Naz (2024) — IEEE Access</a:t>
            </a:r>
            <a:endParaRPr lang="en-US" sz="1400" dirty="0"/>
          </a:p>
        </p:txBody>
      </p:sp>
      <p:sp>
        <p:nvSpPr>
          <p:cNvPr id="9" name="Shape 6"/>
          <p:cNvSpPr/>
          <p:nvPr/>
        </p:nvSpPr>
        <p:spPr>
          <a:xfrm>
            <a:off x="365760" y="1673352"/>
            <a:ext cx="4114800" cy="690372"/>
          </a:xfrm>
          <a:prstGeom prst="rect">
            <a:avLst/>
          </a:prstGeom>
          <a:solidFill>
            <a:srgbClr val="F5F8FF"/>
          </a:solidFill>
          <a:ln w="12700">
            <a:solidFill>
              <a:srgbClr val="D8D8D8"/>
            </a:solidFill>
            <a:prstDash val="solid"/>
          </a:ln>
        </p:spPr>
      </p:sp>
      <p:sp>
        <p:nvSpPr>
          <p:cNvPr id="10" name="Shape 7"/>
          <p:cNvSpPr/>
          <p:nvPr/>
        </p:nvSpPr>
        <p:spPr>
          <a:xfrm>
            <a:off x="365760" y="1673352"/>
            <a:ext cx="1417320" cy="690372"/>
          </a:xfrm>
          <a:prstGeom prst="rect">
            <a:avLst/>
          </a:prstGeom>
          <a:solidFill>
            <a:srgbClr val="E8EDF5"/>
          </a:solidFill>
          <a:ln w="12700">
            <a:solidFill>
              <a:srgbClr val="D0D0D0"/>
            </a:solidFill>
            <a:prstDash val="solid"/>
          </a:ln>
        </p:spPr>
      </p:sp>
      <p:sp>
        <p:nvSpPr>
          <p:cNvPr id="11" name="Text 8"/>
          <p:cNvSpPr/>
          <p:nvPr/>
        </p:nvSpPr>
        <p:spPr>
          <a:xfrm>
            <a:off x="411480" y="1673352"/>
            <a:ext cx="1344168" cy="690372"/>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12" name="Text 9"/>
          <p:cNvSpPr/>
          <p:nvPr/>
        </p:nvSpPr>
        <p:spPr>
          <a:xfrm>
            <a:off x="1828800" y="1673352"/>
            <a:ext cx="2651760" cy="690372"/>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Early prediction of chronic diseases using ML models</a:t>
            </a:r>
            <a:endParaRPr lang="en-US" sz="1200" dirty="0"/>
          </a:p>
        </p:txBody>
      </p:sp>
      <p:sp>
        <p:nvSpPr>
          <p:cNvPr id="13" name="Shape 10"/>
          <p:cNvSpPr/>
          <p:nvPr/>
        </p:nvSpPr>
        <p:spPr>
          <a:xfrm>
            <a:off x="365760" y="2363724"/>
            <a:ext cx="4114800" cy="690372"/>
          </a:xfrm>
          <a:prstGeom prst="rect">
            <a:avLst/>
          </a:prstGeom>
          <a:solidFill>
            <a:srgbClr val="FFFFFF"/>
          </a:solidFill>
          <a:ln w="12700">
            <a:solidFill>
              <a:srgbClr val="D8D8D8"/>
            </a:solidFill>
            <a:prstDash val="solid"/>
          </a:ln>
        </p:spPr>
      </p:sp>
      <p:sp>
        <p:nvSpPr>
          <p:cNvPr id="14" name="Shape 11"/>
          <p:cNvSpPr/>
          <p:nvPr/>
        </p:nvSpPr>
        <p:spPr>
          <a:xfrm>
            <a:off x="365760" y="2363724"/>
            <a:ext cx="1417320" cy="690372"/>
          </a:xfrm>
          <a:prstGeom prst="rect">
            <a:avLst/>
          </a:prstGeom>
          <a:solidFill>
            <a:srgbClr val="E8EDF5"/>
          </a:solidFill>
          <a:ln w="12700">
            <a:solidFill>
              <a:srgbClr val="D0D0D0"/>
            </a:solidFill>
            <a:prstDash val="solid"/>
          </a:ln>
        </p:spPr>
      </p:sp>
      <p:sp>
        <p:nvSpPr>
          <p:cNvPr id="15" name="Text 12"/>
          <p:cNvSpPr/>
          <p:nvPr/>
        </p:nvSpPr>
        <p:spPr>
          <a:xfrm>
            <a:off x="411480" y="2363724"/>
            <a:ext cx="1344168" cy="690372"/>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Model</a:t>
            </a:r>
            <a:endParaRPr lang="en-US" sz="1200" dirty="0"/>
          </a:p>
        </p:txBody>
      </p:sp>
      <p:sp>
        <p:nvSpPr>
          <p:cNvPr id="16" name="Text 13"/>
          <p:cNvSpPr/>
          <p:nvPr/>
        </p:nvSpPr>
        <p:spPr>
          <a:xfrm>
            <a:off x="1828800" y="2363724"/>
            <a:ext cx="2651760" cy="690372"/>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Random Forest, GBT, Neural Networks</a:t>
            </a:r>
            <a:endParaRPr lang="en-US" sz="1200" dirty="0"/>
          </a:p>
        </p:txBody>
      </p:sp>
      <p:sp>
        <p:nvSpPr>
          <p:cNvPr id="17" name="Shape 14"/>
          <p:cNvSpPr/>
          <p:nvPr/>
        </p:nvSpPr>
        <p:spPr>
          <a:xfrm>
            <a:off x="365760" y="3054096"/>
            <a:ext cx="4114800" cy="690372"/>
          </a:xfrm>
          <a:prstGeom prst="rect">
            <a:avLst/>
          </a:prstGeom>
          <a:solidFill>
            <a:srgbClr val="F5F8FF"/>
          </a:solidFill>
          <a:ln w="12700">
            <a:solidFill>
              <a:srgbClr val="D8D8D8"/>
            </a:solidFill>
            <a:prstDash val="solid"/>
          </a:ln>
        </p:spPr>
      </p:sp>
      <p:sp>
        <p:nvSpPr>
          <p:cNvPr id="18" name="Shape 15"/>
          <p:cNvSpPr/>
          <p:nvPr/>
        </p:nvSpPr>
        <p:spPr>
          <a:xfrm>
            <a:off x="365760" y="3054096"/>
            <a:ext cx="1417320" cy="690372"/>
          </a:xfrm>
          <a:prstGeom prst="rect">
            <a:avLst/>
          </a:prstGeom>
          <a:solidFill>
            <a:srgbClr val="E8EDF5"/>
          </a:solidFill>
          <a:ln w="12700">
            <a:solidFill>
              <a:srgbClr val="D0D0D0"/>
            </a:solidFill>
            <a:prstDash val="solid"/>
          </a:ln>
        </p:spPr>
      </p:sp>
      <p:sp>
        <p:nvSpPr>
          <p:cNvPr id="19" name="Text 16"/>
          <p:cNvSpPr/>
          <p:nvPr/>
        </p:nvSpPr>
        <p:spPr>
          <a:xfrm>
            <a:off x="411480" y="3054096"/>
            <a:ext cx="1344168" cy="690372"/>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Performance</a:t>
            </a:r>
            <a:endParaRPr lang="en-US" sz="1200" dirty="0"/>
          </a:p>
        </p:txBody>
      </p:sp>
      <p:sp>
        <p:nvSpPr>
          <p:cNvPr id="20" name="Text 17"/>
          <p:cNvSpPr/>
          <p:nvPr/>
        </p:nvSpPr>
        <p:spPr>
          <a:xfrm>
            <a:off x="1828800" y="3054096"/>
            <a:ext cx="2651760" cy="690372"/>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Random Forest: 98.5% (Best)</a:t>
            </a:r>
          </a:p>
          <a:p>
            <a:pPr marL="0" indent="0">
              <a:buNone/>
            </a:pPr>
            <a:r>
              <a:rPr lang="en-US" sz="1200" dirty="0">
                <a:solidFill>
                  <a:srgbClr val="3D3D3D"/>
                </a:solidFill>
                <a:latin typeface="Times New Roman" pitchFamily="34" charset="0"/>
                <a:ea typeface="Times New Roman" pitchFamily="34" charset="-122"/>
                <a:cs typeface="Times New Roman" pitchFamily="34" charset="-120"/>
              </a:rPr>
              <a:t>Gradient Boosted Trees (GBT): 97.2%</a:t>
            </a:r>
          </a:p>
          <a:p>
            <a:pPr marL="0" indent="0">
              <a:buNone/>
            </a:pPr>
            <a:r>
              <a:rPr lang="en-US" sz="1200" dirty="0">
                <a:solidFill>
                  <a:srgbClr val="3D3D3D"/>
                </a:solidFill>
                <a:latin typeface="Times New Roman" pitchFamily="34" charset="0"/>
                <a:ea typeface="Times New Roman" pitchFamily="34" charset="-122"/>
                <a:cs typeface="Times New Roman" pitchFamily="34" charset="-120"/>
              </a:rPr>
              <a:t>Neural Networks: 95.8%</a:t>
            </a:r>
            <a:endParaRPr lang="en-US" sz="1200" dirty="0"/>
          </a:p>
        </p:txBody>
      </p:sp>
      <p:sp>
        <p:nvSpPr>
          <p:cNvPr id="21" name="Shape 18"/>
          <p:cNvSpPr/>
          <p:nvPr/>
        </p:nvSpPr>
        <p:spPr>
          <a:xfrm>
            <a:off x="365760" y="3744468"/>
            <a:ext cx="4114800" cy="690372"/>
          </a:xfrm>
          <a:prstGeom prst="rect">
            <a:avLst/>
          </a:prstGeom>
          <a:solidFill>
            <a:srgbClr val="FFFFFF"/>
          </a:solidFill>
          <a:ln w="12700">
            <a:solidFill>
              <a:srgbClr val="D8D8D8"/>
            </a:solidFill>
            <a:prstDash val="solid"/>
          </a:ln>
        </p:spPr>
      </p:sp>
      <p:sp>
        <p:nvSpPr>
          <p:cNvPr id="22" name="Shape 19"/>
          <p:cNvSpPr/>
          <p:nvPr/>
        </p:nvSpPr>
        <p:spPr>
          <a:xfrm>
            <a:off x="365760" y="3744468"/>
            <a:ext cx="1417320" cy="690372"/>
          </a:xfrm>
          <a:prstGeom prst="rect">
            <a:avLst/>
          </a:prstGeom>
          <a:solidFill>
            <a:srgbClr val="E8EDF5"/>
          </a:solidFill>
          <a:ln w="12700">
            <a:solidFill>
              <a:srgbClr val="D0D0D0"/>
            </a:solidFill>
            <a:prstDash val="solid"/>
          </a:ln>
        </p:spPr>
      </p:sp>
      <p:sp>
        <p:nvSpPr>
          <p:cNvPr id="23" name="Text 20"/>
          <p:cNvSpPr/>
          <p:nvPr/>
        </p:nvSpPr>
        <p:spPr>
          <a:xfrm>
            <a:off x="411480" y="3744468"/>
            <a:ext cx="1344168" cy="690372"/>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Link</a:t>
            </a:r>
            <a:endParaRPr lang="en-US" sz="1200" dirty="0"/>
          </a:p>
        </p:txBody>
      </p:sp>
      <p:sp>
        <p:nvSpPr>
          <p:cNvPr id="24" name="Text 21"/>
          <p:cNvSpPr/>
          <p:nvPr/>
        </p:nvSpPr>
        <p:spPr>
          <a:xfrm>
            <a:off x="1828800" y="3744468"/>
            <a:ext cx="2651760" cy="690372"/>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ieeeexplore.ieee.org</a:t>
            </a:r>
            <a:endParaRPr lang="en-US" sz="1200" dirty="0"/>
          </a:p>
        </p:txBody>
      </p:sp>
      <p:sp>
        <p:nvSpPr>
          <p:cNvPr id="25" name="Shape 22"/>
          <p:cNvSpPr/>
          <p:nvPr/>
        </p:nvSpPr>
        <p:spPr>
          <a:xfrm>
            <a:off x="4663440" y="1325880"/>
            <a:ext cx="4114800" cy="347472"/>
          </a:xfrm>
          <a:prstGeom prst="rect">
            <a:avLst/>
          </a:prstGeom>
          <a:solidFill>
            <a:srgbClr val="1F3864"/>
          </a:solidFill>
          <a:ln w="12700">
            <a:solidFill>
              <a:srgbClr val="1F3864"/>
            </a:solidFill>
            <a:prstDash val="solid"/>
          </a:ln>
        </p:spPr>
      </p:sp>
      <p:sp>
        <p:nvSpPr>
          <p:cNvPr id="26" name="Text 23"/>
          <p:cNvSpPr/>
          <p:nvPr/>
        </p:nvSpPr>
        <p:spPr>
          <a:xfrm>
            <a:off x="466344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F.M. Delpino (2022) — Public Health (Elsevier)</a:t>
            </a:r>
            <a:endParaRPr lang="en-US" sz="1400" dirty="0"/>
          </a:p>
        </p:txBody>
      </p:sp>
      <p:sp>
        <p:nvSpPr>
          <p:cNvPr id="27" name="Shape 24"/>
          <p:cNvSpPr/>
          <p:nvPr/>
        </p:nvSpPr>
        <p:spPr>
          <a:xfrm>
            <a:off x="4663440" y="1673352"/>
            <a:ext cx="4114800" cy="690372"/>
          </a:xfrm>
          <a:prstGeom prst="rect">
            <a:avLst/>
          </a:prstGeom>
          <a:solidFill>
            <a:srgbClr val="F5F8FF"/>
          </a:solidFill>
          <a:ln w="12700">
            <a:solidFill>
              <a:srgbClr val="D8D8D8"/>
            </a:solidFill>
            <a:prstDash val="solid"/>
          </a:ln>
        </p:spPr>
      </p:sp>
      <p:sp>
        <p:nvSpPr>
          <p:cNvPr id="28" name="Shape 25"/>
          <p:cNvSpPr/>
          <p:nvPr/>
        </p:nvSpPr>
        <p:spPr>
          <a:xfrm>
            <a:off x="4663440" y="1673352"/>
            <a:ext cx="1417320" cy="690372"/>
          </a:xfrm>
          <a:prstGeom prst="rect">
            <a:avLst/>
          </a:prstGeom>
          <a:solidFill>
            <a:srgbClr val="E8EDF5"/>
          </a:solidFill>
          <a:ln w="12700">
            <a:solidFill>
              <a:srgbClr val="D0D0D0"/>
            </a:solidFill>
            <a:prstDash val="solid"/>
          </a:ln>
        </p:spPr>
      </p:sp>
      <p:sp>
        <p:nvSpPr>
          <p:cNvPr id="29" name="Text 26"/>
          <p:cNvSpPr/>
          <p:nvPr/>
        </p:nvSpPr>
        <p:spPr>
          <a:xfrm>
            <a:off x="4709160" y="1673352"/>
            <a:ext cx="1344168" cy="690372"/>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30" name="Text 27"/>
          <p:cNvSpPr/>
          <p:nvPr/>
        </p:nvSpPr>
        <p:spPr>
          <a:xfrm>
            <a:off x="6126480" y="1673352"/>
            <a:ext cx="2651760" cy="690372"/>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Systematic review of ML for chronic disease prediction</a:t>
            </a:r>
            <a:endParaRPr lang="en-US" sz="1200" dirty="0"/>
          </a:p>
        </p:txBody>
      </p:sp>
      <p:sp>
        <p:nvSpPr>
          <p:cNvPr id="31" name="Shape 28"/>
          <p:cNvSpPr/>
          <p:nvPr/>
        </p:nvSpPr>
        <p:spPr>
          <a:xfrm>
            <a:off x="4663440" y="2363724"/>
            <a:ext cx="4114800" cy="690372"/>
          </a:xfrm>
          <a:prstGeom prst="rect">
            <a:avLst/>
          </a:prstGeom>
          <a:solidFill>
            <a:srgbClr val="FFFFFF"/>
          </a:solidFill>
          <a:ln w="12700">
            <a:solidFill>
              <a:srgbClr val="D8D8D8"/>
            </a:solidFill>
            <a:prstDash val="solid"/>
          </a:ln>
        </p:spPr>
      </p:sp>
      <p:sp>
        <p:nvSpPr>
          <p:cNvPr id="32" name="Shape 29"/>
          <p:cNvSpPr/>
          <p:nvPr/>
        </p:nvSpPr>
        <p:spPr>
          <a:xfrm>
            <a:off x="4663440" y="2363724"/>
            <a:ext cx="1417320" cy="690372"/>
          </a:xfrm>
          <a:prstGeom prst="rect">
            <a:avLst/>
          </a:prstGeom>
          <a:solidFill>
            <a:srgbClr val="E8EDF5"/>
          </a:solidFill>
          <a:ln w="12700">
            <a:solidFill>
              <a:srgbClr val="D0D0D0"/>
            </a:solidFill>
            <a:prstDash val="solid"/>
          </a:ln>
        </p:spPr>
      </p:sp>
      <p:sp>
        <p:nvSpPr>
          <p:cNvPr id="33" name="Text 30"/>
          <p:cNvSpPr/>
          <p:nvPr/>
        </p:nvSpPr>
        <p:spPr>
          <a:xfrm>
            <a:off x="4709160" y="2363724"/>
            <a:ext cx="1344168" cy="690372"/>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Model</a:t>
            </a:r>
            <a:endParaRPr lang="en-US" sz="1200" dirty="0"/>
          </a:p>
        </p:txBody>
      </p:sp>
      <p:sp>
        <p:nvSpPr>
          <p:cNvPr id="34" name="Text 31"/>
          <p:cNvSpPr/>
          <p:nvPr/>
        </p:nvSpPr>
        <p:spPr>
          <a:xfrm>
            <a:off x="6126480" y="2363724"/>
            <a:ext cx="2651760" cy="690372"/>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Meta-analysis (SVM, LR, DT)</a:t>
            </a:r>
            <a:endParaRPr lang="en-US" sz="1200" dirty="0"/>
          </a:p>
        </p:txBody>
      </p:sp>
      <p:sp>
        <p:nvSpPr>
          <p:cNvPr id="35" name="Shape 32"/>
          <p:cNvSpPr/>
          <p:nvPr/>
        </p:nvSpPr>
        <p:spPr>
          <a:xfrm>
            <a:off x="4663440" y="3054096"/>
            <a:ext cx="4114800" cy="690372"/>
          </a:xfrm>
          <a:prstGeom prst="rect">
            <a:avLst/>
          </a:prstGeom>
          <a:solidFill>
            <a:srgbClr val="F5F8FF"/>
          </a:solidFill>
          <a:ln w="12700">
            <a:solidFill>
              <a:srgbClr val="D8D8D8"/>
            </a:solidFill>
            <a:prstDash val="solid"/>
          </a:ln>
        </p:spPr>
      </p:sp>
      <p:sp>
        <p:nvSpPr>
          <p:cNvPr id="36" name="Shape 33"/>
          <p:cNvSpPr/>
          <p:nvPr/>
        </p:nvSpPr>
        <p:spPr>
          <a:xfrm>
            <a:off x="4663440" y="3054096"/>
            <a:ext cx="1417320" cy="690372"/>
          </a:xfrm>
          <a:prstGeom prst="rect">
            <a:avLst/>
          </a:prstGeom>
          <a:solidFill>
            <a:srgbClr val="E8EDF5"/>
          </a:solidFill>
          <a:ln w="12700">
            <a:solidFill>
              <a:srgbClr val="D0D0D0"/>
            </a:solidFill>
            <a:prstDash val="solid"/>
          </a:ln>
        </p:spPr>
      </p:sp>
      <p:sp>
        <p:nvSpPr>
          <p:cNvPr id="37" name="Text 34"/>
          <p:cNvSpPr/>
          <p:nvPr/>
        </p:nvSpPr>
        <p:spPr>
          <a:xfrm>
            <a:off x="4709160" y="3054096"/>
            <a:ext cx="1344168" cy="690372"/>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Performance</a:t>
            </a:r>
            <a:endParaRPr lang="en-US" sz="1200" dirty="0"/>
          </a:p>
        </p:txBody>
      </p:sp>
      <p:sp>
        <p:nvSpPr>
          <p:cNvPr id="38" name="Text 35"/>
          <p:cNvSpPr/>
          <p:nvPr/>
        </p:nvSpPr>
        <p:spPr>
          <a:xfrm>
            <a:off x="6126480" y="3054096"/>
            <a:ext cx="2651760" cy="690372"/>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SVM [0.88-0.95]</a:t>
            </a:r>
          </a:p>
          <a:p>
            <a:pPr marL="0" indent="0">
              <a:buNone/>
            </a:pPr>
            <a:r>
              <a:rPr lang="en-US" sz="1200" dirty="0">
                <a:solidFill>
                  <a:srgbClr val="3D3D3D"/>
                </a:solidFill>
                <a:latin typeface="Times New Roman" pitchFamily="34" charset="0"/>
                <a:ea typeface="Times New Roman" pitchFamily="34" charset="-122"/>
                <a:cs typeface="Times New Roman" pitchFamily="34" charset="-120"/>
              </a:rPr>
              <a:t>Logistic Reg. [0.74-0.89]</a:t>
            </a:r>
          </a:p>
          <a:p>
            <a:pPr marL="0" indent="0">
              <a:buNone/>
            </a:pPr>
            <a:r>
              <a:rPr lang="en-US" sz="1200" dirty="0">
                <a:solidFill>
                  <a:srgbClr val="3D3D3D"/>
                </a:solidFill>
                <a:latin typeface="Times New Roman" pitchFamily="34" charset="0"/>
                <a:ea typeface="Times New Roman" pitchFamily="34" charset="-122"/>
                <a:cs typeface="Times New Roman" pitchFamily="34" charset="-120"/>
              </a:rPr>
              <a:t>Decision Tree [0.82-0.91]</a:t>
            </a:r>
            <a:endParaRPr lang="en-US" sz="1200" dirty="0"/>
          </a:p>
        </p:txBody>
      </p:sp>
      <p:sp>
        <p:nvSpPr>
          <p:cNvPr id="39" name="Shape 36"/>
          <p:cNvSpPr/>
          <p:nvPr/>
        </p:nvSpPr>
        <p:spPr>
          <a:xfrm>
            <a:off x="4663440" y="3744468"/>
            <a:ext cx="4114800" cy="690372"/>
          </a:xfrm>
          <a:prstGeom prst="rect">
            <a:avLst/>
          </a:prstGeom>
          <a:solidFill>
            <a:srgbClr val="FFFFFF"/>
          </a:solidFill>
          <a:ln w="12700">
            <a:solidFill>
              <a:srgbClr val="D8D8D8"/>
            </a:solidFill>
            <a:prstDash val="solid"/>
          </a:ln>
        </p:spPr>
      </p:sp>
      <p:sp>
        <p:nvSpPr>
          <p:cNvPr id="40" name="Shape 37"/>
          <p:cNvSpPr/>
          <p:nvPr/>
        </p:nvSpPr>
        <p:spPr>
          <a:xfrm>
            <a:off x="4663440" y="3744468"/>
            <a:ext cx="1417320" cy="690372"/>
          </a:xfrm>
          <a:prstGeom prst="rect">
            <a:avLst/>
          </a:prstGeom>
          <a:solidFill>
            <a:srgbClr val="E8EDF5"/>
          </a:solidFill>
          <a:ln w="12700">
            <a:solidFill>
              <a:srgbClr val="D0D0D0"/>
            </a:solidFill>
            <a:prstDash val="solid"/>
          </a:ln>
        </p:spPr>
      </p:sp>
      <p:sp>
        <p:nvSpPr>
          <p:cNvPr id="41" name="Text 38"/>
          <p:cNvSpPr/>
          <p:nvPr/>
        </p:nvSpPr>
        <p:spPr>
          <a:xfrm>
            <a:off x="4709160" y="3744468"/>
            <a:ext cx="1344168" cy="690372"/>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Link</a:t>
            </a:r>
            <a:endParaRPr lang="en-US" sz="1200" dirty="0"/>
          </a:p>
        </p:txBody>
      </p:sp>
      <p:sp>
        <p:nvSpPr>
          <p:cNvPr id="42" name="Text 39"/>
          <p:cNvSpPr/>
          <p:nvPr/>
        </p:nvSpPr>
        <p:spPr>
          <a:xfrm>
            <a:off x="6126480" y="3744468"/>
            <a:ext cx="2651760" cy="690372"/>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doi.org/10.1016/j.puhe.2022.01.007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Literature Review: Clinical Explainable AI (XAI)</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8</a:t>
            </a:r>
            <a:endParaRPr lang="en-US" sz="1400" dirty="0"/>
          </a:p>
        </p:txBody>
      </p:sp>
      <p:sp>
        <p:nvSpPr>
          <p:cNvPr id="7" name="Shape 4"/>
          <p:cNvSpPr/>
          <p:nvPr/>
        </p:nvSpPr>
        <p:spPr>
          <a:xfrm>
            <a:off x="365760" y="1325880"/>
            <a:ext cx="4114800" cy="347472"/>
          </a:xfrm>
          <a:prstGeom prst="rect">
            <a:avLst/>
          </a:prstGeom>
          <a:solidFill>
            <a:srgbClr val="1F3864"/>
          </a:solidFill>
          <a:ln w="12700">
            <a:solidFill>
              <a:srgbClr val="1F3864"/>
            </a:solidFill>
            <a:prstDash val="solid"/>
          </a:ln>
        </p:spPr>
      </p:sp>
      <p:sp>
        <p:nvSpPr>
          <p:cNvPr id="8" name="Text 5"/>
          <p:cNvSpPr/>
          <p:nvPr/>
        </p:nvSpPr>
        <p:spPr>
          <a:xfrm>
            <a:off x="36576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Qaiser Abbas (2025) — Cureus (PMC/PubMed)</a:t>
            </a:r>
            <a:endParaRPr lang="en-US" sz="1400" dirty="0"/>
          </a:p>
        </p:txBody>
      </p:sp>
      <p:sp>
        <p:nvSpPr>
          <p:cNvPr id="9" name="Shape 6"/>
          <p:cNvSpPr/>
          <p:nvPr/>
        </p:nvSpPr>
        <p:spPr>
          <a:xfrm>
            <a:off x="365760" y="1673352"/>
            <a:ext cx="4114800" cy="862965"/>
          </a:xfrm>
          <a:prstGeom prst="rect">
            <a:avLst/>
          </a:prstGeom>
          <a:solidFill>
            <a:srgbClr val="F5F8FF"/>
          </a:solidFill>
          <a:ln w="12700">
            <a:solidFill>
              <a:srgbClr val="D8D8D8"/>
            </a:solidFill>
            <a:prstDash val="solid"/>
          </a:ln>
        </p:spPr>
      </p:sp>
      <p:sp>
        <p:nvSpPr>
          <p:cNvPr id="10" name="Shape 7"/>
          <p:cNvSpPr/>
          <p:nvPr/>
        </p:nvSpPr>
        <p:spPr>
          <a:xfrm>
            <a:off x="365760" y="1673352"/>
            <a:ext cx="1417320" cy="862965"/>
          </a:xfrm>
          <a:prstGeom prst="rect">
            <a:avLst/>
          </a:prstGeom>
          <a:solidFill>
            <a:srgbClr val="E8EDF5"/>
          </a:solidFill>
          <a:ln w="12700">
            <a:solidFill>
              <a:srgbClr val="D0D0D0"/>
            </a:solidFill>
            <a:prstDash val="solid"/>
          </a:ln>
        </p:spPr>
      </p:sp>
      <p:sp>
        <p:nvSpPr>
          <p:cNvPr id="11" name="Text 8"/>
          <p:cNvSpPr/>
          <p:nvPr/>
        </p:nvSpPr>
        <p:spPr>
          <a:xfrm>
            <a:off x="41148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12" name="Text 9"/>
          <p:cNvSpPr/>
          <p:nvPr/>
        </p:nvSpPr>
        <p:spPr>
          <a:xfrm>
            <a:off x="1828800" y="167335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Analyzing XAI in clinical decision support systems</a:t>
            </a:r>
            <a:endParaRPr lang="en-US" sz="1200" dirty="0"/>
          </a:p>
        </p:txBody>
      </p:sp>
      <p:sp>
        <p:nvSpPr>
          <p:cNvPr id="13" name="Shape 10"/>
          <p:cNvSpPr/>
          <p:nvPr/>
        </p:nvSpPr>
        <p:spPr>
          <a:xfrm>
            <a:off x="365760" y="2536317"/>
            <a:ext cx="4114800" cy="862965"/>
          </a:xfrm>
          <a:prstGeom prst="rect">
            <a:avLst/>
          </a:prstGeom>
          <a:solidFill>
            <a:srgbClr val="FFFFFF"/>
          </a:solidFill>
          <a:ln w="12700">
            <a:solidFill>
              <a:srgbClr val="D8D8D8"/>
            </a:solidFill>
            <a:prstDash val="solid"/>
          </a:ln>
        </p:spPr>
      </p:sp>
      <p:sp>
        <p:nvSpPr>
          <p:cNvPr id="14" name="Shape 11"/>
          <p:cNvSpPr/>
          <p:nvPr/>
        </p:nvSpPr>
        <p:spPr>
          <a:xfrm>
            <a:off x="365760" y="2536317"/>
            <a:ext cx="1417320" cy="862965"/>
          </a:xfrm>
          <a:prstGeom prst="rect">
            <a:avLst/>
          </a:prstGeom>
          <a:solidFill>
            <a:srgbClr val="E8EDF5"/>
          </a:solidFill>
          <a:ln w="12700">
            <a:solidFill>
              <a:srgbClr val="D0D0D0"/>
            </a:solidFill>
            <a:prstDash val="solid"/>
          </a:ln>
        </p:spPr>
      </p:sp>
      <p:sp>
        <p:nvSpPr>
          <p:cNvPr id="15" name="Text 12"/>
          <p:cNvSpPr/>
          <p:nvPr/>
        </p:nvSpPr>
        <p:spPr>
          <a:xfrm>
            <a:off x="41148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Model</a:t>
            </a:r>
            <a:endParaRPr lang="en-US" sz="1200" dirty="0"/>
          </a:p>
        </p:txBody>
      </p:sp>
      <p:sp>
        <p:nvSpPr>
          <p:cNvPr id="16" name="Text 13"/>
          <p:cNvSpPr/>
          <p:nvPr/>
        </p:nvSpPr>
        <p:spPr>
          <a:xfrm>
            <a:off x="1828800" y="2536317"/>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SHAP, LIME, Attention Mechanisms</a:t>
            </a:r>
            <a:endParaRPr lang="en-US" sz="1200" dirty="0"/>
          </a:p>
        </p:txBody>
      </p:sp>
      <p:sp>
        <p:nvSpPr>
          <p:cNvPr id="17" name="Shape 14"/>
          <p:cNvSpPr/>
          <p:nvPr/>
        </p:nvSpPr>
        <p:spPr>
          <a:xfrm>
            <a:off x="365760" y="3399282"/>
            <a:ext cx="4114800" cy="862965"/>
          </a:xfrm>
          <a:prstGeom prst="rect">
            <a:avLst/>
          </a:prstGeom>
          <a:solidFill>
            <a:srgbClr val="F5F8FF"/>
          </a:solidFill>
          <a:ln w="12700">
            <a:solidFill>
              <a:srgbClr val="D8D8D8"/>
            </a:solidFill>
            <a:prstDash val="solid"/>
          </a:ln>
        </p:spPr>
      </p:sp>
      <p:sp>
        <p:nvSpPr>
          <p:cNvPr id="18" name="Shape 15"/>
          <p:cNvSpPr/>
          <p:nvPr/>
        </p:nvSpPr>
        <p:spPr>
          <a:xfrm>
            <a:off x="365760" y="3399282"/>
            <a:ext cx="1417320" cy="862965"/>
          </a:xfrm>
          <a:prstGeom prst="rect">
            <a:avLst/>
          </a:prstGeom>
          <a:solidFill>
            <a:srgbClr val="E8EDF5"/>
          </a:solidFill>
          <a:ln w="12700">
            <a:solidFill>
              <a:srgbClr val="D0D0D0"/>
            </a:solidFill>
            <a:prstDash val="solid"/>
          </a:ln>
        </p:spPr>
      </p:sp>
      <p:sp>
        <p:nvSpPr>
          <p:cNvPr id="19" name="Text 16"/>
          <p:cNvSpPr/>
          <p:nvPr/>
        </p:nvSpPr>
        <p:spPr>
          <a:xfrm>
            <a:off x="41148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Research Gap</a:t>
            </a:r>
            <a:endParaRPr lang="en-US" sz="1200" dirty="0"/>
          </a:p>
        </p:txBody>
      </p:sp>
      <p:sp>
        <p:nvSpPr>
          <p:cNvPr id="20" name="Text 17"/>
          <p:cNvSpPr/>
          <p:nvPr/>
        </p:nvSpPr>
        <p:spPr>
          <a:xfrm>
            <a:off x="182880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"Black-box" models hinder clinical adoption</a:t>
            </a:r>
            <a:endParaRPr lang="en-US" sz="1200" dirty="0"/>
          </a:p>
        </p:txBody>
      </p:sp>
      <p:sp>
        <p:nvSpPr>
          <p:cNvPr id="21" name="Shape 18"/>
          <p:cNvSpPr/>
          <p:nvPr/>
        </p:nvSpPr>
        <p:spPr>
          <a:xfrm>
            <a:off x="4663440" y="1325880"/>
            <a:ext cx="4114800" cy="347472"/>
          </a:xfrm>
          <a:prstGeom prst="rect">
            <a:avLst/>
          </a:prstGeom>
          <a:solidFill>
            <a:srgbClr val="1F3864"/>
          </a:solidFill>
          <a:ln w="12700">
            <a:solidFill>
              <a:srgbClr val="1F3864"/>
            </a:solidFill>
            <a:prstDash val="solid"/>
          </a:ln>
        </p:spPr>
      </p:sp>
      <p:sp>
        <p:nvSpPr>
          <p:cNvPr id="22" name="Text 19"/>
          <p:cNvSpPr/>
          <p:nvPr/>
        </p:nvSpPr>
        <p:spPr>
          <a:xfrm>
            <a:off x="466344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Jinsun Jung (2025) — Int. Journal of Medical Informatics</a:t>
            </a:r>
            <a:endParaRPr lang="en-US" sz="1400" dirty="0"/>
          </a:p>
        </p:txBody>
      </p:sp>
      <p:sp>
        <p:nvSpPr>
          <p:cNvPr id="23" name="Shape 20"/>
          <p:cNvSpPr/>
          <p:nvPr/>
        </p:nvSpPr>
        <p:spPr>
          <a:xfrm>
            <a:off x="4663440" y="1673352"/>
            <a:ext cx="4114800" cy="862965"/>
          </a:xfrm>
          <a:prstGeom prst="rect">
            <a:avLst/>
          </a:prstGeom>
          <a:solidFill>
            <a:srgbClr val="F5F8FF"/>
          </a:solidFill>
          <a:ln w="12700">
            <a:solidFill>
              <a:srgbClr val="D8D8D8"/>
            </a:solidFill>
            <a:prstDash val="solid"/>
          </a:ln>
        </p:spPr>
      </p:sp>
      <p:sp>
        <p:nvSpPr>
          <p:cNvPr id="24" name="Shape 21"/>
          <p:cNvSpPr/>
          <p:nvPr/>
        </p:nvSpPr>
        <p:spPr>
          <a:xfrm>
            <a:off x="4663440" y="1673352"/>
            <a:ext cx="1417320" cy="862965"/>
          </a:xfrm>
          <a:prstGeom prst="rect">
            <a:avLst/>
          </a:prstGeom>
          <a:solidFill>
            <a:srgbClr val="E8EDF5"/>
          </a:solidFill>
          <a:ln w="12700">
            <a:solidFill>
              <a:srgbClr val="D0D0D0"/>
            </a:solidFill>
            <a:prstDash val="solid"/>
          </a:ln>
        </p:spPr>
      </p:sp>
      <p:sp>
        <p:nvSpPr>
          <p:cNvPr id="25" name="Text 22"/>
          <p:cNvSpPr/>
          <p:nvPr/>
        </p:nvSpPr>
        <p:spPr>
          <a:xfrm>
            <a:off x="470916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26" name="Text 23"/>
          <p:cNvSpPr/>
          <p:nvPr/>
        </p:nvSpPr>
        <p:spPr>
          <a:xfrm>
            <a:off x="6126480" y="167335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Evaluating XAI impact on clinical trust</a:t>
            </a:r>
            <a:endParaRPr lang="en-US" sz="1200" dirty="0"/>
          </a:p>
        </p:txBody>
      </p:sp>
      <p:sp>
        <p:nvSpPr>
          <p:cNvPr id="27" name="Shape 24"/>
          <p:cNvSpPr/>
          <p:nvPr/>
        </p:nvSpPr>
        <p:spPr>
          <a:xfrm>
            <a:off x="4663440" y="2536317"/>
            <a:ext cx="4114800" cy="862965"/>
          </a:xfrm>
          <a:prstGeom prst="rect">
            <a:avLst/>
          </a:prstGeom>
          <a:solidFill>
            <a:srgbClr val="FFFFFF"/>
          </a:solidFill>
          <a:ln w="12700">
            <a:solidFill>
              <a:srgbClr val="D8D8D8"/>
            </a:solidFill>
            <a:prstDash val="solid"/>
          </a:ln>
        </p:spPr>
      </p:sp>
      <p:sp>
        <p:nvSpPr>
          <p:cNvPr id="28" name="Shape 25"/>
          <p:cNvSpPr/>
          <p:nvPr/>
        </p:nvSpPr>
        <p:spPr>
          <a:xfrm>
            <a:off x="4663440" y="2536317"/>
            <a:ext cx="1417320" cy="862965"/>
          </a:xfrm>
          <a:prstGeom prst="rect">
            <a:avLst/>
          </a:prstGeom>
          <a:solidFill>
            <a:srgbClr val="E8EDF5"/>
          </a:solidFill>
          <a:ln w="12700">
            <a:solidFill>
              <a:srgbClr val="D0D0D0"/>
            </a:solidFill>
            <a:prstDash val="solid"/>
          </a:ln>
        </p:spPr>
      </p:sp>
      <p:sp>
        <p:nvSpPr>
          <p:cNvPr id="29" name="Text 26"/>
          <p:cNvSpPr/>
          <p:nvPr/>
        </p:nvSpPr>
        <p:spPr>
          <a:xfrm>
            <a:off x="470916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Model</a:t>
            </a:r>
            <a:endParaRPr lang="en-US" sz="1200" dirty="0"/>
          </a:p>
        </p:txBody>
      </p:sp>
      <p:sp>
        <p:nvSpPr>
          <p:cNvPr id="30" name="Text 27"/>
          <p:cNvSpPr/>
          <p:nvPr/>
        </p:nvSpPr>
        <p:spPr>
          <a:xfrm>
            <a:off x="6126480" y="2536317"/>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Human-in-the-loop evaluation</a:t>
            </a:r>
            <a:endParaRPr lang="en-US" sz="1200" dirty="0"/>
          </a:p>
        </p:txBody>
      </p:sp>
      <p:sp>
        <p:nvSpPr>
          <p:cNvPr id="31" name="Shape 28"/>
          <p:cNvSpPr/>
          <p:nvPr/>
        </p:nvSpPr>
        <p:spPr>
          <a:xfrm>
            <a:off x="4663440" y="3399282"/>
            <a:ext cx="4114800" cy="862965"/>
          </a:xfrm>
          <a:prstGeom prst="rect">
            <a:avLst/>
          </a:prstGeom>
          <a:solidFill>
            <a:srgbClr val="F5F8FF"/>
          </a:solidFill>
          <a:ln w="12700">
            <a:solidFill>
              <a:srgbClr val="D8D8D8"/>
            </a:solidFill>
            <a:prstDash val="solid"/>
          </a:ln>
        </p:spPr>
      </p:sp>
      <p:sp>
        <p:nvSpPr>
          <p:cNvPr id="32" name="Shape 29"/>
          <p:cNvSpPr/>
          <p:nvPr/>
        </p:nvSpPr>
        <p:spPr>
          <a:xfrm>
            <a:off x="4663440" y="3399282"/>
            <a:ext cx="1417320" cy="862965"/>
          </a:xfrm>
          <a:prstGeom prst="rect">
            <a:avLst/>
          </a:prstGeom>
          <a:solidFill>
            <a:srgbClr val="E8EDF5"/>
          </a:solidFill>
          <a:ln w="12700">
            <a:solidFill>
              <a:srgbClr val="D0D0D0"/>
            </a:solidFill>
            <a:prstDash val="solid"/>
          </a:ln>
        </p:spPr>
      </p:sp>
      <p:sp>
        <p:nvSpPr>
          <p:cNvPr id="33" name="Text 30"/>
          <p:cNvSpPr/>
          <p:nvPr/>
        </p:nvSpPr>
        <p:spPr>
          <a:xfrm>
            <a:off x="470916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Research Gap</a:t>
            </a:r>
            <a:endParaRPr lang="en-US" sz="1200" dirty="0"/>
          </a:p>
        </p:txBody>
      </p:sp>
      <p:sp>
        <p:nvSpPr>
          <p:cNvPr id="34" name="Text 31"/>
          <p:cNvSpPr/>
          <p:nvPr/>
        </p:nvSpPr>
        <p:spPr>
          <a:xfrm>
            <a:off x="612648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Complexity vs. Interpretability tradeoff</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Literature Review: Multimodal &amp; Precision Diagnostics</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9</a:t>
            </a:r>
            <a:endParaRPr lang="en-US" sz="1400" dirty="0"/>
          </a:p>
        </p:txBody>
      </p:sp>
      <p:sp>
        <p:nvSpPr>
          <p:cNvPr id="7" name="Shape 4"/>
          <p:cNvSpPr/>
          <p:nvPr/>
        </p:nvSpPr>
        <p:spPr>
          <a:xfrm>
            <a:off x="365760" y="1325880"/>
            <a:ext cx="4114800" cy="347472"/>
          </a:xfrm>
          <a:prstGeom prst="rect">
            <a:avLst/>
          </a:prstGeom>
          <a:solidFill>
            <a:srgbClr val="1F3864"/>
          </a:solidFill>
          <a:ln w="12700">
            <a:solidFill>
              <a:srgbClr val="1F3864"/>
            </a:solidFill>
            <a:prstDash val="solid"/>
          </a:ln>
        </p:spPr>
      </p:sp>
      <p:sp>
        <p:nvSpPr>
          <p:cNvPr id="8" name="Text 5"/>
          <p:cNvSpPr/>
          <p:nvPr/>
        </p:nvSpPr>
        <p:spPr>
          <a:xfrm>
            <a:off x="36576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Nikolaos Nikolaou (2025) — Nature Communications</a:t>
            </a:r>
            <a:endParaRPr lang="en-US" sz="1400" dirty="0"/>
          </a:p>
        </p:txBody>
      </p:sp>
      <p:sp>
        <p:nvSpPr>
          <p:cNvPr id="9" name="Shape 6"/>
          <p:cNvSpPr/>
          <p:nvPr/>
        </p:nvSpPr>
        <p:spPr>
          <a:xfrm>
            <a:off x="365760" y="1673352"/>
            <a:ext cx="4114800" cy="862965"/>
          </a:xfrm>
          <a:prstGeom prst="rect">
            <a:avLst/>
          </a:prstGeom>
          <a:solidFill>
            <a:srgbClr val="F5F8FF"/>
          </a:solidFill>
          <a:ln w="12700">
            <a:solidFill>
              <a:srgbClr val="D8D8D8"/>
            </a:solidFill>
            <a:prstDash val="solid"/>
          </a:ln>
        </p:spPr>
      </p:sp>
      <p:sp>
        <p:nvSpPr>
          <p:cNvPr id="10" name="Shape 7"/>
          <p:cNvSpPr/>
          <p:nvPr/>
        </p:nvSpPr>
        <p:spPr>
          <a:xfrm>
            <a:off x="365760" y="1673352"/>
            <a:ext cx="1417320" cy="862965"/>
          </a:xfrm>
          <a:prstGeom prst="rect">
            <a:avLst/>
          </a:prstGeom>
          <a:solidFill>
            <a:srgbClr val="E8EDF5"/>
          </a:solidFill>
          <a:ln w="12700">
            <a:solidFill>
              <a:srgbClr val="D0D0D0"/>
            </a:solidFill>
            <a:prstDash val="solid"/>
          </a:ln>
        </p:spPr>
      </p:sp>
      <p:sp>
        <p:nvSpPr>
          <p:cNvPr id="11" name="Text 8"/>
          <p:cNvSpPr/>
          <p:nvPr/>
        </p:nvSpPr>
        <p:spPr>
          <a:xfrm>
            <a:off x="41148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12" name="Text 9"/>
          <p:cNvSpPr/>
          <p:nvPr/>
        </p:nvSpPr>
        <p:spPr>
          <a:xfrm>
            <a:off x="1828800" y="167335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Multimodal data fusion for precision oncology</a:t>
            </a:r>
            <a:endParaRPr lang="en-US" sz="1200" dirty="0"/>
          </a:p>
        </p:txBody>
      </p:sp>
      <p:sp>
        <p:nvSpPr>
          <p:cNvPr id="13" name="Shape 10"/>
          <p:cNvSpPr/>
          <p:nvPr/>
        </p:nvSpPr>
        <p:spPr>
          <a:xfrm>
            <a:off x="365760" y="2536317"/>
            <a:ext cx="4114800" cy="862965"/>
          </a:xfrm>
          <a:prstGeom prst="rect">
            <a:avLst/>
          </a:prstGeom>
          <a:solidFill>
            <a:srgbClr val="FFFFFF"/>
          </a:solidFill>
          <a:ln w="12700">
            <a:solidFill>
              <a:srgbClr val="D8D8D8"/>
            </a:solidFill>
            <a:prstDash val="solid"/>
          </a:ln>
        </p:spPr>
      </p:sp>
      <p:sp>
        <p:nvSpPr>
          <p:cNvPr id="14" name="Shape 11"/>
          <p:cNvSpPr/>
          <p:nvPr/>
        </p:nvSpPr>
        <p:spPr>
          <a:xfrm>
            <a:off x="365760" y="2536317"/>
            <a:ext cx="1417320" cy="862965"/>
          </a:xfrm>
          <a:prstGeom prst="rect">
            <a:avLst/>
          </a:prstGeom>
          <a:solidFill>
            <a:srgbClr val="E8EDF5"/>
          </a:solidFill>
          <a:ln w="12700">
            <a:solidFill>
              <a:srgbClr val="D0D0D0"/>
            </a:solidFill>
            <a:prstDash val="solid"/>
          </a:ln>
        </p:spPr>
      </p:sp>
      <p:sp>
        <p:nvSpPr>
          <p:cNvPr id="15" name="Text 12"/>
          <p:cNvSpPr/>
          <p:nvPr/>
        </p:nvSpPr>
        <p:spPr>
          <a:xfrm>
            <a:off x="41148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Model</a:t>
            </a:r>
            <a:endParaRPr lang="en-US" sz="1200" dirty="0"/>
          </a:p>
        </p:txBody>
      </p:sp>
      <p:sp>
        <p:nvSpPr>
          <p:cNvPr id="16" name="Text 13"/>
          <p:cNvSpPr/>
          <p:nvPr/>
        </p:nvSpPr>
        <p:spPr>
          <a:xfrm>
            <a:off x="1828800" y="2536317"/>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Deep Fusion Networks</a:t>
            </a:r>
            <a:endParaRPr lang="en-US" sz="1200" dirty="0"/>
          </a:p>
        </p:txBody>
      </p:sp>
      <p:sp>
        <p:nvSpPr>
          <p:cNvPr id="17" name="Shape 14"/>
          <p:cNvSpPr/>
          <p:nvPr/>
        </p:nvSpPr>
        <p:spPr>
          <a:xfrm>
            <a:off x="365760" y="3399282"/>
            <a:ext cx="4114800" cy="862965"/>
          </a:xfrm>
          <a:prstGeom prst="rect">
            <a:avLst/>
          </a:prstGeom>
          <a:solidFill>
            <a:srgbClr val="F5F8FF"/>
          </a:solidFill>
          <a:ln w="12700">
            <a:solidFill>
              <a:srgbClr val="D8D8D8"/>
            </a:solidFill>
            <a:prstDash val="solid"/>
          </a:ln>
        </p:spPr>
      </p:sp>
      <p:sp>
        <p:nvSpPr>
          <p:cNvPr id="18" name="Shape 15"/>
          <p:cNvSpPr/>
          <p:nvPr/>
        </p:nvSpPr>
        <p:spPr>
          <a:xfrm>
            <a:off x="365760" y="3399282"/>
            <a:ext cx="1417320" cy="862965"/>
          </a:xfrm>
          <a:prstGeom prst="rect">
            <a:avLst/>
          </a:prstGeom>
          <a:solidFill>
            <a:srgbClr val="E8EDF5"/>
          </a:solidFill>
          <a:ln w="12700">
            <a:solidFill>
              <a:srgbClr val="D0D0D0"/>
            </a:solidFill>
            <a:prstDash val="solid"/>
          </a:ln>
        </p:spPr>
      </p:sp>
      <p:sp>
        <p:nvSpPr>
          <p:cNvPr id="19" name="Text 16"/>
          <p:cNvSpPr/>
          <p:nvPr/>
        </p:nvSpPr>
        <p:spPr>
          <a:xfrm>
            <a:off x="41148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Key Feature</a:t>
            </a:r>
            <a:endParaRPr lang="en-US" sz="1200" dirty="0"/>
          </a:p>
        </p:txBody>
      </p:sp>
      <p:sp>
        <p:nvSpPr>
          <p:cNvPr id="20" name="Text 17"/>
          <p:cNvSpPr/>
          <p:nvPr/>
        </p:nvSpPr>
        <p:spPr>
          <a:xfrm>
            <a:off x="182880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Clinical + Genomic + Imaging</a:t>
            </a:r>
            <a:endParaRPr lang="en-US" sz="1200" dirty="0"/>
          </a:p>
        </p:txBody>
      </p:sp>
      <p:sp>
        <p:nvSpPr>
          <p:cNvPr id="21" name="Shape 18"/>
          <p:cNvSpPr/>
          <p:nvPr/>
        </p:nvSpPr>
        <p:spPr>
          <a:xfrm>
            <a:off x="4663440" y="1325880"/>
            <a:ext cx="4114800" cy="347472"/>
          </a:xfrm>
          <a:prstGeom prst="rect">
            <a:avLst/>
          </a:prstGeom>
          <a:solidFill>
            <a:srgbClr val="1F3864"/>
          </a:solidFill>
          <a:ln w="12700">
            <a:solidFill>
              <a:srgbClr val="1F3864"/>
            </a:solidFill>
            <a:prstDash val="solid"/>
          </a:ln>
        </p:spPr>
      </p:sp>
      <p:sp>
        <p:nvSpPr>
          <p:cNvPr id="22" name="Text 19"/>
          <p:cNvSpPr/>
          <p:nvPr/>
        </p:nvSpPr>
        <p:spPr>
          <a:xfrm>
            <a:off x="466344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Sachin Kumar (2024) — Diagnostics (PMC)</a:t>
            </a:r>
            <a:endParaRPr lang="en-US" sz="1400" dirty="0"/>
          </a:p>
        </p:txBody>
      </p:sp>
      <p:sp>
        <p:nvSpPr>
          <p:cNvPr id="23" name="Shape 20"/>
          <p:cNvSpPr/>
          <p:nvPr/>
        </p:nvSpPr>
        <p:spPr>
          <a:xfrm>
            <a:off x="4663440" y="1673352"/>
            <a:ext cx="4114800" cy="862965"/>
          </a:xfrm>
          <a:prstGeom prst="rect">
            <a:avLst/>
          </a:prstGeom>
          <a:solidFill>
            <a:srgbClr val="F5F8FF"/>
          </a:solidFill>
          <a:ln w="12700">
            <a:solidFill>
              <a:srgbClr val="D8D8D8"/>
            </a:solidFill>
            <a:prstDash val="solid"/>
          </a:ln>
        </p:spPr>
      </p:sp>
      <p:sp>
        <p:nvSpPr>
          <p:cNvPr id="24" name="Shape 21"/>
          <p:cNvSpPr/>
          <p:nvPr/>
        </p:nvSpPr>
        <p:spPr>
          <a:xfrm>
            <a:off x="4663440" y="1673352"/>
            <a:ext cx="1417320" cy="862965"/>
          </a:xfrm>
          <a:prstGeom prst="rect">
            <a:avLst/>
          </a:prstGeom>
          <a:solidFill>
            <a:srgbClr val="E8EDF5"/>
          </a:solidFill>
          <a:ln w="12700">
            <a:solidFill>
              <a:srgbClr val="D0D0D0"/>
            </a:solidFill>
            <a:prstDash val="solid"/>
          </a:ln>
        </p:spPr>
      </p:sp>
      <p:sp>
        <p:nvSpPr>
          <p:cNvPr id="25" name="Text 22"/>
          <p:cNvSpPr/>
          <p:nvPr/>
        </p:nvSpPr>
        <p:spPr>
          <a:xfrm>
            <a:off x="470916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26" name="Text 23"/>
          <p:cNvSpPr/>
          <p:nvPr/>
        </p:nvSpPr>
        <p:spPr>
          <a:xfrm>
            <a:off x="6126480" y="167335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Review of fusion aspects in medical diagnosis</a:t>
            </a:r>
            <a:endParaRPr lang="en-US" sz="1200" dirty="0"/>
          </a:p>
        </p:txBody>
      </p:sp>
      <p:sp>
        <p:nvSpPr>
          <p:cNvPr id="27" name="Shape 24"/>
          <p:cNvSpPr/>
          <p:nvPr/>
        </p:nvSpPr>
        <p:spPr>
          <a:xfrm>
            <a:off x="4663440" y="2536317"/>
            <a:ext cx="4114800" cy="862965"/>
          </a:xfrm>
          <a:prstGeom prst="rect">
            <a:avLst/>
          </a:prstGeom>
          <a:solidFill>
            <a:srgbClr val="FFFFFF"/>
          </a:solidFill>
          <a:ln w="12700">
            <a:solidFill>
              <a:srgbClr val="D8D8D8"/>
            </a:solidFill>
            <a:prstDash val="solid"/>
          </a:ln>
        </p:spPr>
      </p:sp>
      <p:sp>
        <p:nvSpPr>
          <p:cNvPr id="28" name="Shape 25"/>
          <p:cNvSpPr/>
          <p:nvPr/>
        </p:nvSpPr>
        <p:spPr>
          <a:xfrm>
            <a:off x="4663440" y="2536317"/>
            <a:ext cx="1417320" cy="862965"/>
          </a:xfrm>
          <a:prstGeom prst="rect">
            <a:avLst/>
          </a:prstGeom>
          <a:solidFill>
            <a:srgbClr val="E8EDF5"/>
          </a:solidFill>
          <a:ln w="12700">
            <a:solidFill>
              <a:srgbClr val="D0D0D0"/>
            </a:solidFill>
            <a:prstDash val="solid"/>
          </a:ln>
        </p:spPr>
      </p:sp>
      <p:sp>
        <p:nvSpPr>
          <p:cNvPr id="29" name="Text 26"/>
          <p:cNvSpPr/>
          <p:nvPr/>
        </p:nvSpPr>
        <p:spPr>
          <a:xfrm>
            <a:off x="470916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Model</a:t>
            </a:r>
            <a:endParaRPr lang="en-US" sz="1200" dirty="0"/>
          </a:p>
        </p:txBody>
      </p:sp>
      <p:sp>
        <p:nvSpPr>
          <p:cNvPr id="30" name="Text 27"/>
          <p:cNvSpPr/>
          <p:nvPr/>
        </p:nvSpPr>
        <p:spPr>
          <a:xfrm>
            <a:off x="6126480" y="2536317"/>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Comparative Analysis (CNN, RNN)</a:t>
            </a:r>
            <a:endParaRPr lang="en-US" sz="1200" dirty="0"/>
          </a:p>
        </p:txBody>
      </p:sp>
      <p:sp>
        <p:nvSpPr>
          <p:cNvPr id="31" name="Shape 28"/>
          <p:cNvSpPr/>
          <p:nvPr/>
        </p:nvSpPr>
        <p:spPr>
          <a:xfrm>
            <a:off x="4663440" y="3399282"/>
            <a:ext cx="4114800" cy="862965"/>
          </a:xfrm>
          <a:prstGeom prst="rect">
            <a:avLst/>
          </a:prstGeom>
          <a:solidFill>
            <a:srgbClr val="F5F8FF"/>
          </a:solidFill>
          <a:ln w="12700">
            <a:solidFill>
              <a:srgbClr val="D8D8D8"/>
            </a:solidFill>
            <a:prstDash val="solid"/>
          </a:ln>
        </p:spPr>
      </p:sp>
      <p:sp>
        <p:nvSpPr>
          <p:cNvPr id="32" name="Shape 29"/>
          <p:cNvSpPr/>
          <p:nvPr/>
        </p:nvSpPr>
        <p:spPr>
          <a:xfrm>
            <a:off x="4663440" y="3399282"/>
            <a:ext cx="1417320" cy="862965"/>
          </a:xfrm>
          <a:prstGeom prst="rect">
            <a:avLst/>
          </a:prstGeom>
          <a:solidFill>
            <a:srgbClr val="E8EDF5"/>
          </a:solidFill>
          <a:ln w="12700">
            <a:solidFill>
              <a:srgbClr val="D0D0D0"/>
            </a:solidFill>
            <a:prstDash val="solid"/>
          </a:ln>
        </p:spPr>
      </p:sp>
      <p:sp>
        <p:nvSpPr>
          <p:cNvPr id="33" name="Text 30"/>
          <p:cNvSpPr/>
          <p:nvPr/>
        </p:nvSpPr>
        <p:spPr>
          <a:xfrm>
            <a:off x="470916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Key Feature</a:t>
            </a:r>
            <a:endParaRPr lang="en-US" sz="1200" dirty="0"/>
          </a:p>
        </p:txBody>
      </p:sp>
      <p:sp>
        <p:nvSpPr>
          <p:cNvPr id="34" name="Text 31"/>
          <p:cNvSpPr/>
          <p:nvPr/>
        </p:nvSpPr>
        <p:spPr>
          <a:xfrm>
            <a:off x="612648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Multi-source data integration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Literature Review: Targeted CKD Diagnostics</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10</a:t>
            </a:r>
            <a:endParaRPr lang="en-US" sz="1400" dirty="0"/>
          </a:p>
        </p:txBody>
      </p:sp>
      <p:sp>
        <p:nvSpPr>
          <p:cNvPr id="7" name="Shape 4"/>
          <p:cNvSpPr/>
          <p:nvPr/>
        </p:nvSpPr>
        <p:spPr>
          <a:xfrm>
            <a:off x="365760" y="1325880"/>
            <a:ext cx="4114800" cy="347472"/>
          </a:xfrm>
          <a:prstGeom prst="rect">
            <a:avLst/>
          </a:prstGeom>
          <a:solidFill>
            <a:srgbClr val="1F3864"/>
          </a:solidFill>
          <a:ln w="12700">
            <a:solidFill>
              <a:srgbClr val="1F3864"/>
            </a:solidFill>
            <a:prstDash val="solid"/>
          </a:ln>
        </p:spPr>
      </p:sp>
      <p:sp>
        <p:nvSpPr>
          <p:cNvPr id="8" name="Text 5"/>
          <p:cNvSpPr/>
          <p:nvPr/>
        </p:nvSpPr>
        <p:spPr>
          <a:xfrm>
            <a:off x="36576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K. Navaz (2024) — IEEE Xplore</a:t>
            </a:r>
            <a:endParaRPr lang="en-US" sz="1400" dirty="0"/>
          </a:p>
        </p:txBody>
      </p:sp>
      <p:sp>
        <p:nvSpPr>
          <p:cNvPr id="9" name="Shape 6"/>
          <p:cNvSpPr/>
          <p:nvPr/>
        </p:nvSpPr>
        <p:spPr>
          <a:xfrm>
            <a:off x="365760" y="1673352"/>
            <a:ext cx="4114800" cy="862965"/>
          </a:xfrm>
          <a:prstGeom prst="rect">
            <a:avLst/>
          </a:prstGeom>
          <a:solidFill>
            <a:srgbClr val="F5F8FF"/>
          </a:solidFill>
          <a:ln w="12700">
            <a:solidFill>
              <a:srgbClr val="D8D8D8"/>
            </a:solidFill>
            <a:prstDash val="solid"/>
          </a:ln>
        </p:spPr>
      </p:sp>
      <p:sp>
        <p:nvSpPr>
          <p:cNvPr id="10" name="Shape 7"/>
          <p:cNvSpPr/>
          <p:nvPr/>
        </p:nvSpPr>
        <p:spPr>
          <a:xfrm>
            <a:off x="365760" y="1673352"/>
            <a:ext cx="1417320" cy="862965"/>
          </a:xfrm>
          <a:prstGeom prst="rect">
            <a:avLst/>
          </a:prstGeom>
          <a:solidFill>
            <a:srgbClr val="E8EDF5"/>
          </a:solidFill>
          <a:ln w="12700">
            <a:solidFill>
              <a:srgbClr val="D0D0D0"/>
            </a:solidFill>
            <a:prstDash val="solid"/>
          </a:ln>
        </p:spPr>
      </p:sp>
      <p:sp>
        <p:nvSpPr>
          <p:cNvPr id="11" name="Text 8"/>
          <p:cNvSpPr/>
          <p:nvPr/>
        </p:nvSpPr>
        <p:spPr>
          <a:xfrm>
            <a:off x="41148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12" name="Text 9"/>
          <p:cNvSpPr/>
          <p:nvPr/>
        </p:nvSpPr>
        <p:spPr>
          <a:xfrm>
            <a:off x="1828800" y="167335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Early detection of CKD using Gradient Boosting</a:t>
            </a:r>
            <a:endParaRPr lang="en-US" sz="1200" dirty="0"/>
          </a:p>
        </p:txBody>
      </p:sp>
      <p:sp>
        <p:nvSpPr>
          <p:cNvPr id="13" name="Shape 10"/>
          <p:cNvSpPr/>
          <p:nvPr/>
        </p:nvSpPr>
        <p:spPr>
          <a:xfrm>
            <a:off x="365760" y="2536317"/>
            <a:ext cx="4114800" cy="862965"/>
          </a:xfrm>
          <a:prstGeom prst="rect">
            <a:avLst/>
          </a:prstGeom>
          <a:solidFill>
            <a:srgbClr val="FFFFFF"/>
          </a:solidFill>
          <a:ln w="12700">
            <a:solidFill>
              <a:srgbClr val="D8D8D8"/>
            </a:solidFill>
            <a:prstDash val="solid"/>
          </a:ln>
        </p:spPr>
      </p:sp>
      <p:sp>
        <p:nvSpPr>
          <p:cNvPr id="14" name="Shape 11"/>
          <p:cNvSpPr/>
          <p:nvPr/>
        </p:nvSpPr>
        <p:spPr>
          <a:xfrm>
            <a:off x="365760" y="2536317"/>
            <a:ext cx="1417320" cy="862965"/>
          </a:xfrm>
          <a:prstGeom prst="rect">
            <a:avLst/>
          </a:prstGeom>
          <a:solidFill>
            <a:srgbClr val="E8EDF5"/>
          </a:solidFill>
          <a:ln w="12700">
            <a:solidFill>
              <a:srgbClr val="D0D0D0"/>
            </a:solidFill>
            <a:prstDash val="solid"/>
          </a:ln>
        </p:spPr>
      </p:sp>
      <p:sp>
        <p:nvSpPr>
          <p:cNvPr id="15" name="Text 12"/>
          <p:cNvSpPr/>
          <p:nvPr/>
        </p:nvSpPr>
        <p:spPr>
          <a:xfrm>
            <a:off x="41148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Dataset</a:t>
            </a:r>
            <a:endParaRPr lang="en-US" sz="1200" dirty="0"/>
          </a:p>
        </p:txBody>
      </p:sp>
      <p:sp>
        <p:nvSpPr>
          <p:cNvPr id="16" name="Text 13"/>
          <p:cNvSpPr/>
          <p:nvPr/>
        </p:nvSpPr>
        <p:spPr>
          <a:xfrm>
            <a:off x="1828800" y="2536317"/>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UCI CKD Repository</a:t>
            </a:r>
            <a:endParaRPr lang="en-US" sz="1200" dirty="0"/>
          </a:p>
        </p:txBody>
      </p:sp>
      <p:sp>
        <p:nvSpPr>
          <p:cNvPr id="17" name="Shape 14"/>
          <p:cNvSpPr/>
          <p:nvPr/>
        </p:nvSpPr>
        <p:spPr>
          <a:xfrm>
            <a:off x="365760" y="3399282"/>
            <a:ext cx="4114800" cy="862965"/>
          </a:xfrm>
          <a:prstGeom prst="rect">
            <a:avLst/>
          </a:prstGeom>
          <a:solidFill>
            <a:srgbClr val="F5F8FF"/>
          </a:solidFill>
          <a:ln w="12700">
            <a:solidFill>
              <a:srgbClr val="D8D8D8"/>
            </a:solidFill>
            <a:prstDash val="solid"/>
          </a:ln>
        </p:spPr>
      </p:sp>
      <p:sp>
        <p:nvSpPr>
          <p:cNvPr id="18" name="Shape 15"/>
          <p:cNvSpPr/>
          <p:nvPr/>
        </p:nvSpPr>
        <p:spPr>
          <a:xfrm>
            <a:off x="365760" y="3399282"/>
            <a:ext cx="1417320" cy="862965"/>
          </a:xfrm>
          <a:prstGeom prst="rect">
            <a:avLst/>
          </a:prstGeom>
          <a:solidFill>
            <a:srgbClr val="E8EDF5"/>
          </a:solidFill>
          <a:ln w="12700">
            <a:solidFill>
              <a:srgbClr val="D0D0D0"/>
            </a:solidFill>
            <a:prstDash val="solid"/>
          </a:ln>
        </p:spPr>
      </p:sp>
      <p:sp>
        <p:nvSpPr>
          <p:cNvPr id="19" name="Text 16"/>
          <p:cNvSpPr/>
          <p:nvPr/>
        </p:nvSpPr>
        <p:spPr>
          <a:xfrm>
            <a:off x="41148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Performance</a:t>
            </a:r>
            <a:endParaRPr lang="en-US" sz="1200" dirty="0"/>
          </a:p>
        </p:txBody>
      </p:sp>
      <p:sp>
        <p:nvSpPr>
          <p:cNvPr id="20" name="Text 17"/>
          <p:cNvSpPr/>
          <p:nvPr/>
        </p:nvSpPr>
        <p:spPr>
          <a:xfrm>
            <a:off x="182880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97% Accuracy</a:t>
            </a:r>
            <a:endParaRPr lang="en-US" sz="1200" dirty="0"/>
          </a:p>
        </p:txBody>
      </p:sp>
      <p:sp>
        <p:nvSpPr>
          <p:cNvPr id="21" name="Shape 18"/>
          <p:cNvSpPr/>
          <p:nvPr/>
        </p:nvSpPr>
        <p:spPr>
          <a:xfrm>
            <a:off x="4663440" y="1325880"/>
            <a:ext cx="4114800" cy="347472"/>
          </a:xfrm>
          <a:prstGeom prst="rect">
            <a:avLst/>
          </a:prstGeom>
          <a:solidFill>
            <a:srgbClr val="1F3864"/>
          </a:solidFill>
          <a:ln w="12700">
            <a:solidFill>
              <a:srgbClr val="1F3864"/>
            </a:solidFill>
            <a:prstDash val="solid"/>
          </a:ln>
        </p:spPr>
      </p:sp>
      <p:sp>
        <p:nvSpPr>
          <p:cNvPr id="22" name="Text 19"/>
          <p:cNvSpPr/>
          <p:nvPr/>
        </p:nvSpPr>
        <p:spPr>
          <a:xfrm>
            <a:off x="466344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J.V. Groß (2017) — Medical Hypotheses (Elsevier)</a:t>
            </a:r>
            <a:endParaRPr lang="en-US" sz="1400" dirty="0"/>
          </a:p>
        </p:txBody>
      </p:sp>
      <p:sp>
        <p:nvSpPr>
          <p:cNvPr id="23" name="Shape 20"/>
          <p:cNvSpPr/>
          <p:nvPr/>
        </p:nvSpPr>
        <p:spPr>
          <a:xfrm>
            <a:off x="4663440" y="1673352"/>
            <a:ext cx="4114800" cy="862965"/>
          </a:xfrm>
          <a:prstGeom prst="rect">
            <a:avLst/>
          </a:prstGeom>
          <a:solidFill>
            <a:srgbClr val="F5F8FF"/>
          </a:solidFill>
          <a:ln w="12700">
            <a:solidFill>
              <a:srgbClr val="D8D8D8"/>
            </a:solidFill>
            <a:prstDash val="solid"/>
          </a:ln>
        </p:spPr>
      </p:sp>
      <p:sp>
        <p:nvSpPr>
          <p:cNvPr id="24" name="Shape 21"/>
          <p:cNvSpPr/>
          <p:nvPr/>
        </p:nvSpPr>
        <p:spPr>
          <a:xfrm>
            <a:off x="4663440" y="1673352"/>
            <a:ext cx="1417320" cy="862965"/>
          </a:xfrm>
          <a:prstGeom prst="rect">
            <a:avLst/>
          </a:prstGeom>
          <a:solidFill>
            <a:srgbClr val="E8EDF5"/>
          </a:solidFill>
          <a:ln w="12700">
            <a:solidFill>
              <a:srgbClr val="D0D0D0"/>
            </a:solidFill>
            <a:prstDash val="solid"/>
          </a:ln>
        </p:spPr>
      </p:sp>
      <p:sp>
        <p:nvSpPr>
          <p:cNvPr id="25" name="Text 22"/>
          <p:cNvSpPr/>
          <p:nvPr/>
        </p:nvSpPr>
        <p:spPr>
          <a:xfrm>
            <a:off x="470916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26" name="Text 23"/>
          <p:cNvSpPr/>
          <p:nvPr/>
        </p:nvSpPr>
        <p:spPr>
          <a:xfrm>
            <a:off x="6126480" y="167335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Feature selection for CKD diagnosis</a:t>
            </a:r>
            <a:endParaRPr lang="en-US" sz="1200" dirty="0"/>
          </a:p>
        </p:txBody>
      </p:sp>
      <p:sp>
        <p:nvSpPr>
          <p:cNvPr id="27" name="Shape 24"/>
          <p:cNvSpPr/>
          <p:nvPr/>
        </p:nvSpPr>
        <p:spPr>
          <a:xfrm>
            <a:off x="4663440" y="2536317"/>
            <a:ext cx="4114800" cy="862965"/>
          </a:xfrm>
          <a:prstGeom prst="rect">
            <a:avLst/>
          </a:prstGeom>
          <a:solidFill>
            <a:srgbClr val="FFFFFF"/>
          </a:solidFill>
          <a:ln w="12700">
            <a:solidFill>
              <a:srgbClr val="D8D8D8"/>
            </a:solidFill>
            <a:prstDash val="solid"/>
          </a:ln>
        </p:spPr>
      </p:sp>
      <p:sp>
        <p:nvSpPr>
          <p:cNvPr id="28" name="Shape 25"/>
          <p:cNvSpPr/>
          <p:nvPr/>
        </p:nvSpPr>
        <p:spPr>
          <a:xfrm>
            <a:off x="4663440" y="2536317"/>
            <a:ext cx="1417320" cy="862965"/>
          </a:xfrm>
          <a:prstGeom prst="rect">
            <a:avLst/>
          </a:prstGeom>
          <a:solidFill>
            <a:srgbClr val="E8EDF5"/>
          </a:solidFill>
          <a:ln w="12700">
            <a:solidFill>
              <a:srgbClr val="D0D0D0"/>
            </a:solidFill>
            <a:prstDash val="solid"/>
          </a:ln>
        </p:spPr>
      </p:sp>
      <p:sp>
        <p:nvSpPr>
          <p:cNvPr id="29" name="Text 26"/>
          <p:cNvSpPr/>
          <p:nvPr/>
        </p:nvSpPr>
        <p:spPr>
          <a:xfrm>
            <a:off x="470916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Dataset</a:t>
            </a:r>
            <a:endParaRPr lang="en-US" sz="1200" dirty="0"/>
          </a:p>
        </p:txBody>
      </p:sp>
      <p:sp>
        <p:nvSpPr>
          <p:cNvPr id="30" name="Text 27"/>
          <p:cNvSpPr/>
          <p:nvPr/>
        </p:nvSpPr>
        <p:spPr>
          <a:xfrm>
            <a:off x="6126480" y="2536317"/>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Laboratory Clinical Data</a:t>
            </a:r>
            <a:endParaRPr lang="en-US" sz="1200" dirty="0"/>
          </a:p>
        </p:txBody>
      </p:sp>
      <p:sp>
        <p:nvSpPr>
          <p:cNvPr id="31" name="Shape 28"/>
          <p:cNvSpPr/>
          <p:nvPr/>
        </p:nvSpPr>
        <p:spPr>
          <a:xfrm>
            <a:off x="4663440" y="3399282"/>
            <a:ext cx="4114800" cy="862965"/>
          </a:xfrm>
          <a:prstGeom prst="rect">
            <a:avLst/>
          </a:prstGeom>
          <a:solidFill>
            <a:srgbClr val="F5F8FF"/>
          </a:solidFill>
          <a:ln w="12700">
            <a:solidFill>
              <a:srgbClr val="D8D8D8"/>
            </a:solidFill>
            <a:prstDash val="solid"/>
          </a:ln>
        </p:spPr>
      </p:sp>
      <p:sp>
        <p:nvSpPr>
          <p:cNvPr id="32" name="Shape 29"/>
          <p:cNvSpPr/>
          <p:nvPr/>
        </p:nvSpPr>
        <p:spPr>
          <a:xfrm>
            <a:off x="4663440" y="3399282"/>
            <a:ext cx="1417320" cy="862965"/>
          </a:xfrm>
          <a:prstGeom prst="rect">
            <a:avLst/>
          </a:prstGeom>
          <a:solidFill>
            <a:srgbClr val="E8EDF5"/>
          </a:solidFill>
          <a:ln w="12700">
            <a:solidFill>
              <a:srgbClr val="D0D0D0"/>
            </a:solidFill>
            <a:prstDash val="solid"/>
          </a:ln>
        </p:spPr>
      </p:sp>
      <p:sp>
        <p:nvSpPr>
          <p:cNvPr id="33" name="Text 30"/>
          <p:cNvSpPr/>
          <p:nvPr/>
        </p:nvSpPr>
        <p:spPr>
          <a:xfrm>
            <a:off x="470916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Performance</a:t>
            </a:r>
            <a:endParaRPr lang="en-US" sz="1200" dirty="0"/>
          </a:p>
        </p:txBody>
      </p:sp>
      <p:sp>
        <p:nvSpPr>
          <p:cNvPr id="34" name="Text 31"/>
          <p:cNvSpPr/>
          <p:nvPr/>
        </p:nvSpPr>
        <p:spPr>
          <a:xfrm>
            <a:off x="612648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98.5% Accuracy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F407175-26D6-D530-1039-AB008B77E379}"/>
            </a:ext>
          </a:extLst>
        </p:cNvPr>
        <p:cNvGrpSpPr/>
        <p:nvPr/>
      </p:nvGrpSpPr>
      <p:grpSpPr>
        <a:xfrm>
          <a:off x="0" y="0"/>
          <a:ext cx="0" cy="0"/>
          <a:chOff x="0" y="0"/>
          <a:chExt cx="0" cy="0"/>
        </a:xfrm>
      </p:grpSpPr>
      <p:sp>
        <p:nvSpPr>
          <p:cNvPr id="23" name="Shape 20">
            <a:extLst>
              <a:ext uri="{FF2B5EF4-FFF2-40B4-BE49-F238E27FC236}">
                <a16:creationId xmlns:a16="http://schemas.microsoft.com/office/drawing/2014/main" id="{FFAF79D0-0CB4-1400-37FD-EC8B93AE6903}"/>
              </a:ext>
            </a:extLst>
          </p:cNvPr>
          <p:cNvSpPr/>
          <p:nvPr/>
        </p:nvSpPr>
        <p:spPr>
          <a:xfrm>
            <a:off x="4663440" y="1673352"/>
            <a:ext cx="4114800" cy="862965"/>
          </a:xfrm>
          <a:prstGeom prst="rect">
            <a:avLst/>
          </a:prstGeom>
          <a:solidFill>
            <a:srgbClr val="F5F8FF"/>
          </a:solidFill>
          <a:ln w="12700">
            <a:solidFill>
              <a:srgbClr val="D8D8D8"/>
            </a:solidFill>
            <a:prstDash val="solid"/>
          </a:ln>
        </p:spPr>
      </p:sp>
      <p:pic>
        <p:nvPicPr>
          <p:cNvPr id="2" name="Image 0" descr="preencoded.png">
            <a:extLst>
              <a:ext uri="{FF2B5EF4-FFF2-40B4-BE49-F238E27FC236}">
                <a16:creationId xmlns:a16="http://schemas.microsoft.com/office/drawing/2014/main" id="{6232770E-B385-B091-672E-61983C7AAD33}"/>
              </a:ext>
            </a:extLst>
          </p:cNvPr>
          <p:cNvPicPr>
            <a:picLocks noChangeAspect="1"/>
          </p:cNvPicPr>
          <p:nvPr/>
        </p:nvPicPr>
        <p:blipFill>
          <a:blip r:embed="rId3"/>
          <a:stretch>
            <a:fillRect/>
          </a:stretch>
        </p:blipFill>
        <p:spPr>
          <a:xfrm>
            <a:off x="7818120" y="91440"/>
            <a:ext cx="1143000" cy="475488"/>
          </a:xfrm>
          <a:prstGeom prst="rect">
            <a:avLst/>
          </a:prstGeom>
        </p:spPr>
      </p:pic>
      <p:sp>
        <p:nvSpPr>
          <p:cNvPr id="3" name="Text 0">
            <a:extLst>
              <a:ext uri="{FF2B5EF4-FFF2-40B4-BE49-F238E27FC236}">
                <a16:creationId xmlns:a16="http://schemas.microsoft.com/office/drawing/2014/main" id="{CED16F96-9A64-0C97-8F86-4E7A01B7BF91}"/>
              </a:ext>
            </a:extLst>
          </p:cNvPr>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Literature Review: Targeted Diabetes Diagnostics</a:t>
            </a:r>
            <a:endParaRPr lang="en-US" sz="2600" dirty="0"/>
          </a:p>
        </p:txBody>
      </p:sp>
      <p:sp>
        <p:nvSpPr>
          <p:cNvPr id="4" name="Shape 1">
            <a:extLst>
              <a:ext uri="{FF2B5EF4-FFF2-40B4-BE49-F238E27FC236}">
                <a16:creationId xmlns:a16="http://schemas.microsoft.com/office/drawing/2014/main" id="{4B9A02CB-A6A9-82DE-1BE6-6BEE98B4ECB4}"/>
              </a:ext>
            </a:extLst>
          </p:cNvPr>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a:extLst>
              <a:ext uri="{FF2B5EF4-FFF2-40B4-BE49-F238E27FC236}">
                <a16:creationId xmlns:a16="http://schemas.microsoft.com/office/drawing/2014/main" id="{F24B588A-03DA-1956-3EFE-E4678C5B403C}"/>
              </a:ext>
            </a:extLst>
          </p:cNvPr>
          <p:cNvSpPr/>
          <p:nvPr/>
        </p:nvSpPr>
        <p:spPr>
          <a:xfrm>
            <a:off x="0" y="4850892"/>
            <a:ext cx="9144000" cy="292608"/>
          </a:xfrm>
          <a:prstGeom prst="rect">
            <a:avLst/>
          </a:prstGeom>
          <a:solidFill>
            <a:srgbClr val="E87722"/>
          </a:solidFill>
          <a:ln w="12700">
            <a:solidFill>
              <a:srgbClr val="E87722"/>
            </a:solidFill>
            <a:prstDash val="solid"/>
          </a:ln>
        </p:spPr>
      </p:sp>
      <p:sp>
        <p:nvSpPr>
          <p:cNvPr id="6" name="Text 3">
            <a:extLst>
              <a:ext uri="{FF2B5EF4-FFF2-40B4-BE49-F238E27FC236}">
                <a16:creationId xmlns:a16="http://schemas.microsoft.com/office/drawing/2014/main" id="{35443947-AF7D-DFAA-23D1-9C5F609871FD}"/>
              </a:ext>
            </a:extLst>
          </p:cNvPr>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11</a:t>
            </a:r>
            <a:endParaRPr lang="en-US" sz="1400" dirty="0"/>
          </a:p>
        </p:txBody>
      </p:sp>
      <p:sp>
        <p:nvSpPr>
          <p:cNvPr id="7" name="Shape 4">
            <a:extLst>
              <a:ext uri="{FF2B5EF4-FFF2-40B4-BE49-F238E27FC236}">
                <a16:creationId xmlns:a16="http://schemas.microsoft.com/office/drawing/2014/main" id="{2E60018B-B12B-9B25-2C98-BFBE14F4DF5F}"/>
              </a:ext>
            </a:extLst>
          </p:cNvPr>
          <p:cNvSpPr/>
          <p:nvPr/>
        </p:nvSpPr>
        <p:spPr>
          <a:xfrm>
            <a:off x="365760" y="1325880"/>
            <a:ext cx="4114800" cy="347472"/>
          </a:xfrm>
          <a:prstGeom prst="rect">
            <a:avLst/>
          </a:prstGeom>
          <a:solidFill>
            <a:srgbClr val="1F3864"/>
          </a:solidFill>
          <a:ln w="12700">
            <a:solidFill>
              <a:srgbClr val="1F3864"/>
            </a:solidFill>
            <a:prstDash val="solid"/>
          </a:ln>
        </p:spPr>
      </p:sp>
      <p:sp>
        <p:nvSpPr>
          <p:cNvPr id="8" name="Text 5">
            <a:extLst>
              <a:ext uri="{FF2B5EF4-FFF2-40B4-BE49-F238E27FC236}">
                <a16:creationId xmlns:a16="http://schemas.microsoft.com/office/drawing/2014/main" id="{EAD545B6-CCDF-682E-C30E-ECCD65E53739}"/>
              </a:ext>
            </a:extLst>
          </p:cNvPr>
          <p:cNvSpPr/>
          <p:nvPr/>
        </p:nvSpPr>
        <p:spPr>
          <a:xfrm>
            <a:off x="36576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Ioannis </a:t>
            </a:r>
            <a:r>
              <a:rPr lang="en-US" sz="1400" b="1" dirty="0" err="1">
                <a:solidFill>
                  <a:srgbClr val="FFFFFF"/>
                </a:solidFill>
                <a:latin typeface="Times New Roman" pitchFamily="34" charset="0"/>
                <a:ea typeface="Times New Roman" pitchFamily="34" charset="-122"/>
                <a:cs typeface="Times New Roman" pitchFamily="34" charset="-120"/>
              </a:rPr>
              <a:t>Kavakiotis</a:t>
            </a:r>
            <a:r>
              <a:rPr lang="en-US" sz="1400" b="1" dirty="0">
                <a:solidFill>
                  <a:srgbClr val="FFFFFF"/>
                </a:solidFill>
                <a:latin typeface="Times New Roman" pitchFamily="34" charset="0"/>
                <a:ea typeface="Times New Roman" pitchFamily="34" charset="-122"/>
                <a:cs typeface="Times New Roman" pitchFamily="34" charset="-120"/>
              </a:rPr>
              <a:t> (2017) — Elsevier</a:t>
            </a:r>
            <a:endParaRPr lang="en-US" sz="1400" dirty="0"/>
          </a:p>
        </p:txBody>
      </p:sp>
      <p:sp>
        <p:nvSpPr>
          <p:cNvPr id="9" name="Shape 6">
            <a:extLst>
              <a:ext uri="{FF2B5EF4-FFF2-40B4-BE49-F238E27FC236}">
                <a16:creationId xmlns:a16="http://schemas.microsoft.com/office/drawing/2014/main" id="{5E62CB68-D2A2-4416-634A-177E2F679D65}"/>
              </a:ext>
            </a:extLst>
          </p:cNvPr>
          <p:cNvSpPr/>
          <p:nvPr/>
        </p:nvSpPr>
        <p:spPr>
          <a:xfrm>
            <a:off x="365760" y="1673352"/>
            <a:ext cx="4114800" cy="862965"/>
          </a:xfrm>
          <a:prstGeom prst="rect">
            <a:avLst/>
          </a:prstGeom>
          <a:solidFill>
            <a:srgbClr val="F5F8FF"/>
          </a:solidFill>
          <a:ln w="12700">
            <a:solidFill>
              <a:srgbClr val="D8D8D8"/>
            </a:solidFill>
            <a:prstDash val="solid"/>
          </a:ln>
        </p:spPr>
      </p:sp>
      <p:sp>
        <p:nvSpPr>
          <p:cNvPr id="10" name="Shape 7">
            <a:extLst>
              <a:ext uri="{FF2B5EF4-FFF2-40B4-BE49-F238E27FC236}">
                <a16:creationId xmlns:a16="http://schemas.microsoft.com/office/drawing/2014/main" id="{7388F219-B474-32FE-BA4F-33BC9598F406}"/>
              </a:ext>
            </a:extLst>
          </p:cNvPr>
          <p:cNvSpPr/>
          <p:nvPr/>
        </p:nvSpPr>
        <p:spPr>
          <a:xfrm>
            <a:off x="365760" y="1673352"/>
            <a:ext cx="1417320" cy="862965"/>
          </a:xfrm>
          <a:prstGeom prst="rect">
            <a:avLst/>
          </a:prstGeom>
          <a:solidFill>
            <a:srgbClr val="E8EDF5"/>
          </a:solidFill>
          <a:ln w="12700">
            <a:solidFill>
              <a:srgbClr val="D0D0D0"/>
            </a:solidFill>
            <a:prstDash val="solid"/>
          </a:ln>
        </p:spPr>
      </p:sp>
      <p:sp>
        <p:nvSpPr>
          <p:cNvPr id="11" name="Text 8">
            <a:extLst>
              <a:ext uri="{FF2B5EF4-FFF2-40B4-BE49-F238E27FC236}">
                <a16:creationId xmlns:a16="http://schemas.microsoft.com/office/drawing/2014/main" id="{718A959D-9C4F-54FE-E74B-6BB0B161FE69}"/>
              </a:ext>
            </a:extLst>
          </p:cNvPr>
          <p:cNvSpPr/>
          <p:nvPr/>
        </p:nvSpPr>
        <p:spPr>
          <a:xfrm>
            <a:off x="41148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12" name="Text 9">
            <a:extLst>
              <a:ext uri="{FF2B5EF4-FFF2-40B4-BE49-F238E27FC236}">
                <a16:creationId xmlns:a16="http://schemas.microsoft.com/office/drawing/2014/main" id="{7B320450-B1CA-1CDD-A85A-374F361FEFC0}"/>
              </a:ext>
            </a:extLst>
          </p:cNvPr>
          <p:cNvSpPr/>
          <p:nvPr/>
        </p:nvSpPr>
        <p:spPr>
          <a:xfrm>
            <a:off x="1828800" y="167335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To conduct a comprehensive systematic review of machine learning algorithms applied specifically to diabetes diagnosis, prediction, and complication monitoring.</a:t>
            </a:r>
            <a:endParaRPr lang="en-US" sz="1200" dirty="0"/>
          </a:p>
        </p:txBody>
      </p:sp>
      <p:sp>
        <p:nvSpPr>
          <p:cNvPr id="13" name="Shape 10">
            <a:extLst>
              <a:ext uri="{FF2B5EF4-FFF2-40B4-BE49-F238E27FC236}">
                <a16:creationId xmlns:a16="http://schemas.microsoft.com/office/drawing/2014/main" id="{7B157B9A-FB5B-FAE0-845B-BA2D7F425FE9}"/>
              </a:ext>
            </a:extLst>
          </p:cNvPr>
          <p:cNvSpPr/>
          <p:nvPr/>
        </p:nvSpPr>
        <p:spPr>
          <a:xfrm>
            <a:off x="365760" y="2536317"/>
            <a:ext cx="4114800" cy="862965"/>
          </a:xfrm>
          <a:prstGeom prst="rect">
            <a:avLst/>
          </a:prstGeom>
          <a:solidFill>
            <a:srgbClr val="FFFFFF"/>
          </a:solidFill>
          <a:ln w="12700">
            <a:solidFill>
              <a:srgbClr val="D8D8D8"/>
            </a:solidFill>
            <a:prstDash val="solid"/>
          </a:ln>
        </p:spPr>
      </p:sp>
      <p:sp>
        <p:nvSpPr>
          <p:cNvPr id="14" name="Shape 11">
            <a:extLst>
              <a:ext uri="{FF2B5EF4-FFF2-40B4-BE49-F238E27FC236}">
                <a16:creationId xmlns:a16="http://schemas.microsoft.com/office/drawing/2014/main" id="{5796ABFE-5145-61DD-74F0-B8DAE6FEE7D7}"/>
              </a:ext>
            </a:extLst>
          </p:cNvPr>
          <p:cNvSpPr/>
          <p:nvPr/>
        </p:nvSpPr>
        <p:spPr>
          <a:xfrm>
            <a:off x="365760" y="2536317"/>
            <a:ext cx="1417320" cy="862965"/>
          </a:xfrm>
          <a:prstGeom prst="rect">
            <a:avLst/>
          </a:prstGeom>
          <a:solidFill>
            <a:srgbClr val="E8EDF5"/>
          </a:solidFill>
          <a:ln w="12700">
            <a:solidFill>
              <a:srgbClr val="D0D0D0"/>
            </a:solidFill>
            <a:prstDash val="solid"/>
          </a:ln>
        </p:spPr>
      </p:sp>
      <p:sp>
        <p:nvSpPr>
          <p:cNvPr id="15" name="Text 12">
            <a:extLst>
              <a:ext uri="{FF2B5EF4-FFF2-40B4-BE49-F238E27FC236}">
                <a16:creationId xmlns:a16="http://schemas.microsoft.com/office/drawing/2014/main" id="{6F31A26C-F211-8EA5-379E-10C3E4717501}"/>
              </a:ext>
            </a:extLst>
          </p:cNvPr>
          <p:cNvSpPr/>
          <p:nvPr/>
        </p:nvSpPr>
        <p:spPr>
          <a:xfrm>
            <a:off x="41148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Dataset</a:t>
            </a:r>
            <a:endParaRPr lang="en-US" sz="1200" dirty="0"/>
          </a:p>
        </p:txBody>
      </p:sp>
      <p:sp>
        <p:nvSpPr>
          <p:cNvPr id="16" name="Text 13">
            <a:extLst>
              <a:ext uri="{FF2B5EF4-FFF2-40B4-BE49-F238E27FC236}">
                <a16:creationId xmlns:a16="http://schemas.microsoft.com/office/drawing/2014/main" id="{F865C92E-A6CA-011D-9324-C442A7C0160D}"/>
              </a:ext>
            </a:extLst>
          </p:cNvPr>
          <p:cNvSpPr/>
          <p:nvPr/>
        </p:nvSpPr>
        <p:spPr>
          <a:xfrm>
            <a:off x="1828800" y="2536317"/>
            <a:ext cx="2651760" cy="862965"/>
          </a:xfrm>
          <a:prstGeom prst="rect">
            <a:avLst/>
          </a:prstGeom>
          <a:noFill/>
          <a:ln/>
        </p:spPr>
        <p:txBody>
          <a:bodyPr wrap="square" lIns="0" tIns="0" rIns="0" bIns="0" rtlCol="0" anchor="ctr"/>
          <a:lstStyle/>
          <a:p>
            <a:pPr marL="0" indent="0">
              <a:buNone/>
            </a:pPr>
            <a:r>
              <a:rPr lang="pt-BR" sz="1200" dirty="0">
                <a:solidFill>
                  <a:srgbClr val="3D3D3D"/>
                </a:solidFill>
                <a:latin typeface="Times New Roman" pitchFamily="34" charset="0"/>
                <a:ea typeface="Times New Roman" pitchFamily="34" charset="-122"/>
                <a:cs typeface="Times New Roman" pitchFamily="34" charset="-120"/>
              </a:rPr>
              <a:t>Pima Indians Diabetes Dataset (PIDD)</a:t>
            </a:r>
            <a:endParaRPr lang="en-US" sz="1200" dirty="0"/>
          </a:p>
        </p:txBody>
      </p:sp>
      <p:sp>
        <p:nvSpPr>
          <p:cNvPr id="17" name="Shape 14">
            <a:extLst>
              <a:ext uri="{FF2B5EF4-FFF2-40B4-BE49-F238E27FC236}">
                <a16:creationId xmlns:a16="http://schemas.microsoft.com/office/drawing/2014/main" id="{543F1823-2F56-273F-A928-E0B9AF586607}"/>
              </a:ext>
            </a:extLst>
          </p:cNvPr>
          <p:cNvSpPr/>
          <p:nvPr/>
        </p:nvSpPr>
        <p:spPr>
          <a:xfrm>
            <a:off x="365760" y="3399282"/>
            <a:ext cx="4114800" cy="862965"/>
          </a:xfrm>
          <a:prstGeom prst="rect">
            <a:avLst/>
          </a:prstGeom>
          <a:solidFill>
            <a:srgbClr val="F5F8FF"/>
          </a:solidFill>
          <a:ln w="12700">
            <a:solidFill>
              <a:srgbClr val="D8D8D8"/>
            </a:solidFill>
            <a:prstDash val="solid"/>
          </a:ln>
        </p:spPr>
      </p:sp>
      <p:sp>
        <p:nvSpPr>
          <p:cNvPr id="18" name="Shape 15">
            <a:extLst>
              <a:ext uri="{FF2B5EF4-FFF2-40B4-BE49-F238E27FC236}">
                <a16:creationId xmlns:a16="http://schemas.microsoft.com/office/drawing/2014/main" id="{E81AAE81-4462-6323-4A5E-0C2D69179D15}"/>
              </a:ext>
            </a:extLst>
          </p:cNvPr>
          <p:cNvSpPr/>
          <p:nvPr/>
        </p:nvSpPr>
        <p:spPr>
          <a:xfrm>
            <a:off x="365760" y="3399282"/>
            <a:ext cx="1417320" cy="862965"/>
          </a:xfrm>
          <a:prstGeom prst="rect">
            <a:avLst/>
          </a:prstGeom>
          <a:solidFill>
            <a:srgbClr val="E8EDF5"/>
          </a:solidFill>
          <a:ln w="12700">
            <a:solidFill>
              <a:srgbClr val="D0D0D0"/>
            </a:solidFill>
            <a:prstDash val="solid"/>
          </a:ln>
        </p:spPr>
      </p:sp>
      <p:sp>
        <p:nvSpPr>
          <p:cNvPr id="19" name="Text 16">
            <a:extLst>
              <a:ext uri="{FF2B5EF4-FFF2-40B4-BE49-F238E27FC236}">
                <a16:creationId xmlns:a16="http://schemas.microsoft.com/office/drawing/2014/main" id="{2C1282D8-17DC-2671-8D70-61D3CE385FD4}"/>
              </a:ext>
            </a:extLst>
          </p:cNvPr>
          <p:cNvSpPr/>
          <p:nvPr/>
        </p:nvSpPr>
        <p:spPr>
          <a:xfrm>
            <a:off x="41148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Performance</a:t>
            </a:r>
            <a:endParaRPr lang="en-US" sz="1200" dirty="0"/>
          </a:p>
        </p:txBody>
      </p:sp>
      <p:sp>
        <p:nvSpPr>
          <p:cNvPr id="20" name="Text 17">
            <a:extLst>
              <a:ext uri="{FF2B5EF4-FFF2-40B4-BE49-F238E27FC236}">
                <a16:creationId xmlns:a16="http://schemas.microsoft.com/office/drawing/2014/main" id="{011191BC-A9F0-FF85-0AAD-3EF09379B6E8}"/>
              </a:ext>
            </a:extLst>
          </p:cNvPr>
          <p:cNvSpPr/>
          <p:nvPr/>
        </p:nvSpPr>
        <p:spPr>
          <a:xfrm>
            <a:off x="182880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Random Forest [77.4%]</a:t>
            </a:r>
            <a:endParaRPr lang="en-US" sz="1200" dirty="0"/>
          </a:p>
        </p:txBody>
      </p:sp>
      <p:sp>
        <p:nvSpPr>
          <p:cNvPr id="21" name="Shape 18">
            <a:extLst>
              <a:ext uri="{FF2B5EF4-FFF2-40B4-BE49-F238E27FC236}">
                <a16:creationId xmlns:a16="http://schemas.microsoft.com/office/drawing/2014/main" id="{1C8CDFC8-73D5-387B-1E55-377F270242BF}"/>
              </a:ext>
            </a:extLst>
          </p:cNvPr>
          <p:cNvSpPr/>
          <p:nvPr/>
        </p:nvSpPr>
        <p:spPr>
          <a:xfrm>
            <a:off x="4663440" y="1325880"/>
            <a:ext cx="4114800" cy="347472"/>
          </a:xfrm>
          <a:prstGeom prst="rect">
            <a:avLst/>
          </a:prstGeom>
          <a:solidFill>
            <a:srgbClr val="1F3864"/>
          </a:solidFill>
          <a:ln w="12700">
            <a:solidFill>
              <a:srgbClr val="1F3864"/>
            </a:solidFill>
            <a:prstDash val="solid"/>
          </a:ln>
        </p:spPr>
      </p:sp>
      <p:sp>
        <p:nvSpPr>
          <p:cNvPr id="22" name="Text 19">
            <a:extLst>
              <a:ext uri="{FF2B5EF4-FFF2-40B4-BE49-F238E27FC236}">
                <a16:creationId xmlns:a16="http://schemas.microsoft.com/office/drawing/2014/main" id="{CFC4954D-9328-47E8-FA78-13CE709D4A27}"/>
              </a:ext>
            </a:extLst>
          </p:cNvPr>
          <p:cNvSpPr/>
          <p:nvPr/>
        </p:nvSpPr>
        <p:spPr>
          <a:xfrm>
            <a:off x="466344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Md. </a:t>
            </a:r>
            <a:r>
              <a:rPr lang="en-US" sz="1400" b="1" dirty="0" err="1">
                <a:solidFill>
                  <a:srgbClr val="FFFFFF"/>
                </a:solidFill>
                <a:latin typeface="Times New Roman" pitchFamily="34" charset="0"/>
                <a:ea typeface="Times New Roman" pitchFamily="34" charset="-122"/>
                <a:cs typeface="Times New Roman" pitchFamily="34" charset="-120"/>
              </a:rPr>
              <a:t>Maniruzzaman</a:t>
            </a:r>
            <a:r>
              <a:rPr lang="en-US" sz="1400" b="1" dirty="0">
                <a:solidFill>
                  <a:srgbClr val="FFFFFF"/>
                </a:solidFill>
                <a:latin typeface="Times New Roman" pitchFamily="34" charset="0"/>
                <a:ea typeface="Times New Roman" pitchFamily="34" charset="-122"/>
                <a:cs typeface="Times New Roman" pitchFamily="34" charset="-120"/>
              </a:rPr>
              <a:t> (2018) - Medical Systems (Springer)</a:t>
            </a:r>
            <a:endParaRPr lang="en-US" sz="1400" dirty="0"/>
          </a:p>
        </p:txBody>
      </p:sp>
      <p:sp>
        <p:nvSpPr>
          <p:cNvPr id="24" name="Shape 21">
            <a:extLst>
              <a:ext uri="{FF2B5EF4-FFF2-40B4-BE49-F238E27FC236}">
                <a16:creationId xmlns:a16="http://schemas.microsoft.com/office/drawing/2014/main" id="{ACE55E36-428C-8CCF-933E-93CBBEE35E86}"/>
              </a:ext>
            </a:extLst>
          </p:cNvPr>
          <p:cNvSpPr/>
          <p:nvPr/>
        </p:nvSpPr>
        <p:spPr>
          <a:xfrm>
            <a:off x="4663440" y="1673352"/>
            <a:ext cx="1417320" cy="862965"/>
          </a:xfrm>
          <a:prstGeom prst="rect">
            <a:avLst/>
          </a:prstGeom>
          <a:solidFill>
            <a:srgbClr val="E8EDF5"/>
          </a:solidFill>
          <a:ln w="12700">
            <a:solidFill>
              <a:srgbClr val="D0D0D0"/>
            </a:solidFill>
            <a:prstDash val="solid"/>
          </a:ln>
        </p:spPr>
      </p:sp>
      <p:sp>
        <p:nvSpPr>
          <p:cNvPr id="25" name="Text 22">
            <a:extLst>
              <a:ext uri="{FF2B5EF4-FFF2-40B4-BE49-F238E27FC236}">
                <a16:creationId xmlns:a16="http://schemas.microsoft.com/office/drawing/2014/main" id="{665D156C-4A21-4903-11E6-B6AD363B6E43}"/>
              </a:ext>
            </a:extLst>
          </p:cNvPr>
          <p:cNvSpPr/>
          <p:nvPr/>
        </p:nvSpPr>
        <p:spPr>
          <a:xfrm>
            <a:off x="470916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26" name="Text 23">
            <a:extLst>
              <a:ext uri="{FF2B5EF4-FFF2-40B4-BE49-F238E27FC236}">
                <a16:creationId xmlns:a16="http://schemas.microsoft.com/office/drawing/2014/main" id="{BC58D87E-27CC-2B30-5270-DE1C65776E0E}"/>
              </a:ext>
            </a:extLst>
          </p:cNvPr>
          <p:cNvSpPr/>
          <p:nvPr/>
        </p:nvSpPr>
        <p:spPr>
          <a:xfrm>
            <a:off x="6126480" y="1673352"/>
            <a:ext cx="2456586"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To evaluate and identify the most accurate risk-prediction machine learning classifiers for Type 2 Diabetes based on clinical demographic factors.</a:t>
            </a:r>
            <a:endParaRPr lang="en-US" sz="1200" dirty="0"/>
          </a:p>
        </p:txBody>
      </p:sp>
      <p:sp>
        <p:nvSpPr>
          <p:cNvPr id="27" name="Shape 24">
            <a:extLst>
              <a:ext uri="{FF2B5EF4-FFF2-40B4-BE49-F238E27FC236}">
                <a16:creationId xmlns:a16="http://schemas.microsoft.com/office/drawing/2014/main" id="{B6CB7881-E70C-1FE3-A16D-D81BA1074644}"/>
              </a:ext>
            </a:extLst>
          </p:cNvPr>
          <p:cNvSpPr/>
          <p:nvPr/>
        </p:nvSpPr>
        <p:spPr>
          <a:xfrm>
            <a:off x="4663440" y="2536317"/>
            <a:ext cx="4114800" cy="862965"/>
          </a:xfrm>
          <a:prstGeom prst="rect">
            <a:avLst/>
          </a:prstGeom>
          <a:solidFill>
            <a:srgbClr val="FFFFFF"/>
          </a:solidFill>
          <a:ln w="12700">
            <a:solidFill>
              <a:srgbClr val="D8D8D8"/>
            </a:solidFill>
            <a:prstDash val="solid"/>
          </a:ln>
        </p:spPr>
      </p:sp>
      <p:sp>
        <p:nvSpPr>
          <p:cNvPr id="28" name="Shape 25">
            <a:extLst>
              <a:ext uri="{FF2B5EF4-FFF2-40B4-BE49-F238E27FC236}">
                <a16:creationId xmlns:a16="http://schemas.microsoft.com/office/drawing/2014/main" id="{C8DAD4B1-E848-5CF5-3456-3574FCBC9DAD}"/>
              </a:ext>
            </a:extLst>
          </p:cNvPr>
          <p:cNvSpPr/>
          <p:nvPr/>
        </p:nvSpPr>
        <p:spPr>
          <a:xfrm>
            <a:off x="4663440" y="2536317"/>
            <a:ext cx="1417320" cy="862965"/>
          </a:xfrm>
          <a:prstGeom prst="rect">
            <a:avLst/>
          </a:prstGeom>
          <a:solidFill>
            <a:srgbClr val="E8EDF5"/>
          </a:solidFill>
          <a:ln w="12700">
            <a:solidFill>
              <a:srgbClr val="D0D0D0"/>
            </a:solidFill>
            <a:prstDash val="solid"/>
          </a:ln>
        </p:spPr>
      </p:sp>
      <p:sp>
        <p:nvSpPr>
          <p:cNvPr id="29" name="Text 26">
            <a:extLst>
              <a:ext uri="{FF2B5EF4-FFF2-40B4-BE49-F238E27FC236}">
                <a16:creationId xmlns:a16="http://schemas.microsoft.com/office/drawing/2014/main" id="{A434E923-79E4-511A-D357-C6ABAFEF49B9}"/>
              </a:ext>
            </a:extLst>
          </p:cNvPr>
          <p:cNvSpPr/>
          <p:nvPr/>
        </p:nvSpPr>
        <p:spPr>
          <a:xfrm>
            <a:off x="470916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Dataset</a:t>
            </a:r>
            <a:endParaRPr lang="en-US" sz="1200" dirty="0"/>
          </a:p>
        </p:txBody>
      </p:sp>
      <p:sp>
        <p:nvSpPr>
          <p:cNvPr id="30" name="Text 27">
            <a:extLst>
              <a:ext uri="{FF2B5EF4-FFF2-40B4-BE49-F238E27FC236}">
                <a16:creationId xmlns:a16="http://schemas.microsoft.com/office/drawing/2014/main" id="{56535633-F482-7467-4809-EE7A0A23A260}"/>
              </a:ext>
            </a:extLst>
          </p:cNvPr>
          <p:cNvSpPr/>
          <p:nvPr/>
        </p:nvSpPr>
        <p:spPr>
          <a:xfrm>
            <a:off x="6126480" y="2536317"/>
            <a:ext cx="2651760" cy="862965"/>
          </a:xfrm>
          <a:prstGeom prst="rect">
            <a:avLst/>
          </a:prstGeom>
          <a:noFill/>
          <a:ln/>
        </p:spPr>
        <p:txBody>
          <a:bodyPr wrap="square" lIns="0" tIns="0" rIns="0" bIns="0" rtlCol="0" anchor="ctr"/>
          <a:lstStyle/>
          <a:p>
            <a:pPr marL="0" indent="0">
              <a:buNone/>
            </a:pPr>
            <a:r>
              <a:rPr lang="pt-BR" sz="1200" dirty="0">
                <a:solidFill>
                  <a:srgbClr val="3D3D3D"/>
                </a:solidFill>
                <a:latin typeface="Times New Roman" pitchFamily="34" charset="0"/>
                <a:ea typeface="Times New Roman" pitchFamily="34" charset="-122"/>
                <a:cs typeface="Times New Roman" pitchFamily="34" charset="-120"/>
              </a:rPr>
              <a:t>Pima Indians Diabetes Dataset (PIDD)</a:t>
            </a:r>
            <a:endParaRPr lang="en-US" sz="1200" dirty="0"/>
          </a:p>
        </p:txBody>
      </p:sp>
      <p:sp>
        <p:nvSpPr>
          <p:cNvPr id="31" name="Shape 28">
            <a:extLst>
              <a:ext uri="{FF2B5EF4-FFF2-40B4-BE49-F238E27FC236}">
                <a16:creationId xmlns:a16="http://schemas.microsoft.com/office/drawing/2014/main" id="{520C09E2-8C6B-6FCC-2FC0-050B0618B0B6}"/>
              </a:ext>
            </a:extLst>
          </p:cNvPr>
          <p:cNvSpPr/>
          <p:nvPr/>
        </p:nvSpPr>
        <p:spPr>
          <a:xfrm>
            <a:off x="4663440" y="3399282"/>
            <a:ext cx="4114800" cy="862965"/>
          </a:xfrm>
          <a:prstGeom prst="rect">
            <a:avLst/>
          </a:prstGeom>
          <a:solidFill>
            <a:srgbClr val="F5F8FF"/>
          </a:solidFill>
          <a:ln w="12700">
            <a:solidFill>
              <a:srgbClr val="D8D8D8"/>
            </a:solidFill>
            <a:prstDash val="solid"/>
          </a:ln>
        </p:spPr>
      </p:sp>
      <p:sp>
        <p:nvSpPr>
          <p:cNvPr id="32" name="Shape 29">
            <a:extLst>
              <a:ext uri="{FF2B5EF4-FFF2-40B4-BE49-F238E27FC236}">
                <a16:creationId xmlns:a16="http://schemas.microsoft.com/office/drawing/2014/main" id="{74034C6F-143C-D344-0251-D982497E951E}"/>
              </a:ext>
            </a:extLst>
          </p:cNvPr>
          <p:cNvSpPr/>
          <p:nvPr/>
        </p:nvSpPr>
        <p:spPr>
          <a:xfrm>
            <a:off x="4663440" y="3399282"/>
            <a:ext cx="1417320" cy="862965"/>
          </a:xfrm>
          <a:prstGeom prst="rect">
            <a:avLst/>
          </a:prstGeom>
          <a:solidFill>
            <a:srgbClr val="E8EDF5"/>
          </a:solidFill>
          <a:ln w="12700">
            <a:solidFill>
              <a:srgbClr val="D0D0D0"/>
            </a:solidFill>
            <a:prstDash val="solid"/>
          </a:ln>
        </p:spPr>
      </p:sp>
      <p:sp>
        <p:nvSpPr>
          <p:cNvPr id="33" name="Text 30">
            <a:extLst>
              <a:ext uri="{FF2B5EF4-FFF2-40B4-BE49-F238E27FC236}">
                <a16:creationId xmlns:a16="http://schemas.microsoft.com/office/drawing/2014/main" id="{D4BECA28-D46E-630C-86FD-49B0EBCB69C1}"/>
              </a:ext>
            </a:extLst>
          </p:cNvPr>
          <p:cNvSpPr/>
          <p:nvPr/>
        </p:nvSpPr>
        <p:spPr>
          <a:xfrm>
            <a:off x="470916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Performance</a:t>
            </a:r>
            <a:endParaRPr lang="en-US" sz="1200" dirty="0"/>
          </a:p>
        </p:txBody>
      </p:sp>
      <p:sp>
        <p:nvSpPr>
          <p:cNvPr id="34" name="Text 31">
            <a:extLst>
              <a:ext uri="{FF2B5EF4-FFF2-40B4-BE49-F238E27FC236}">
                <a16:creationId xmlns:a16="http://schemas.microsoft.com/office/drawing/2014/main" id="{D8BFB8AF-D873-AD5F-B3E7-636597F99522}"/>
              </a:ext>
            </a:extLst>
          </p:cNvPr>
          <p:cNvSpPr/>
          <p:nvPr/>
        </p:nvSpPr>
        <p:spPr>
          <a:xfrm>
            <a:off x="612648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Logistic Regression [~78.0%]</a:t>
            </a:r>
            <a:endParaRPr lang="en-US" sz="1200" dirty="0"/>
          </a:p>
        </p:txBody>
      </p:sp>
    </p:spTree>
    <p:extLst>
      <p:ext uri="{BB962C8B-B14F-4D97-AF65-F5344CB8AC3E}">
        <p14:creationId xmlns:p14="http://schemas.microsoft.com/office/powerpoint/2010/main" val="2437929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Literature Review: Foundational ML Methodologies</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12</a:t>
            </a:r>
            <a:endParaRPr lang="en-US" sz="1400" dirty="0"/>
          </a:p>
        </p:txBody>
      </p:sp>
      <p:sp>
        <p:nvSpPr>
          <p:cNvPr id="7" name="Shape 4"/>
          <p:cNvSpPr/>
          <p:nvPr/>
        </p:nvSpPr>
        <p:spPr>
          <a:xfrm>
            <a:off x="365760" y="1325880"/>
            <a:ext cx="4114800" cy="347472"/>
          </a:xfrm>
          <a:prstGeom prst="rect">
            <a:avLst/>
          </a:prstGeom>
          <a:solidFill>
            <a:srgbClr val="1F3864"/>
          </a:solidFill>
          <a:ln w="12700">
            <a:solidFill>
              <a:srgbClr val="1F3864"/>
            </a:solidFill>
            <a:prstDash val="solid"/>
          </a:ln>
        </p:spPr>
      </p:sp>
      <p:sp>
        <p:nvSpPr>
          <p:cNvPr id="8" name="Text 5"/>
          <p:cNvSpPr/>
          <p:nvPr/>
        </p:nvSpPr>
        <p:spPr>
          <a:xfrm>
            <a:off x="36576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Scott M. Lundberg (2017) — NeurIPS</a:t>
            </a:r>
            <a:endParaRPr lang="en-US" sz="1400" dirty="0"/>
          </a:p>
        </p:txBody>
      </p:sp>
      <p:sp>
        <p:nvSpPr>
          <p:cNvPr id="9" name="Shape 6"/>
          <p:cNvSpPr/>
          <p:nvPr/>
        </p:nvSpPr>
        <p:spPr>
          <a:xfrm>
            <a:off x="365760" y="1673352"/>
            <a:ext cx="4114800" cy="862965"/>
          </a:xfrm>
          <a:prstGeom prst="rect">
            <a:avLst/>
          </a:prstGeom>
          <a:solidFill>
            <a:srgbClr val="F5F8FF"/>
          </a:solidFill>
          <a:ln w="12700">
            <a:solidFill>
              <a:srgbClr val="D8D8D8"/>
            </a:solidFill>
            <a:prstDash val="solid"/>
          </a:ln>
        </p:spPr>
      </p:sp>
      <p:sp>
        <p:nvSpPr>
          <p:cNvPr id="10" name="Shape 7"/>
          <p:cNvSpPr/>
          <p:nvPr/>
        </p:nvSpPr>
        <p:spPr>
          <a:xfrm>
            <a:off x="365760" y="1673352"/>
            <a:ext cx="1417320" cy="862965"/>
          </a:xfrm>
          <a:prstGeom prst="rect">
            <a:avLst/>
          </a:prstGeom>
          <a:solidFill>
            <a:srgbClr val="E8EDF5"/>
          </a:solidFill>
          <a:ln w="12700">
            <a:solidFill>
              <a:srgbClr val="D0D0D0"/>
            </a:solidFill>
            <a:prstDash val="solid"/>
          </a:ln>
        </p:spPr>
      </p:sp>
      <p:sp>
        <p:nvSpPr>
          <p:cNvPr id="11" name="Text 8"/>
          <p:cNvSpPr/>
          <p:nvPr/>
        </p:nvSpPr>
        <p:spPr>
          <a:xfrm>
            <a:off x="41148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12" name="Text 9"/>
          <p:cNvSpPr/>
          <p:nvPr/>
        </p:nvSpPr>
        <p:spPr>
          <a:xfrm>
            <a:off x="1828800" y="167335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A unified approach to model interpretation</a:t>
            </a:r>
            <a:endParaRPr lang="en-US" sz="1200" dirty="0"/>
          </a:p>
        </p:txBody>
      </p:sp>
      <p:sp>
        <p:nvSpPr>
          <p:cNvPr id="13" name="Shape 10"/>
          <p:cNvSpPr/>
          <p:nvPr/>
        </p:nvSpPr>
        <p:spPr>
          <a:xfrm>
            <a:off x="365760" y="2536317"/>
            <a:ext cx="4114800" cy="862965"/>
          </a:xfrm>
          <a:prstGeom prst="rect">
            <a:avLst/>
          </a:prstGeom>
          <a:solidFill>
            <a:srgbClr val="FFFFFF"/>
          </a:solidFill>
          <a:ln w="12700">
            <a:solidFill>
              <a:srgbClr val="D8D8D8"/>
            </a:solidFill>
            <a:prstDash val="solid"/>
          </a:ln>
        </p:spPr>
      </p:sp>
      <p:sp>
        <p:nvSpPr>
          <p:cNvPr id="14" name="Shape 11"/>
          <p:cNvSpPr/>
          <p:nvPr/>
        </p:nvSpPr>
        <p:spPr>
          <a:xfrm>
            <a:off x="365760" y="2536317"/>
            <a:ext cx="1417320" cy="862965"/>
          </a:xfrm>
          <a:prstGeom prst="rect">
            <a:avLst/>
          </a:prstGeom>
          <a:solidFill>
            <a:srgbClr val="E8EDF5"/>
          </a:solidFill>
          <a:ln w="12700">
            <a:solidFill>
              <a:srgbClr val="D0D0D0"/>
            </a:solidFill>
            <a:prstDash val="solid"/>
          </a:ln>
        </p:spPr>
      </p:sp>
      <p:sp>
        <p:nvSpPr>
          <p:cNvPr id="15" name="Text 12"/>
          <p:cNvSpPr/>
          <p:nvPr/>
        </p:nvSpPr>
        <p:spPr>
          <a:xfrm>
            <a:off x="41148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Method</a:t>
            </a:r>
            <a:endParaRPr lang="en-US" sz="1200" dirty="0"/>
          </a:p>
        </p:txBody>
      </p:sp>
      <p:sp>
        <p:nvSpPr>
          <p:cNvPr id="16" name="Text 13"/>
          <p:cNvSpPr/>
          <p:nvPr/>
        </p:nvSpPr>
        <p:spPr>
          <a:xfrm>
            <a:off x="1828800" y="2536317"/>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SHAP (SHapley Additive exPlanations)</a:t>
            </a:r>
            <a:endParaRPr lang="en-US" sz="1200" dirty="0"/>
          </a:p>
        </p:txBody>
      </p:sp>
      <p:sp>
        <p:nvSpPr>
          <p:cNvPr id="17" name="Shape 14"/>
          <p:cNvSpPr/>
          <p:nvPr/>
        </p:nvSpPr>
        <p:spPr>
          <a:xfrm>
            <a:off x="365760" y="3399282"/>
            <a:ext cx="4114800" cy="862965"/>
          </a:xfrm>
          <a:prstGeom prst="rect">
            <a:avLst/>
          </a:prstGeom>
          <a:solidFill>
            <a:srgbClr val="F5F8FF"/>
          </a:solidFill>
          <a:ln w="12700">
            <a:solidFill>
              <a:srgbClr val="D8D8D8"/>
            </a:solidFill>
            <a:prstDash val="solid"/>
          </a:ln>
        </p:spPr>
      </p:sp>
      <p:sp>
        <p:nvSpPr>
          <p:cNvPr id="18" name="Shape 15"/>
          <p:cNvSpPr/>
          <p:nvPr/>
        </p:nvSpPr>
        <p:spPr>
          <a:xfrm>
            <a:off x="365760" y="3399282"/>
            <a:ext cx="1417320" cy="862965"/>
          </a:xfrm>
          <a:prstGeom prst="rect">
            <a:avLst/>
          </a:prstGeom>
          <a:solidFill>
            <a:srgbClr val="E8EDF5"/>
          </a:solidFill>
          <a:ln w="12700">
            <a:solidFill>
              <a:srgbClr val="D0D0D0"/>
            </a:solidFill>
            <a:prstDash val="solid"/>
          </a:ln>
        </p:spPr>
      </p:sp>
      <p:sp>
        <p:nvSpPr>
          <p:cNvPr id="19" name="Text 16"/>
          <p:cNvSpPr/>
          <p:nvPr/>
        </p:nvSpPr>
        <p:spPr>
          <a:xfrm>
            <a:off x="41148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Significance</a:t>
            </a:r>
            <a:endParaRPr lang="en-US" sz="1200" dirty="0"/>
          </a:p>
        </p:txBody>
      </p:sp>
      <p:sp>
        <p:nvSpPr>
          <p:cNvPr id="20" name="Text 17"/>
          <p:cNvSpPr/>
          <p:nvPr/>
        </p:nvSpPr>
        <p:spPr>
          <a:xfrm>
            <a:off x="182880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Foundational paper for XAI</a:t>
            </a:r>
            <a:endParaRPr lang="en-US" sz="1200" dirty="0"/>
          </a:p>
        </p:txBody>
      </p:sp>
      <p:sp>
        <p:nvSpPr>
          <p:cNvPr id="21" name="Shape 18"/>
          <p:cNvSpPr/>
          <p:nvPr/>
        </p:nvSpPr>
        <p:spPr>
          <a:xfrm>
            <a:off x="4663440" y="1325880"/>
            <a:ext cx="4114800" cy="347472"/>
          </a:xfrm>
          <a:prstGeom prst="rect">
            <a:avLst/>
          </a:prstGeom>
          <a:solidFill>
            <a:srgbClr val="1F3864"/>
          </a:solidFill>
          <a:ln w="12700">
            <a:solidFill>
              <a:srgbClr val="1F3864"/>
            </a:solidFill>
            <a:prstDash val="solid"/>
          </a:ln>
        </p:spPr>
      </p:sp>
      <p:sp>
        <p:nvSpPr>
          <p:cNvPr id="22" name="Text 19"/>
          <p:cNvSpPr/>
          <p:nvPr/>
        </p:nvSpPr>
        <p:spPr>
          <a:xfrm>
            <a:off x="466344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Nitesh V. Chawla (2002) — Journal of AI Research (JAIR)</a:t>
            </a:r>
            <a:endParaRPr lang="en-US" sz="1400" dirty="0"/>
          </a:p>
        </p:txBody>
      </p:sp>
      <p:sp>
        <p:nvSpPr>
          <p:cNvPr id="23" name="Shape 20"/>
          <p:cNvSpPr/>
          <p:nvPr/>
        </p:nvSpPr>
        <p:spPr>
          <a:xfrm>
            <a:off x="4663440" y="1673352"/>
            <a:ext cx="4114800" cy="862965"/>
          </a:xfrm>
          <a:prstGeom prst="rect">
            <a:avLst/>
          </a:prstGeom>
          <a:solidFill>
            <a:srgbClr val="F5F8FF"/>
          </a:solidFill>
          <a:ln w="12700">
            <a:solidFill>
              <a:srgbClr val="D8D8D8"/>
            </a:solidFill>
            <a:prstDash val="solid"/>
          </a:ln>
        </p:spPr>
      </p:sp>
      <p:sp>
        <p:nvSpPr>
          <p:cNvPr id="24" name="Shape 21"/>
          <p:cNvSpPr/>
          <p:nvPr/>
        </p:nvSpPr>
        <p:spPr>
          <a:xfrm>
            <a:off x="4663440" y="1673352"/>
            <a:ext cx="1417320" cy="862965"/>
          </a:xfrm>
          <a:prstGeom prst="rect">
            <a:avLst/>
          </a:prstGeom>
          <a:solidFill>
            <a:srgbClr val="E8EDF5"/>
          </a:solidFill>
          <a:ln w="12700">
            <a:solidFill>
              <a:srgbClr val="D0D0D0"/>
            </a:solidFill>
            <a:prstDash val="solid"/>
          </a:ln>
        </p:spPr>
      </p:sp>
      <p:sp>
        <p:nvSpPr>
          <p:cNvPr id="25" name="Text 22"/>
          <p:cNvSpPr/>
          <p:nvPr/>
        </p:nvSpPr>
        <p:spPr>
          <a:xfrm>
            <a:off x="4709160" y="167335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Aim</a:t>
            </a:r>
            <a:endParaRPr lang="en-US" sz="1200" dirty="0"/>
          </a:p>
        </p:txBody>
      </p:sp>
      <p:sp>
        <p:nvSpPr>
          <p:cNvPr id="26" name="Text 23"/>
          <p:cNvSpPr/>
          <p:nvPr/>
        </p:nvSpPr>
        <p:spPr>
          <a:xfrm>
            <a:off x="6126480" y="167335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Solving the class imbalance problem</a:t>
            </a:r>
            <a:endParaRPr lang="en-US" sz="1200" dirty="0"/>
          </a:p>
        </p:txBody>
      </p:sp>
      <p:sp>
        <p:nvSpPr>
          <p:cNvPr id="27" name="Shape 24"/>
          <p:cNvSpPr/>
          <p:nvPr/>
        </p:nvSpPr>
        <p:spPr>
          <a:xfrm>
            <a:off x="4663440" y="2536317"/>
            <a:ext cx="4114800" cy="862965"/>
          </a:xfrm>
          <a:prstGeom prst="rect">
            <a:avLst/>
          </a:prstGeom>
          <a:solidFill>
            <a:srgbClr val="FFFFFF"/>
          </a:solidFill>
          <a:ln w="12700">
            <a:solidFill>
              <a:srgbClr val="D8D8D8"/>
            </a:solidFill>
            <a:prstDash val="solid"/>
          </a:ln>
        </p:spPr>
      </p:sp>
      <p:sp>
        <p:nvSpPr>
          <p:cNvPr id="28" name="Shape 25"/>
          <p:cNvSpPr/>
          <p:nvPr/>
        </p:nvSpPr>
        <p:spPr>
          <a:xfrm>
            <a:off x="4663440" y="2536317"/>
            <a:ext cx="1417320" cy="862965"/>
          </a:xfrm>
          <a:prstGeom prst="rect">
            <a:avLst/>
          </a:prstGeom>
          <a:solidFill>
            <a:srgbClr val="E8EDF5"/>
          </a:solidFill>
          <a:ln w="12700">
            <a:solidFill>
              <a:srgbClr val="D0D0D0"/>
            </a:solidFill>
            <a:prstDash val="solid"/>
          </a:ln>
        </p:spPr>
      </p:sp>
      <p:sp>
        <p:nvSpPr>
          <p:cNvPr id="29" name="Text 26"/>
          <p:cNvSpPr/>
          <p:nvPr/>
        </p:nvSpPr>
        <p:spPr>
          <a:xfrm>
            <a:off x="4709160" y="2536317"/>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Method</a:t>
            </a:r>
            <a:endParaRPr lang="en-US" sz="1200" dirty="0"/>
          </a:p>
        </p:txBody>
      </p:sp>
      <p:sp>
        <p:nvSpPr>
          <p:cNvPr id="30" name="Text 27"/>
          <p:cNvSpPr/>
          <p:nvPr/>
        </p:nvSpPr>
        <p:spPr>
          <a:xfrm>
            <a:off x="6126480" y="2536317"/>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SMOTE (Synthetic Minority Over-sampling)</a:t>
            </a:r>
            <a:endParaRPr lang="en-US" sz="1200" dirty="0"/>
          </a:p>
        </p:txBody>
      </p:sp>
      <p:sp>
        <p:nvSpPr>
          <p:cNvPr id="31" name="Shape 28"/>
          <p:cNvSpPr/>
          <p:nvPr/>
        </p:nvSpPr>
        <p:spPr>
          <a:xfrm>
            <a:off x="4663440" y="3399282"/>
            <a:ext cx="4114800" cy="862965"/>
          </a:xfrm>
          <a:prstGeom prst="rect">
            <a:avLst/>
          </a:prstGeom>
          <a:solidFill>
            <a:srgbClr val="F5F8FF"/>
          </a:solidFill>
          <a:ln w="12700">
            <a:solidFill>
              <a:srgbClr val="D8D8D8"/>
            </a:solidFill>
            <a:prstDash val="solid"/>
          </a:ln>
        </p:spPr>
      </p:sp>
      <p:sp>
        <p:nvSpPr>
          <p:cNvPr id="32" name="Shape 29"/>
          <p:cNvSpPr/>
          <p:nvPr/>
        </p:nvSpPr>
        <p:spPr>
          <a:xfrm>
            <a:off x="4663440" y="3399282"/>
            <a:ext cx="1417320" cy="862965"/>
          </a:xfrm>
          <a:prstGeom prst="rect">
            <a:avLst/>
          </a:prstGeom>
          <a:solidFill>
            <a:srgbClr val="E8EDF5"/>
          </a:solidFill>
          <a:ln w="12700">
            <a:solidFill>
              <a:srgbClr val="D0D0D0"/>
            </a:solidFill>
            <a:prstDash val="solid"/>
          </a:ln>
        </p:spPr>
      </p:sp>
      <p:sp>
        <p:nvSpPr>
          <p:cNvPr id="33" name="Text 30"/>
          <p:cNvSpPr/>
          <p:nvPr/>
        </p:nvSpPr>
        <p:spPr>
          <a:xfrm>
            <a:off x="4709160" y="3399282"/>
            <a:ext cx="1344168" cy="862965"/>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Significance</a:t>
            </a:r>
            <a:endParaRPr lang="en-US" sz="1200" dirty="0"/>
          </a:p>
        </p:txBody>
      </p:sp>
      <p:sp>
        <p:nvSpPr>
          <p:cNvPr id="34" name="Text 31"/>
          <p:cNvSpPr/>
          <p:nvPr/>
        </p:nvSpPr>
        <p:spPr>
          <a:xfrm>
            <a:off x="6126480" y="3399282"/>
            <a:ext cx="2651760" cy="862965"/>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Standard for medical data balancing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Datasets</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ea typeface="Times New Roman" pitchFamily="34" charset="-122"/>
                <a:cs typeface="Times New Roman" pitchFamily="34" charset="-120"/>
              </a:rPr>
              <a:t>13</a:t>
            </a:r>
            <a:endParaRPr lang="en-US" sz="1400" dirty="0"/>
          </a:p>
        </p:txBody>
      </p:sp>
      <p:sp>
        <p:nvSpPr>
          <p:cNvPr id="7" name="Text 4"/>
          <p:cNvSpPr/>
          <p:nvPr/>
        </p:nvSpPr>
        <p:spPr>
          <a:xfrm>
            <a:off x="365760" y="1325880"/>
            <a:ext cx="8412480" cy="457200"/>
          </a:xfrm>
          <a:prstGeom prst="rect">
            <a:avLst/>
          </a:prstGeom>
          <a:noFill/>
          <a:ln/>
        </p:spPr>
        <p:txBody>
          <a:bodyPr wrap="square" rtlCol="0" anchor="ctr"/>
          <a:lstStyle/>
          <a:p>
            <a:pPr marL="0" indent="0">
              <a:buNone/>
            </a:pPr>
            <a:r>
              <a:rPr lang="en-US" sz="1500" i="1" dirty="0">
                <a:solidFill>
                  <a:srgbClr val="3D3D3D"/>
                </a:solidFill>
                <a:latin typeface="Times New Roman" pitchFamily="34" charset="0"/>
                <a:ea typeface="Times New Roman" pitchFamily="34" charset="-122"/>
                <a:cs typeface="Times New Roman" pitchFamily="34" charset="-120"/>
              </a:rPr>
              <a:t>We validate our approach on two benchmark datasets representing different levels of diagnostic complexity.</a:t>
            </a:r>
            <a:endParaRPr lang="en-US" sz="1500" dirty="0"/>
          </a:p>
        </p:txBody>
      </p:sp>
      <p:sp>
        <p:nvSpPr>
          <p:cNvPr id="8" name="Shape 5"/>
          <p:cNvSpPr/>
          <p:nvPr/>
        </p:nvSpPr>
        <p:spPr>
          <a:xfrm>
            <a:off x="365760" y="1901952"/>
            <a:ext cx="4114800" cy="2875788"/>
          </a:xfrm>
          <a:prstGeom prst="rect">
            <a:avLst/>
          </a:prstGeom>
          <a:solidFill>
            <a:srgbClr val="F5F8FF"/>
          </a:solidFill>
          <a:ln w="12700">
            <a:solidFill>
              <a:srgbClr val="1F3864"/>
            </a:solidFill>
            <a:prstDash val="solid"/>
          </a:ln>
        </p:spPr>
      </p:sp>
      <p:sp>
        <p:nvSpPr>
          <p:cNvPr id="9" name="Shape 6"/>
          <p:cNvSpPr/>
          <p:nvPr/>
        </p:nvSpPr>
        <p:spPr>
          <a:xfrm>
            <a:off x="365760" y="1901952"/>
            <a:ext cx="4114800" cy="365760"/>
          </a:xfrm>
          <a:prstGeom prst="rect">
            <a:avLst/>
          </a:prstGeom>
          <a:solidFill>
            <a:srgbClr val="1F3864"/>
          </a:solidFill>
          <a:ln w="12700">
            <a:solidFill>
              <a:srgbClr val="1F3864"/>
            </a:solidFill>
            <a:prstDash val="solid"/>
          </a:ln>
        </p:spPr>
      </p:sp>
      <p:sp>
        <p:nvSpPr>
          <p:cNvPr id="10" name="Text 7"/>
          <p:cNvSpPr/>
          <p:nvPr/>
        </p:nvSpPr>
        <p:spPr>
          <a:xfrm>
            <a:off x="365760" y="1901952"/>
            <a:ext cx="411480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Times New Roman" pitchFamily="34" charset="0"/>
                <a:ea typeface="Times New Roman" pitchFamily="34" charset="-122"/>
                <a:cs typeface="Times New Roman" pitchFamily="34" charset="-120"/>
              </a:rPr>
              <a:t>CKD Dataset</a:t>
            </a:r>
            <a:endParaRPr lang="en-US" sz="1700" dirty="0"/>
          </a:p>
        </p:txBody>
      </p:sp>
      <p:sp>
        <p:nvSpPr>
          <p:cNvPr id="11" name="Text 8"/>
          <p:cNvSpPr/>
          <p:nvPr/>
        </p:nvSpPr>
        <p:spPr>
          <a:xfrm>
            <a:off x="365760" y="2313432"/>
            <a:ext cx="2057400" cy="566928"/>
          </a:xfrm>
          <a:prstGeom prst="rect">
            <a:avLst/>
          </a:prstGeom>
          <a:noFill/>
          <a:ln/>
        </p:spPr>
        <p:txBody>
          <a:bodyPr wrap="square" lIns="0" tIns="0" rIns="0" bIns="0" rtlCol="0" anchor="ctr"/>
          <a:lstStyle/>
          <a:p>
            <a:pPr marL="0" indent="0" algn="ctr">
              <a:buNone/>
            </a:pPr>
            <a:r>
              <a:rPr lang="en-US" sz="3600" b="1" dirty="0">
                <a:solidFill>
                  <a:srgbClr val="E87722"/>
                </a:solidFill>
                <a:latin typeface="Times New Roman" pitchFamily="34" charset="0"/>
                <a:ea typeface="Times New Roman" pitchFamily="34" charset="-122"/>
                <a:cs typeface="Times New Roman" pitchFamily="34" charset="-120"/>
              </a:rPr>
              <a:t>400</a:t>
            </a:r>
            <a:endParaRPr lang="en-US" sz="3600" dirty="0"/>
          </a:p>
        </p:txBody>
      </p:sp>
      <p:sp>
        <p:nvSpPr>
          <p:cNvPr id="12" name="Text 9"/>
          <p:cNvSpPr/>
          <p:nvPr/>
        </p:nvSpPr>
        <p:spPr>
          <a:xfrm>
            <a:off x="365760" y="2889504"/>
            <a:ext cx="2057400" cy="274320"/>
          </a:xfrm>
          <a:prstGeom prst="rect">
            <a:avLst/>
          </a:prstGeom>
          <a:noFill/>
          <a:ln/>
        </p:spPr>
        <p:txBody>
          <a:bodyPr wrap="square" lIns="0" tIns="0" rIns="0" bIns="0" rtlCol="0" anchor="ctr"/>
          <a:lstStyle/>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Clinical Cases</a:t>
            </a:r>
            <a:endParaRPr lang="en-US" sz="1300" dirty="0"/>
          </a:p>
        </p:txBody>
      </p:sp>
      <p:sp>
        <p:nvSpPr>
          <p:cNvPr id="13" name="Text 10"/>
          <p:cNvSpPr/>
          <p:nvPr/>
        </p:nvSpPr>
        <p:spPr>
          <a:xfrm>
            <a:off x="2423160" y="2313432"/>
            <a:ext cx="2057400" cy="566928"/>
          </a:xfrm>
          <a:prstGeom prst="rect">
            <a:avLst/>
          </a:prstGeom>
          <a:noFill/>
          <a:ln/>
        </p:spPr>
        <p:txBody>
          <a:bodyPr wrap="square" lIns="0" tIns="0" rIns="0" bIns="0" rtlCol="0" anchor="ctr"/>
          <a:lstStyle/>
          <a:p>
            <a:pPr marL="0" indent="0" algn="ctr">
              <a:buNone/>
            </a:pPr>
            <a:r>
              <a:rPr lang="en-US" sz="3600" b="1" dirty="0">
                <a:solidFill>
                  <a:srgbClr val="E87722"/>
                </a:solidFill>
                <a:latin typeface="Times New Roman" pitchFamily="34" charset="0"/>
                <a:ea typeface="Times New Roman" pitchFamily="34" charset="-122"/>
                <a:cs typeface="Times New Roman" pitchFamily="34" charset="-120"/>
              </a:rPr>
              <a:t>24</a:t>
            </a:r>
            <a:endParaRPr lang="en-US" sz="3600" dirty="0"/>
          </a:p>
        </p:txBody>
      </p:sp>
      <p:sp>
        <p:nvSpPr>
          <p:cNvPr id="14" name="Text 11"/>
          <p:cNvSpPr/>
          <p:nvPr/>
        </p:nvSpPr>
        <p:spPr>
          <a:xfrm>
            <a:off x="2423160" y="2889504"/>
            <a:ext cx="2057400" cy="274320"/>
          </a:xfrm>
          <a:prstGeom prst="rect">
            <a:avLst/>
          </a:prstGeom>
          <a:noFill/>
          <a:ln/>
        </p:spPr>
        <p:txBody>
          <a:bodyPr wrap="square" lIns="0" tIns="0" rIns="0" bIns="0" rtlCol="0" anchor="ctr"/>
          <a:lstStyle/>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Medical Attributes</a:t>
            </a:r>
            <a:endParaRPr lang="en-US" sz="1300" dirty="0"/>
          </a:p>
        </p:txBody>
      </p:sp>
      <p:sp>
        <p:nvSpPr>
          <p:cNvPr id="15" name="Text 12"/>
          <p:cNvSpPr/>
          <p:nvPr/>
        </p:nvSpPr>
        <p:spPr>
          <a:xfrm>
            <a:off x="475488" y="3227832"/>
            <a:ext cx="3895344" cy="1485900"/>
          </a:xfrm>
          <a:prstGeom prst="rect">
            <a:avLst/>
          </a:prstGeom>
          <a:noFill/>
          <a:ln/>
        </p:spPr>
        <p:txBody>
          <a:bodyPr wrap="square" rtlCol="0" anchor="ctr"/>
          <a:lstStyle/>
          <a:p>
            <a:pPr marL="0" indent="0">
              <a:buNone/>
            </a:pPr>
            <a:r>
              <a:rPr lang="en-US" sz="1300" dirty="0">
                <a:solidFill>
                  <a:srgbClr val="3D3D3D"/>
                </a:solidFill>
                <a:latin typeface="Times New Roman" pitchFamily="34" charset="0"/>
                <a:ea typeface="Times New Roman" pitchFamily="34" charset="-122"/>
                <a:cs typeface="Times New Roman" pitchFamily="34" charset="-120"/>
              </a:rPr>
              <a:t>Key features: Hemoglobin, Specific Gravity, and Albumin levels. Benchmark for high-precision detection due to separable features.</a:t>
            </a:r>
          </a:p>
          <a:p>
            <a:pPr marL="0" indent="0">
              <a:buNone/>
            </a:pPr>
            <a:endParaRPr lang="en-US" sz="1300" dirty="0">
              <a:solidFill>
                <a:srgbClr val="3D3D3D"/>
              </a:solidFill>
              <a:latin typeface="Times New Roman" pitchFamily="34" charset="0"/>
              <a:cs typeface="Times New Roman" pitchFamily="34" charset="-120"/>
            </a:endParaRPr>
          </a:p>
          <a:p>
            <a:pPr marL="0" indent="0">
              <a:buNone/>
            </a:pPr>
            <a:r>
              <a:rPr lang="en-US" sz="1300" dirty="0">
                <a:solidFill>
                  <a:srgbClr val="3D3D3D"/>
                </a:solidFill>
                <a:latin typeface="Times New Roman" pitchFamily="34" charset="0"/>
                <a:cs typeface="Times New Roman" pitchFamily="34" charset="-120"/>
              </a:rPr>
              <a:t>Link: https://archive.ics.uci.edu/dataset/336/chronic+kidney+disease</a:t>
            </a:r>
            <a:endParaRPr lang="en-US" sz="1300" dirty="0"/>
          </a:p>
        </p:txBody>
      </p:sp>
      <p:sp>
        <p:nvSpPr>
          <p:cNvPr id="16" name="Shape 13"/>
          <p:cNvSpPr/>
          <p:nvPr/>
        </p:nvSpPr>
        <p:spPr>
          <a:xfrm>
            <a:off x="4663440" y="1901952"/>
            <a:ext cx="4114800" cy="2875788"/>
          </a:xfrm>
          <a:prstGeom prst="rect">
            <a:avLst/>
          </a:prstGeom>
          <a:solidFill>
            <a:srgbClr val="F5F8FF"/>
          </a:solidFill>
          <a:ln w="12700">
            <a:solidFill>
              <a:srgbClr val="1F3864"/>
            </a:solidFill>
            <a:prstDash val="solid"/>
          </a:ln>
        </p:spPr>
      </p:sp>
      <p:sp>
        <p:nvSpPr>
          <p:cNvPr id="17" name="Shape 14"/>
          <p:cNvSpPr/>
          <p:nvPr/>
        </p:nvSpPr>
        <p:spPr>
          <a:xfrm>
            <a:off x="4663440" y="1901952"/>
            <a:ext cx="4114800" cy="365760"/>
          </a:xfrm>
          <a:prstGeom prst="rect">
            <a:avLst/>
          </a:prstGeom>
          <a:solidFill>
            <a:srgbClr val="1F3864"/>
          </a:solidFill>
          <a:ln w="12700">
            <a:solidFill>
              <a:srgbClr val="1F3864"/>
            </a:solidFill>
            <a:prstDash val="solid"/>
          </a:ln>
        </p:spPr>
      </p:sp>
      <p:sp>
        <p:nvSpPr>
          <p:cNvPr id="18" name="Text 15"/>
          <p:cNvSpPr/>
          <p:nvPr/>
        </p:nvSpPr>
        <p:spPr>
          <a:xfrm>
            <a:off x="4663440" y="1901952"/>
            <a:ext cx="411480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Times New Roman" pitchFamily="34" charset="0"/>
                <a:ea typeface="Times New Roman" pitchFamily="34" charset="-122"/>
                <a:cs typeface="Times New Roman" pitchFamily="34" charset="-120"/>
              </a:rPr>
              <a:t>Diabetes Dataset</a:t>
            </a:r>
            <a:endParaRPr lang="en-US" sz="1700" dirty="0"/>
          </a:p>
        </p:txBody>
      </p:sp>
      <p:sp>
        <p:nvSpPr>
          <p:cNvPr id="19" name="Text 16"/>
          <p:cNvSpPr/>
          <p:nvPr/>
        </p:nvSpPr>
        <p:spPr>
          <a:xfrm>
            <a:off x="4663440" y="2313432"/>
            <a:ext cx="2057400" cy="566928"/>
          </a:xfrm>
          <a:prstGeom prst="rect">
            <a:avLst/>
          </a:prstGeom>
          <a:noFill/>
          <a:ln/>
        </p:spPr>
        <p:txBody>
          <a:bodyPr wrap="square" lIns="0" tIns="0" rIns="0" bIns="0" rtlCol="0" anchor="ctr"/>
          <a:lstStyle/>
          <a:p>
            <a:pPr marL="0" indent="0" algn="ctr">
              <a:buNone/>
            </a:pPr>
            <a:r>
              <a:rPr lang="en-US" sz="3600" b="1" dirty="0">
                <a:solidFill>
                  <a:srgbClr val="E87722"/>
                </a:solidFill>
                <a:latin typeface="Times New Roman" pitchFamily="34" charset="0"/>
                <a:ea typeface="Times New Roman" pitchFamily="34" charset="-122"/>
                <a:cs typeface="Times New Roman" pitchFamily="34" charset="-120"/>
              </a:rPr>
              <a:t>768</a:t>
            </a:r>
            <a:endParaRPr lang="en-US" sz="3600" dirty="0"/>
          </a:p>
        </p:txBody>
      </p:sp>
      <p:sp>
        <p:nvSpPr>
          <p:cNvPr id="20" name="Text 17"/>
          <p:cNvSpPr/>
          <p:nvPr/>
        </p:nvSpPr>
        <p:spPr>
          <a:xfrm>
            <a:off x="4663440" y="2889504"/>
            <a:ext cx="2057400" cy="274320"/>
          </a:xfrm>
          <a:prstGeom prst="rect">
            <a:avLst/>
          </a:prstGeom>
          <a:noFill/>
          <a:ln/>
        </p:spPr>
        <p:txBody>
          <a:bodyPr wrap="square" lIns="0" tIns="0" rIns="0" bIns="0" rtlCol="0" anchor="ctr"/>
          <a:lstStyle/>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Patient Samples</a:t>
            </a:r>
            <a:endParaRPr lang="en-US" sz="1300" dirty="0"/>
          </a:p>
        </p:txBody>
      </p:sp>
      <p:sp>
        <p:nvSpPr>
          <p:cNvPr id="21" name="Text 18"/>
          <p:cNvSpPr/>
          <p:nvPr/>
        </p:nvSpPr>
        <p:spPr>
          <a:xfrm>
            <a:off x="6720840" y="2313432"/>
            <a:ext cx="2057400" cy="566928"/>
          </a:xfrm>
          <a:prstGeom prst="rect">
            <a:avLst/>
          </a:prstGeom>
          <a:noFill/>
          <a:ln/>
        </p:spPr>
        <p:txBody>
          <a:bodyPr wrap="square" lIns="0" tIns="0" rIns="0" bIns="0" rtlCol="0" anchor="ctr"/>
          <a:lstStyle/>
          <a:p>
            <a:pPr marL="0" indent="0" algn="ctr">
              <a:buNone/>
            </a:pPr>
            <a:r>
              <a:rPr lang="en-US" sz="3600" b="1" dirty="0">
                <a:solidFill>
                  <a:srgbClr val="E87722"/>
                </a:solidFill>
                <a:latin typeface="Times New Roman" pitchFamily="34" charset="0"/>
                <a:ea typeface="Times New Roman" pitchFamily="34" charset="-122"/>
                <a:cs typeface="Times New Roman" pitchFamily="34" charset="-120"/>
              </a:rPr>
              <a:t>8</a:t>
            </a:r>
            <a:endParaRPr lang="en-US" sz="3600" dirty="0"/>
          </a:p>
        </p:txBody>
      </p:sp>
      <p:sp>
        <p:nvSpPr>
          <p:cNvPr id="22" name="Text 19"/>
          <p:cNvSpPr/>
          <p:nvPr/>
        </p:nvSpPr>
        <p:spPr>
          <a:xfrm>
            <a:off x="6720840" y="2889504"/>
            <a:ext cx="2057400" cy="274320"/>
          </a:xfrm>
          <a:prstGeom prst="rect">
            <a:avLst/>
          </a:prstGeom>
          <a:noFill/>
          <a:ln/>
        </p:spPr>
        <p:txBody>
          <a:bodyPr wrap="square" lIns="0" tIns="0" rIns="0" bIns="0" rtlCol="0" anchor="ctr"/>
          <a:lstStyle/>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Diagnostic Variables</a:t>
            </a:r>
            <a:endParaRPr lang="en-US" sz="1300" dirty="0"/>
          </a:p>
        </p:txBody>
      </p:sp>
      <p:sp>
        <p:nvSpPr>
          <p:cNvPr id="23" name="Text 20"/>
          <p:cNvSpPr/>
          <p:nvPr/>
        </p:nvSpPr>
        <p:spPr>
          <a:xfrm>
            <a:off x="4773168" y="3227832"/>
            <a:ext cx="3895344" cy="1485900"/>
          </a:xfrm>
          <a:prstGeom prst="rect">
            <a:avLst/>
          </a:prstGeom>
          <a:noFill/>
          <a:ln/>
        </p:spPr>
        <p:txBody>
          <a:bodyPr wrap="square" rtlCol="0" anchor="ctr"/>
          <a:lstStyle/>
          <a:p>
            <a:pPr marL="0" indent="0">
              <a:buNone/>
            </a:pPr>
            <a:r>
              <a:rPr lang="en-US" sz="1300" dirty="0">
                <a:solidFill>
                  <a:srgbClr val="3D3D3D"/>
                </a:solidFill>
                <a:latin typeface="Times New Roman" pitchFamily="34" charset="0"/>
                <a:ea typeface="Times New Roman" pitchFamily="34" charset="-122"/>
                <a:cs typeface="Times New Roman" pitchFamily="34" charset="-120"/>
              </a:rPr>
              <a:t>Features: Glucose, BMI, and Blood Pressure. Evaluates model robustness against noise and class overlap.</a:t>
            </a:r>
          </a:p>
          <a:p>
            <a:pPr marL="0" indent="0">
              <a:buNone/>
            </a:pPr>
            <a:endParaRPr lang="en-US" sz="1300" dirty="0">
              <a:solidFill>
                <a:srgbClr val="3D3D3D"/>
              </a:solidFill>
              <a:latin typeface="Times New Roman" pitchFamily="34" charset="0"/>
              <a:cs typeface="Times New Roman" pitchFamily="34" charset="-120"/>
            </a:endParaRPr>
          </a:p>
          <a:p>
            <a:pPr marL="0" indent="0">
              <a:buNone/>
            </a:pPr>
            <a:r>
              <a:rPr lang="en-US" sz="1300" dirty="0">
                <a:solidFill>
                  <a:srgbClr val="3D3D3D"/>
                </a:solidFill>
                <a:latin typeface="Times New Roman" pitchFamily="34" charset="0"/>
                <a:cs typeface="Times New Roman" pitchFamily="34" charset="-120"/>
              </a:rPr>
              <a:t>Link: https://www.openml.org/search?type=data&amp;sort=version&amp;status=any&amp;order=asc&amp;exact_name=diabetes&amp;id=37</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Our Approach</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14</a:t>
            </a:r>
            <a:endParaRPr lang="en-US" sz="1400" dirty="0"/>
          </a:p>
        </p:txBody>
      </p:sp>
      <p:sp>
        <p:nvSpPr>
          <p:cNvPr id="7" name="Text 4"/>
          <p:cNvSpPr/>
          <p:nvPr/>
        </p:nvSpPr>
        <p:spPr>
          <a:xfrm>
            <a:off x="365760" y="1325880"/>
            <a:ext cx="8412480" cy="502920"/>
          </a:xfrm>
          <a:prstGeom prst="rect">
            <a:avLst/>
          </a:prstGeom>
          <a:noFill/>
          <a:ln/>
        </p:spPr>
        <p:txBody>
          <a:bodyPr wrap="square" rtlCol="0" anchor="ctr"/>
          <a:lstStyle/>
          <a:p>
            <a:pPr marL="0" indent="0">
              <a:buNone/>
            </a:pPr>
            <a:r>
              <a:rPr lang="en-US" sz="1600" i="1" dirty="0">
                <a:solidFill>
                  <a:srgbClr val="3D3D3D"/>
                </a:solidFill>
                <a:latin typeface="Times New Roman" pitchFamily="34" charset="0"/>
                <a:ea typeface="Times New Roman" pitchFamily="34" charset="-122"/>
                <a:cs typeface="Times New Roman" pitchFamily="34" charset="-120"/>
              </a:rPr>
              <a:t>We present a robust framework that addresses all three fundamental flaws identified in existing ML studies.</a:t>
            </a:r>
            <a:endParaRPr lang="en-US" sz="1600" dirty="0"/>
          </a:p>
        </p:txBody>
      </p:sp>
      <p:sp>
        <p:nvSpPr>
          <p:cNvPr id="8" name="Text 5"/>
          <p:cNvSpPr/>
          <p:nvPr/>
        </p:nvSpPr>
        <p:spPr>
          <a:xfrm>
            <a:off x="365760" y="1938528"/>
            <a:ext cx="8412480" cy="292608"/>
          </a:xfrm>
          <a:prstGeom prst="rect">
            <a:avLst/>
          </a:prstGeom>
          <a:noFill/>
          <a:ln/>
        </p:spPr>
        <p:txBody>
          <a:bodyPr wrap="square" rtlCol="0" anchor="ctr"/>
          <a:lstStyle/>
          <a:p>
            <a:pPr marL="0" indent="0">
              <a:buNone/>
            </a:pPr>
            <a:r>
              <a:rPr lang="en-US" sz="1800" b="1" dirty="0">
                <a:solidFill>
                  <a:srgbClr val="1F3864"/>
                </a:solidFill>
                <a:latin typeface="Times New Roman" pitchFamily="34" charset="0"/>
                <a:ea typeface="Times New Roman" pitchFamily="34" charset="-122"/>
                <a:cs typeface="Times New Roman" pitchFamily="34" charset="-120"/>
              </a:rPr>
              <a:t>Methodology Pipeline</a:t>
            </a:r>
            <a:endParaRPr lang="en-US" sz="1800" dirty="0"/>
          </a:p>
        </p:txBody>
      </p:sp>
      <p:grpSp>
        <p:nvGrpSpPr>
          <p:cNvPr id="25" name="Group 24">
            <a:extLst>
              <a:ext uri="{FF2B5EF4-FFF2-40B4-BE49-F238E27FC236}">
                <a16:creationId xmlns:a16="http://schemas.microsoft.com/office/drawing/2014/main" id="{A6EA8A30-D21D-550F-BE1B-DDCEFE169033}"/>
              </a:ext>
            </a:extLst>
          </p:cNvPr>
          <p:cNvGrpSpPr/>
          <p:nvPr/>
        </p:nvGrpSpPr>
        <p:grpSpPr>
          <a:xfrm>
            <a:off x="365760" y="2542032"/>
            <a:ext cx="5318760" cy="1994916"/>
            <a:chOff x="365760" y="2286000"/>
            <a:chExt cx="8412480" cy="2491740"/>
          </a:xfrm>
        </p:grpSpPr>
        <p:sp>
          <p:nvSpPr>
            <p:cNvPr id="9" name="Shape 6"/>
            <p:cNvSpPr/>
            <p:nvPr/>
          </p:nvSpPr>
          <p:spPr>
            <a:xfrm>
              <a:off x="365760" y="2286000"/>
              <a:ext cx="2743200" cy="2491740"/>
            </a:xfrm>
            <a:prstGeom prst="rect">
              <a:avLst/>
            </a:prstGeom>
            <a:solidFill>
              <a:srgbClr val="F9F9F9"/>
            </a:solidFill>
            <a:ln w="12700">
              <a:solidFill>
                <a:srgbClr val="E0E0E0"/>
              </a:solidFill>
              <a:prstDash val="solid"/>
            </a:ln>
          </p:spPr>
        </p:sp>
        <p:sp>
          <p:nvSpPr>
            <p:cNvPr id="10" name="Shape 7"/>
            <p:cNvSpPr/>
            <p:nvPr/>
          </p:nvSpPr>
          <p:spPr>
            <a:xfrm>
              <a:off x="457200" y="2377440"/>
              <a:ext cx="365760" cy="365760"/>
            </a:xfrm>
            <a:prstGeom prst="ellipse">
              <a:avLst/>
            </a:prstGeom>
            <a:solidFill>
              <a:srgbClr val="E87722"/>
            </a:solidFill>
            <a:ln w="12700">
              <a:solidFill>
                <a:srgbClr val="E87722"/>
              </a:solidFill>
              <a:prstDash val="solid"/>
            </a:ln>
          </p:spPr>
        </p:sp>
        <p:sp>
          <p:nvSpPr>
            <p:cNvPr id="11" name="Text 8"/>
            <p:cNvSpPr/>
            <p:nvPr/>
          </p:nvSpPr>
          <p:spPr>
            <a:xfrm>
              <a:off x="457200" y="2377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12" name="Text 9"/>
            <p:cNvSpPr/>
            <p:nvPr/>
          </p:nvSpPr>
          <p:spPr>
            <a:xfrm>
              <a:off x="896112" y="2377440"/>
              <a:ext cx="2121408" cy="292608"/>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Stratified 10-Fold Cross-Validation</a:t>
              </a:r>
              <a:endParaRPr lang="en-US" sz="1200" dirty="0"/>
            </a:p>
          </p:txBody>
        </p:sp>
        <p:sp>
          <p:nvSpPr>
            <p:cNvPr id="13" name="Text 10"/>
            <p:cNvSpPr/>
            <p:nvPr/>
          </p:nvSpPr>
          <p:spPr>
            <a:xfrm>
              <a:off x="493776" y="2743200"/>
              <a:ext cx="2523744" cy="1943100"/>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Ensures statistical rigor and prevents overfitting on small medical samples</a:t>
              </a:r>
              <a:endParaRPr lang="en-US" sz="1200" dirty="0"/>
            </a:p>
          </p:txBody>
        </p:sp>
        <p:sp>
          <p:nvSpPr>
            <p:cNvPr id="14" name="Shape 11"/>
            <p:cNvSpPr/>
            <p:nvPr/>
          </p:nvSpPr>
          <p:spPr>
            <a:xfrm>
              <a:off x="3200400" y="2286000"/>
              <a:ext cx="2743200" cy="2491740"/>
            </a:xfrm>
            <a:prstGeom prst="rect">
              <a:avLst/>
            </a:prstGeom>
            <a:solidFill>
              <a:srgbClr val="F9F9F9"/>
            </a:solidFill>
            <a:ln w="12700">
              <a:solidFill>
                <a:srgbClr val="E0E0E0"/>
              </a:solidFill>
              <a:prstDash val="solid"/>
            </a:ln>
          </p:spPr>
        </p:sp>
        <p:sp>
          <p:nvSpPr>
            <p:cNvPr id="15" name="Shape 12"/>
            <p:cNvSpPr/>
            <p:nvPr/>
          </p:nvSpPr>
          <p:spPr>
            <a:xfrm>
              <a:off x="3291840" y="2377440"/>
              <a:ext cx="365760" cy="365760"/>
            </a:xfrm>
            <a:prstGeom prst="ellipse">
              <a:avLst/>
            </a:prstGeom>
            <a:solidFill>
              <a:srgbClr val="E87722"/>
            </a:solidFill>
            <a:ln w="12700">
              <a:solidFill>
                <a:srgbClr val="E87722"/>
              </a:solidFill>
              <a:prstDash val="solid"/>
            </a:ln>
          </p:spPr>
        </p:sp>
        <p:sp>
          <p:nvSpPr>
            <p:cNvPr id="16" name="Text 13"/>
            <p:cNvSpPr/>
            <p:nvPr/>
          </p:nvSpPr>
          <p:spPr>
            <a:xfrm>
              <a:off x="3291840" y="2377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17" name="Text 14"/>
            <p:cNvSpPr/>
            <p:nvPr/>
          </p:nvSpPr>
          <p:spPr>
            <a:xfrm>
              <a:off x="3730752" y="2377440"/>
              <a:ext cx="2121408" cy="292608"/>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SMOTE Integration</a:t>
              </a:r>
              <a:endParaRPr lang="en-US" sz="1200" dirty="0"/>
            </a:p>
          </p:txBody>
        </p:sp>
        <p:sp>
          <p:nvSpPr>
            <p:cNvPr id="18" name="Text 15"/>
            <p:cNvSpPr/>
            <p:nvPr/>
          </p:nvSpPr>
          <p:spPr>
            <a:xfrm>
              <a:off x="3328416" y="2743200"/>
              <a:ext cx="2523744" cy="1943100"/>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Handles class imbalance by creating balanced training data through synthetic sampling</a:t>
              </a:r>
              <a:endParaRPr lang="en-US" sz="1200" dirty="0"/>
            </a:p>
          </p:txBody>
        </p:sp>
        <p:sp>
          <p:nvSpPr>
            <p:cNvPr id="19" name="Shape 16"/>
            <p:cNvSpPr/>
            <p:nvPr/>
          </p:nvSpPr>
          <p:spPr>
            <a:xfrm>
              <a:off x="6035040" y="2286000"/>
              <a:ext cx="2743200" cy="2491740"/>
            </a:xfrm>
            <a:prstGeom prst="rect">
              <a:avLst/>
            </a:prstGeom>
            <a:solidFill>
              <a:srgbClr val="F9F9F9"/>
            </a:solidFill>
            <a:ln w="12700">
              <a:solidFill>
                <a:srgbClr val="E0E0E0"/>
              </a:solidFill>
              <a:prstDash val="solid"/>
            </a:ln>
          </p:spPr>
        </p:sp>
        <p:sp>
          <p:nvSpPr>
            <p:cNvPr id="20" name="Shape 17"/>
            <p:cNvSpPr/>
            <p:nvPr/>
          </p:nvSpPr>
          <p:spPr>
            <a:xfrm>
              <a:off x="6126480" y="2377440"/>
              <a:ext cx="365760" cy="365760"/>
            </a:xfrm>
            <a:prstGeom prst="ellipse">
              <a:avLst/>
            </a:prstGeom>
            <a:solidFill>
              <a:srgbClr val="E87722"/>
            </a:solidFill>
            <a:ln w="12700">
              <a:solidFill>
                <a:srgbClr val="E87722"/>
              </a:solidFill>
              <a:prstDash val="solid"/>
            </a:ln>
          </p:spPr>
        </p:sp>
        <p:sp>
          <p:nvSpPr>
            <p:cNvPr id="21" name="Text 18"/>
            <p:cNvSpPr/>
            <p:nvPr/>
          </p:nvSpPr>
          <p:spPr>
            <a:xfrm>
              <a:off x="6126480" y="2377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22" name="Text 19"/>
            <p:cNvSpPr/>
            <p:nvPr/>
          </p:nvSpPr>
          <p:spPr>
            <a:xfrm>
              <a:off x="6565392" y="2377440"/>
              <a:ext cx="2121408" cy="292608"/>
            </a:xfrm>
            <a:prstGeom prst="rect">
              <a:avLst/>
            </a:prstGeom>
            <a:noFill/>
            <a:ln/>
          </p:spPr>
          <p:txBody>
            <a:bodyPr wrap="square" lIns="0" tIns="0" rIns="0" bIns="0" rtlCol="0" anchor="ctr"/>
            <a:lstStyle/>
            <a:p>
              <a:pPr marL="0" indent="0">
                <a:buNone/>
              </a:pPr>
              <a:r>
                <a:rPr lang="en-US" sz="1200" b="1" dirty="0">
                  <a:solidFill>
                    <a:srgbClr val="1F3864"/>
                  </a:solidFill>
                  <a:latin typeface="Times New Roman" pitchFamily="34" charset="0"/>
                  <a:ea typeface="Times New Roman" pitchFamily="34" charset="-122"/>
                  <a:cs typeface="Times New Roman" pitchFamily="34" charset="-120"/>
                </a:rPr>
                <a:t>SHAP Explainability</a:t>
              </a:r>
              <a:endParaRPr lang="en-US" sz="1200" dirty="0"/>
            </a:p>
          </p:txBody>
        </p:sp>
        <p:sp>
          <p:nvSpPr>
            <p:cNvPr id="23" name="Text 20"/>
            <p:cNvSpPr/>
            <p:nvPr/>
          </p:nvSpPr>
          <p:spPr>
            <a:xfrm>
              <a:off x="6163056" y="2743200"/>
              <a:ext cx="2523744" cy="1943100"/>
            </a:xfrm>
            <a:prstGeom prst="rect">
              <a:avLst/>
            </a:prstGeom>
            <a:noFill/>
            <a:ln/>
          </p:spPr>
          <p:txBody>
            <a:bodyPr wrap="square" lIns="0" tIns="0" rIns="0" bIns="0"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Provides model interpretability for clinical trust through feature importance visualization</a:t>
              </a:r>
              <a:endParaRPr lang="en-US" sz="1200" dirty="0"/>
            </a:p>
          </p:txBody>
        </p:sp>
      </p:grpSp>
      <p:pic>
        <p:nvPicPr>
          <p:cNvPr id="24" name="Image 1" descr="preencoded.png"/>
          <p:cNvPicPr>
            <a:picLocks noChangeAspect="1"/>
          </p:cNvPicPr>
          <p:nvPr/>
        </p:nvPicPr>
        <p:blipFill>
          <a:blip r:embed="rId4">
            <a:alphaModFix amt="12000"/>
          </a:blip>
          <a:stretch>
            <a:fillRect/>
          </a:stretch>
        </p:blipFill>
        <p:spPr>
          <a:xfrm>
            <a:off x="365760" y="1280160"/>
            <a:ext cx="8412480" cy="640080"/>
          </a:xfrm>
          <a:prstGeom prst="rect">
            <a:avLst/>
          </a:prstGeom>
        </p:spPr>
      </p:pic>
      <p:pic>
        <p:nvPicPr>
          <p:cNvPr id="27" name="Picture 26">
            <a:extLst>
              <a:ext uri="{FF2B5EF4-FFF2-40B4-BE49-F238E27FC236}">
                <a16:creationId xmlns:a16="http://schemas.microsoft.com/office/drawing/2014/main" id="{86514BB8-55E8-CB63-74C5-7C053309063C}"/>
              </a:ext>
            </a:extLst>
          </p:cNvPr>
          <p:cNvPicPr>
            <a:picLocks noChangeAspect="1"/>
          </p:cNvPicPr>
          <p:nvPr/>
        </p:nvPicPr>
        <p:blipFill>
          <a:blip r:embed="rId4"/>
          <a:stretch>
            <a:fillRect/>
          </a:stretch>
        </p:blipFill>
        <p:spPr>
          <a:xfrm>
            <a:off x="5715957" y="1614276"/>
            <a:ext cx="3070596" cy="315348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CFD67-07B4-D951-5C94-4C9507EEBB1A}"/>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BCDC8E8-9306-04EB-CB81-9096A434F999}"/>
              </a:ext>
            </a:extLst>
          </p:cNvPr>
          <p:cNvPicPr>
            <a:picLocks noChangeAspect="1"/>
          </p:cNvPicPr>
          <p:nvPr/>
        </p:nvPicPr>
        <p:blipFill>
          <a:blip r:embed="rId3"/>
          <a:stretch>
            <a:fillRect/>
          </a:stretch>
        </p:blipFill>
        <p:spPr>
          <a:xfrm>
            <a:off x="7818120" y="91440"/>
            <a:ext cx="1143000" cy="475488"/>
          </a:xfrm>
          <a:prstGeom prst="rect">
            <a:avLst/>
          </a:prstGeom>
        </p:spPr>
      </p:pic>
      <p:sp>
        <p:nvSpPr>
          <p:cNvPr id="3" name="Text 0">
            <a:extLst>
              <a:ext uri="{FF2B5EF4-FFF2-40B4-BE49-F238E27FC236}">
                <a16:creationId xmlns:a16="http://schemas.microsoft.com/office/drawing/2014/main" id="{39B76B7D-BD02-F336-F825-FCF146767DF2}"/>
              </a:ext>
            </a:extLst>
          </p:cNvPr>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Addressing Class Imbalance with SMOTE</a:t>
            </a:r>
            <a:endParaRPr lang="en-US" sz="2600" dirty="0"/>
          </a:p>
        </p:txBody>
      </p:sp>
      <p:sp>
        <p:nvSpPr>
          <p:cNvPr id="4" name="Shape 1">
            <a:extLst>
              <a:ext uri="{FF2B5EF4-FFF2-40B4-BE49-F238E27FC236}">
                <a16:creationId xmlns:a16="http://schemas.microsoft.com/office/drawing/2014/main" id="{6B16CC76-F3A7-3EB1-4F9F-DE07FEE4E77D}"/>
              </a:ext>
            </a:extLst>
          </p:cNvPr>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a:extLst>
              <a:ext uri="{FF2B5EF4-FFF2-40B4-BE49-F238E27FC236}">
                <a16:creationId xmlns:a16="http://schemas.microsoft.com/office/drawing/2014/main" id="{E3B51C5C-9D12-CF72-19F9-DC64902D40BA}"/>
              </a:ext>
            </a:extLst>
          </p:cNvPr>
          <p:cNvSpPr/>
          <p:nvPr/>
        </p:nvSpPr>
        <p:spPr>
          <a:xfrm>
            <a:off x="0" y="4850892"/>
            <a:ext cx="9144000" cy="292608"/>
          </a:xfrm>
          <a:prstGeom prst="rect">
            <a:avLst/>
          </a:prstGeom>
          <a:solidFill>
            <a:srgbClr val="E87722"/>
          </a:solidFill>
          <a:ln w="12700">
            <a:solidFill>
              <a:srgbClr val="E87722"/>
            </a:solidFill>
            <a:prstDash val="solid"/>
          </a:ln>
        </p:spPr>
      </p:sp>
      <p:sp>
        <p:nvSpPr>
          <p:cNvPr id="6" name="Text 3">
            <a:extLst>
              <a:ext uri="{FF2B5EF4-FFF2-40B4-BE49-F238E27FC236}">
                <a16:creationId xmlns:a16="http://schemas.microsoft.com/office/drawing/2014/main" id="{6018D0FD-C10C-D67F-1B47-4D95EE9BAC3E}"/>
              </a:ext>
            </a:extLst>
          </p:cNvPr>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15</a:t>
            </a:r>
            <a:endParaRPr lang="en-US" sz="1400" dirty="0"/>
          </a:p>
        </p:txBody>
      </p:sp>
      <p:sp>
        <p:nvSpPr>
          <p:cNvPr id="7" name="Text 4">
            <a:extLst>
              <a:ext uri="{FF2B5EF4-FFF2-40B4-BE49-F238E27FC236}">
                <a16:creationId xmlns:a16="http://schemas.microsoft.com/office/drawing/2014/main" id="{90BAB834-6962-987D-3ACB-4608BBE49692}"/>
              </a:ext>
            </a:extLst>
          </p:cNvPr>
          <p:cNvSpPr/>
          <p:nvPr/>
        </p:nvSpPr>
        <p:spPr>
          <a:xfrm>
            <a:off x="365760" y="1115569"/>
            <a:ext cx="8412480" cy="1031467"/>
          </a:xfrm>
          <a:prstGeom prst="rect">
            <a:avLst/>
          </a:prstGeom>
          <a:noFill/>
          <a:ln/>
        </p:spPr>
        <p:txBody>
          <a:bodyPr wrap="square" rtlCol="0" anchor="t"/>
          <a:lstStyle/>
          <a:p>
            <a:r>
              <a:rPr lang="en-US" sz="1400" i="1" dirty="0">
                <a:solidFill>
                  <a:srgbClr val="3D3D3D"/>
                </a:solidFill>
                <a:latin typeface="Times New Roman" pitchFamily="34" charset="0"/>
                <a:ea typeface="Times New Roman" pitchFamily="34" charset="-122"/>
                <a:cs typeface="Times New Roman" pitchFamily="34" charset="-120"/>
              </a:rPr>
              <a:t>Standard medical datasets are inherently imbalanced, heavily favoring negative/healthy cases. Without intervention, models become biased toward the majority class, resulting in high "fake" accuracy but terrible recall for actual sick patients. We utilized SMOTE (Synthetic Minority Over-sampling Technique) exclusively within our training folds to generate synthetic data points and balance the classes.</a:t>
            </a:r>
            <a:endParaRPr lang="en-US" sz="1600" b="1" i="1" dirty="0">
              <a:solidFill>
                <a:srgbClr val="1F3864"/>
              </a:solidFill>
              <a:latin typeface="Times New Roman" pitchFamily="34" charset="0"/>
              <a:ea typeface="Times New Roman" pitchFamily="34" charset="-122"/>
              <a:cs typeface="Times New Roman" pitchFamily="34" charset="-120"/>
            </a:endParaRPr>
          </a:p>
        </p:txBody>
      </p:sp>
      <p:graphicFrame>
        <p:nvGraphicFramePr>
          <p:cNvPr id="8" name="Table 7">
            <a:extLst>
              <a:ext uri="{FF2B5EF4-FFF2-40B4-BE49-F238E27FC236}">
                <a16:creationId xmlns:a16="http://schemas.microsoft.com/office/drawing/2014/main" id="{6B02CBBC-31C3-EC02-7B25-25E0BDF69908}"/>
              </a:ext>
            </a:extLst>
          </p:cNvPr>
          <p:cNvGraphicFramePr>
            <a:graphicFrameLocks noGrp="1"/>
          </p:cNvGraphicFramePr>
          <p:nvPr>
            <p:extLst>
              <p:ext uri="{D42A27DB-BD31-4B8C-83A1-F6EECF244321}">
                <p14:modId xmlns:p14="http://schemas.microsoft.com/office/powerpoint/2010/main" val="1220137197"/>
              </p:ext>
            </p:extLst>
          </p:nvPr>
        </p:nvGraphicFramePr>
        <p:xfrm>
          <a:off x="559398" y="2147035"/>
          <a:ext cx="8025204" cy="2471069"/>
        </p:xfrm>
        <a:graphic>
          <a:graphicData uri="http://schemas.openxmlformats.org/drawingml/2006/table">
            <a:tbl>
              <a:tblPr firstRow="1" bandRow="1">
                <a:tableStyleId>{5C22544A-7EE6-4342-B048-85BDC9FD1C3A}</a:tableStyleId>
              </a:tblPr>
              <a:tblGrid>
                <a:gridCol w="4012602">
                  <a:extLst>
                    <a:ext uri="{9D8B030D-6E8A-4147-A177-3AD203B41FA5}">
                      <a16:colId xmlns:a16="http://schemas.microsoft.com/office/drawing/2014/main" val="221814654"/>
                    </a:ext>
                  </a:extLst>
                </a:gridCol>
                <a:gridCol w="4012602">
                  <a:extLst>
                    <a:ext uri="{9D8B030D-6E8A-4147-A177-3AD203B41FA5}">
                      <a16:colId xmlns:a16="http://schemas.microsoft.com/office/drawing/2014/main" val="2461259412"/>
                    </a:ext>
                  </a:extLst>
                </a:gridCol>
              </a:tblGrid>
              <a:tr h="4365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F3864"/>
                          </a:solidFill>
                          <a:effectLst/>
                          <a:uLnTx/>
                          <a:uFillTx/>
                          <a:latin typeface="Times New Roman" pitchFamily="34" charset="0"/>
                          <a:ea typeface="Times New Roman" pitchFamily="34" charset="-122"/>
                          <a:cs typeface="Times New Roman" pitchFamily="34" charset="-120"/>
                        </a:rPr>
                        <a:t>Chronic Kidney Disease (CKD)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600" b="1" i="0" u="none" strike="noStrike" kern="1200" cap="none" spc="0" normalizeH="0" baseline="0" noProof="0" dirty="0">
                          <a:ln>
                            <a:noFill/>
                          </a:ln>
                          <a:solidFill>
                            <a:srgbClr val="1F3864"/>
                          </a:solidFill>
                          <a:effectLst/>
                          <a:uLnTx/>
                          <a:uFillTx/>
                          <a:latin typeface="Times New Roman" pitchFamily="34" charset="0"/>
                          <a:ea typeface="Times New Roman" pitchFamily="34" charset="-122"/>
                          <a:cs typeface="Times New Roman" pitchFamily="34" charset="-120"/>
                        </a:rPr>
                        <a:t>Pima Diabetes Dataset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529505"/>
                  </a:ext>
                </a:extLst>
              </a:tr>
              <a:tr h="958755">
                <a:tc>
                  <a:txBody>
                    <a:bodyPr/>
                    <a:lstStyle/>
                    <a:p>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Before SMOTE (Original Data):</a:t>
                      </a:r>
                    </a:p>
                    <a:p>
                      <a:pPr marL="742950" lvl="1" indent="-285750">
                        <a:buFont typeface="Arial" panose="020B0604020202020204" pitchFamily="34" charset="0"/>
                        <a:buChar char="•"/>
                      </a:pP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Healthy (Not CKD): 250 </a:t>
                      </a:r>
                    </a:p>
                    <a:p>
                      <a:pPr marL="742950" lvl="1" indent="-285750">
                        <a:buFont typeface="Arial" panose="020B0604020202020204" pitchFamily="34" charset="0"/>
                        <a:buChar char="•"/>
                      </a:pPr>
                      <a:r>
                        <a:rPr kumimoji="0" lang="en-US" sz="1400" b="0" i="1" u="none" strike="noStrike" kern="1200" cap="none" spc="0" normalizeH="0" baseline="0" noProof="0" dirty="0" err="1">
                          <a:ln>
                            <a:noFill/>
                          </a:ln>
                          <a:solidFill>
                            <a:srgbClr val="3D3D3D"/>
                          </a:solidFill>
                          <a:effectLst/>
                          <a:uLnTx/>
                          <a:uFillTx/>
                          <a:latin typeface="Times New Roman" pitchFamily="34" charset="0"/>
                          <a:ea typeface="Times New Roman" pitchFamily="34" charset="-122"/>
                          <a:cs typeface="Times New Roman" pitchFamily="34" charset="-120"/>
                        </a:rPr>
                        <a:t>casesSick</a:t>
                      </a: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 (CKD): 150 </a:t>
                      </a:r>
                    </a:p>
                    <a:p>
                      <a:pPr marL="742950" lvl="1" indent="-285750">
                        <a:buFont typeface="Arial" panose="020B0604020202020204" pitchFamily="34" charset="0"/>
                        <a:buChar char="•"/>
                      </a:pPr>
                      <a:r>
                        <a:rPr kumimoji="0" lang="en-US" sz="1400" b="0" i="1" u="none" strike="noStrike" kern="1200" cap="none" spc="0" normalizeH="0" baseline="0" noProof="0" dirty="0" err="1">
                          <a:ln>
                            <a:noFill/>
                          </a:ln>
                          <a:solidFill>
                            <a:srgbClr val="3D3D3D"/>
                          </a:solidFill>
                          <a:effectLst/>
                          <a:uLnTx/>
                          <a:uFillTx/>
                          <a:latin typeface="Times New Roman" pitchFamily="34" charset="0"/>
                          <a:ea typeface="Times New Roman" pitchFamily="34" charset="-122"/>
                          <a:cs typeface="Times New Roman" pitchFamily="34" charset="-120"/>
                        </a:rPr>
                        <a:t>casesImbalance</a:t>
                      </a: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 Ratio: 62.5% vs 37.5%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Before SMOTE (Original Data):</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Healthy (Negative): 500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err="1">
                          <a:ln>
                            <a:noFill/>
                          </a:ln>
                          <a:solidFill>
                            <a:srgbClr val="3D3D3D"/>
                          </a:solidFill>
                          <a:effectLst/>
                          <a:uLnTx/>
                          <a:uFillTx/>
                          <a:latin typeface="Times New Roman" pitchFamily="34" charset="0"/>
                          <a:ea typeface="Times New Roman" pitchFamily="34" charset="-122"/>
                          <a:cs typeface="Times New Roman" pitchFamily="34" charset="-120"/>
                        </a:rPr>
                        <a:t>casesSick</a:t>
                      </a: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 (Positive): 268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err="1">
                          <a:ln>
                            <a:noFill/>
                          </a:ln>
                          <a:solidFill>
                            <a:srgbClr val="3D3D3D"/>
                          </a:solidFill>
                          <a:effectLst/>
                          <a:uLnTx/>
                          <a:uFillTx/>
                          <a:latin typeface="Times New Roman" pitchFamily="34" charset="0"/>
                          <a:ea typeface="Times New Roman" pitchFamily="34" charset="-122"/>
                          <a:cs typeface="Times New Roman" pitchFamily="34" charset="-120"/>
                        </a:rPr>
                        <a:t>casesImbalance</a:t>
                      </a: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 Ratio: 65% vs 35%</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0961620"/>
                  </a:ext>
                </a:extLst>
              </a:tr>
              <a:tr h="10757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After SMOTE (Training Folds):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Healthy: 200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err="1">
                          <a:ln>
                            <a:noFill/>
                          </a:ln>
                          <a:solidFill>
                            <a:srgbClr val="3D3D3D"/>
                          </a:solidFill>
                          <a:effectLst/>
                          <a:uLnTx/>
                          <a:uFillTx/>
                          <a:latin typeface="Times New Roman" pitchFamily="34" charset="0"/>
                          <a:ea typeface="Times New Roman" pitchFamily="34" charset="-122"/>
                          <a:cs typeface="Times New Roman" pitchFamily="34" charset="-120"/>
                        </a:rPr>
                        <a:t>casesSick</a:t>
                      </a: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 200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err="1">
                          <a:ln>
                            <a:noFill/>
                          </a:ln>
                          <a:solidFill>
                            <a:srgbClr val="3D3D3D"/>
                          </a:solidFill>
                          <a:effectLst/>
                          <a:uLnTx/>
                          <a:uFillTx/>
                          <a:latin typeface="Times New Roman" pitchFamily="34" charset="0"/>
                          <a:ea typeface="Times New Roman" pitchFamily="34" charset="-122"/>
                          <a:cs typeface="Times New Roman" pitchFamily="34" charset="-120"/>
                        </a:rPr>
                        <a:t>casesPerfectly</a:t>
                      </a: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 Balanced (1:1 Ratio)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After SMOTE (Training Folds):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Healthy: 400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err="1">
                          <a:ln>
                            <a:noFill/>
                          </a:ln>
                          <a:solidFill>
                            <a:srgbClr val="3D3D3D"/>
                          </a:solidFill>
                          <a:effectLst/>
                          <a:uLnTx/>
                          <a:uFillTx/>
                          <a:latin typeface="Times New Roman" pitchFamily="34" charset="0"/>
                          <a:ea typeface="Times New Roman" pitchFamily="34" charset="-122"/>
                          <a:cs typeface="Times New Roman" pitchFamily="34" charset="-120"/>
                        </a:rPr>
                        <a:t>casesSick</a:t>
                      </a: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 400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err="1">
                          <a:ln>
                            <a:noFill/>
                          </a:ln>
                          <a:solidFill>
                            <a:srgbClr val="3D3D3D"/>
                          </a:solidFill>
                          <a:effectLst/>
                          <a:uLnTx/>
                          <a:uFillTx/>
                          <a:latin typeface="Times New Roman" pitchFamily="34" charset="0"/>
                          <a:ea typeface="Times New Roman" pitchFamily="34" charset="-122"/>
                          <a:cs typeface="Times New Roman" pitchFamily="34" charset="-120"/>
                        </a:rPr>
                        <a:t>casesPerfectly</a:t>
                      </a:r>
                      <a:r>
                        <a:rPr kumimoji="0" lang="en-US" sz="1400" b="0" i="1" u="none" strike="noStrike" kern="1200" cap="none" spc="0" normalizeH="0" baseline="0" noProof="0" dirty="0">
                          <a:ln>
                            <a:noFill/>
                          </a:ln>
                          <a:solidFill>
                            <a:srgbClr val="3D3D3D"/>
                          </a:solidFill>
                          <a:effectLst/>
                          <a:uLnTx/>
                          <a:uFillTx/>
                          <a:latin typeface="Times New Roman" pitchFamily="34" charset="0"/>
                          <a:ea typeface="Times New Roman" pitchFamily="34" charset="-122"/>
                          <a:cs typeface="Times New Roman" pitchFamily="34" charset="-120"/>
                        </a:rPr>
                        <a:t> Balanced (1:1 Ratio)</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2269638"/>
                  </a:ext>
                </a:extLst>
              </a:tr>
            </a:tbl>
          </a:graphicData>
        </a:graphic>
      </p:graphicFrame>
    </p:spTree>
    <p:extLst>
      <p:ext uri="{BB962C8B-B14F-4D97-AF65-F5344CB8AC3E}">
        <p14:creationId xmlns:p14="http://schemas.microsoft.com/office/powerpoint/2010/main" val="3818313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itle"/>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rPr>
              <a:t>Class Balancing with SMOTE &amp; CV Stability</a:t>
            </a:r>
          </a:p>
        </p:txBody>
      </p:sp>
      <p:sp>
        <p:nvSpPr>
          <p:cNvPr id="4" name="Divider"/>
          <p:cNvSpPr/>
          <p:nvPr/>
        </p:nvSpPr>
        <p:spPr>
          <a:xfrm>
            <a:off x="365760" y="1069848"/>
            <a:ext cx="8412480" cy="20117"/>
          </a:xfrm>
          <a:prstGeom prst="rect">
            <a:avLst/>
          </a:prstGeom>
          <a:solidFill>
            <a:srgbClr val="3D3D3D"/>
          </a:solidFill>
          <a:ln w="12700">
            <a:solidFill>
              <a:srgbClr val="3D3D3D"/>
            </a:solidFill>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PageNum"/>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rPr>
              <a:t>18</a:t>
            </a:r>
          </a:p>
        </p:txBody>
      </p:sp>
      <p:pic>
        <p:nvPicPr>
          <p:cNvPr id="200" name="Img200"/>
          <p:cNvPicPr>
            <a:picLocks noChangeAspect="1"/>
          </p:cNvPicPr>
          <p:nvPr/>
        </p:nvPicPr>
        <p:blipFill>
          <a:blip r:embed="rId4"/>
          <a:stretch>
            <a:fillRect/>
          </a:stretch>
        </p:blipFill>
        <p:spPr>
          <a:xfrm>
            <a:off x="182880" y="1110000"/>
            <a:ext cx="4100000" cy="2150000"/>
          </a:xfrm>
          <a:prstGeom prst="rect">
            <a:avLst/>
          </a:prstGeom>
        </p:spPr>
      </p:pic>
      <p:pic>
        <p:nvPicPr>
          <p:cNvPr id="201" name="Img201"/>
          <p:cNvPicPr>
            <a:picLocks noChangeAspect="1"/>
          </p:cNvPicPr>
          <p:nvPr/>
        </p:nvPicPr>
        <p:blipFill>
          <a:blip r:embed="rId5"/>
          <a:stretch>
            <a:fillRect/>
          </a:stretch>
        </p:blipFill>
        <p:spPr>
          <a:xfrm>
            <a:off x="4500000" y="1110000"/>
            <a:ext cx="4460000" cy="2150000"/>
          </a:xfrm>
          <a:prstGeom prst="rect">
            <a:avLst/>
          </a:prstGeom>
        </p:spPr>
      </p:pic>
      <p:sp>
        <p:nvSpPr>
          <p:cNvPr id="210" name="Box210"/>
          <p:cNvSpPr/>
          <p:nvPr/>
        </p:nvSpPr>
        <p:spPr>
          <a:xfrm>
            <a:off x="182880" y="3330000"/>
            <a:ext cx="8778240" cy="240000"/>
          </a:xfrm>
          <a:prstGeom prst="rect">
            <a:avLst/>
          </a:prstGeom>
          <a:solidFill>
            <a:srgbClr val="1F3864"/>
          </a:solidFill>
          <a:ln w="12700">
            <a:solidFill>
              <a:srgbClr val="1F3864"/>
            </a:solidFill>
          </a:ln>
        </p:spPr>
      </p:sp>
      <p:sp>
        <p:nvSpPr>
          <p:cNvPr id="211" name="T211"/>
          <p:cNvSpPr/>
          <p:nvPr/>
        </p:nvSpPr>
        <p:spPr>
          <a:xfrm>
            <a:off x="182880" y="3330000"/>
            <a:ext cx="8778240" cy="240000"/>
          </a:xfrm>
          <a:prstGeom prst="rect">
            <a:avLst/>
          </a:prstGeom>
          <a:solidFill>
            <a:srgbClr val="1F3864"/>
          </a:solidFill>
          <a:ln>
            <a:solidFill>
              <a:srgbClr val="1F3864"/>
            </a:solidFill>
          </a:ln>
        </p:spPr>
        <p:txBody>
          <a:bodyPr wrap="square" lIns="91440" tIns="45720" rIns="91440" bIns="45720" rtlCol="0" anchor="ctr"/>
          <a:lstStyle/>
          <a:p>
            <a:pPr marL="0" indent="0" algn="ctr">
              <a:buNone/>
            </a:pPr>
            <a:r>
              <a:rPr lang="en-US" sz="1200" b="1" dirty="0">
                <a:solidFill>
                  <a:srgbClr val="FFFFFF"/>
                </a:solidFill>
                <a:latin typeface="Times New Roman" pitchFamily="34" charset="0"/>
              </a:rPr>
              <a:t>Our Key Differentiator: SMOTE Applied INSIDE Each CV Fold — Base Papers Apply BEFORE (inflates AUC 3–8%)</a:t>
            </a:r>
          </a:p>
        </p:txBody>
      </p:sp>
      <p:sp>
        <p:nvSpPr>
          <p:cNvPr id="212" name="Box212"/>
          <p:cNvSpPr/>
          <p:nvPr/>
        </p:nvSpPr>
        <p:spPr>
          <a:xfrm>
            <a:off x="182880" y="3600000"/>
            <a:ext cx="2850000" cy="1100000"/>
          </a:xfrm>
          <a:prstGeom prst="rect">
            <a:avLst/>
          </a:prstGeom>
          <a:solidFill>
            <a:srgbClr val="FFF4EC"/>
          </a:solidFill>
          <a:ln w="12700">
            <a:solidFill>
              <a:srgbClr val="E87722"/>
            </a:solidFill>
          </a:ln>
        </p:spPr>
      </p:sp>
      <p:sp>
        <p:nvSpPr>
          <p:cNvPr id="213" name="T213"/>
          <p:cNvSpPr/>
          <p:nvPr/>
        </p:nvSpPr>
        <p:spPr>
          <a:xfrm>
            <a:off x="182880" y="3600000"/>
            <a:ext cx="2850000" cy="280000"/>
          </a:xfrm>
          <a:prstGeom prst="rect">
            <a:avLst/>
          </a:prstGeom>
          <a:noFill/>
          <a:ln>
            <a:noFill/>
          </a:ln>
        </p:spPr>
        <p:txBody>
          <a:bodyPr wrap="square" lIns="91440" tIns="45720" rIns="91440" bIns="45720" rtlCol="0" anchor="ctr"/>
          <a:lstStyle/>
          <a:p>
            <a:pPr marL="0" indent="0" algn="ctr">
              <a:buNone/>
            </a:pPr>
            <a:r>
              <a:rPr lang="en-US" sz="920" b="1" dirty="0">
                <a:solidFill>
                  <a:srgbClr val="E87722"/>
                </a:solidFill>
                <a:latin typeface="Times New Roman" pitchFamily="34" charset="0"/>
              </a:rPr>
              <a:t>Step 1 — Apply SMOTE inside each fold</a:t>
            </a:r>
          </a:p>
        </p:txBody>
      </p:sp>
      <p:sp>
        <p:nvSpPr>
          <p:cNvPr id="214" name="T214"/>
          <p:cNvSpPr/>
          <p:nvPr/>
        </p:nvSpPr>
        <p:spPr>
          <a:xfrm>
            <a:off x="230000" y="3895000"/>
            <a:ext cx="2750000" cy="780000"/>
          </a:xfrm>
          <a:prstGeom prst="rect">
            <a:avLst/>
          </a:prstGeom>
          <a:noFill/>
          <a:ln>
            <a:noFill/>
          </a:ln>
        </p:spPr>
        <p:txBody>
          <a:bodyPr wrap="square" lIns="91440" tIns="45720" rIns="91440" bIns="45720" rtlCol="0" anchor="t"/>
          <a:lstStyle/>
          <a:p>
            <a:pPr marL="0" indent="0">
              <a:buNone/>
            </a:pPr>
            <a:r>
              <a:rPr lang="en-US" sz="920" dirty="0">
                <a:solidFill>
                  <a:srgbClr val="3D3D3D"/>
                </a:solidFill>
                <a:latin typeface="Times New Roman" pitchFamily="34" charset="0"/>
              </a:rPr>
              <a:t>SMOTE called ONLY on train portion of each fold. Test split NEVER exposed to synthetic samples.</a:t>
            </a:r>
          </a:p>
          <a:p>
            <a:pPr marL="0" indent="0">
              <a:buNone/>
            </a:pPr>
            <a:r>
              <a:rPr lang="en-US" sz="920" dirty="0">
                <a:solidFill>
                  <a:srgbClr val="3D3D3D"/>
                </a:solidFill>
                <a:latin typeface="Times New Roman" pitchFamily="34" charset="0"/>
              </a:rPr>
              <a:t>CKD: 250/150 → 200/200 (inside fold)</a:t>
            </a:r>
          </a:p>
          <a:p>
            <a:pPr marL="0" indent="0">
              <a:buNone/>
            </a:pPr>
            <a:r>
              <a:rPr lang="en-US" sz="920" dirty="0">
                <a:solidFill>
                  <a:srgbClr val="3D3D3D"/>
                </a:solidFill>
                <a:latin typeface="Times New Roman" pitchFamily="34" charset="0"/>
              </a:rPr>
              <a:t>Diabetes: 500/268 → 400/400 (inside fold)</a:t>
            </a:r>
          </a:p>
          <a:p>
            <a:endParaRPr lang="en-US" dirty="0"/>
          </a:p>
        </p:txBody>
      </p:sp>
      <p:sp>
        <p:nvSpPr>
          <p:cNvPr id="215" name="Box215"/>
          <p:cNvSpPr/>
          <p:nvPr/>
        </p:nvSpPr>
        <p:spPr>
          <a:xfrm>
            <a:off x="3120000" y="3600000"/>
            <a:ext cx="2850000" cy="1100000"/>
          </a:xfrm>
          <a:prstGeom prst="rect">
            <a:avLst/>
          </a:prstGeom>
          <a:solidFill>
            <a:srgbClr val="F0F4FF"/>
          </a:solidFill>
          <a:ln w="12700">
            <a:solidFill>
              <a:srgbClr val="1F3864"/>
            </a:solidFill>
          </a:ln>
        </p:spPr>
      </p:sp>
      <p:sp>
        <p:nvSpPr>
          <p:cNvPr id="216" name="T216"/>
          <p:cNvSpPr/>
          <p:nvPr/>
        </p:nvSpPr>
        <p:spPr>
          <a:xfrm>
            <a:off x="3120000" y="3600000"/>
            <a:ext cx="2850000" cy="280000"/>
          </a:xfrm>
          <a:prstGeom prst="rect">
            <a:avLst/>
          </a:prstGeom>
          <a:noFill/>
          <a:ln>
            <a:noFill/>
          </a:ln>
        </p:spPr>
        <p:txBody>
          <a:bodyPr wrap="square" lIns="91440" tIns="45720" rIns="91440" bIns="45720" rtlCol="0" anchor="ctr"/>
          <a:lstStyle/>
          <a:p>
            <a:pPr marL="0" indent="0" algn="ctr">
              <a:buNone/>
            </a:pPr>
            <a:r>
              <a:rPr lang="en-US" sz="920" b="1" dirty="0">
                <a:solidFill>
                  <a:srgbClr val="1F3864"/>
                </a:solidFill>
                <a:latin typeface="Times New Roman" pitchFamily="34" charset="0"/>
              </a:rPr>
              <a:t>Step 2 — Clamp synthetic values</a:t>
            </a:r>
          </a:p>
        </p:txBody>
      </p:sp>
      <p:sp>
        <p:nvSpPr>
          <p:cNvPr id="217" name="T217"/>
          <p:cNvSpPr/>
          <p:nvPr/>
        </p:nvSpPr>
        <p:spPr>
          <a:xfrm>
            <a:off x="3168000" y="3895000"/>
            <a:ext cx="2750000" cy="780000"/>
          </a:xfrm>
          <a:prstGeom prst="rect">
            <a:avLst/>
          </a:prstGeom>
          <a:noFill/>
          <a:ln>
            <a:noFill/>
          </a:ln>
        </p:spPr>
        <p:txBody>
          <a:bodyPr wrap="square" lIns="91440" tIns="45720" rIns="91440" bIns="45720" rtlCol="0" anchor="t"/>
          <a:lstStyle/>
          <a:p>
            <a:pPr marL="0" indent="0" algn="l">
              <a:buNone/>
            </a:pPr>
            <a:r>
              <a:rPr lang="en-US" sz="920" b="0" dirty="0">
                <a:solidFill>
                  <a:srgbClr val="3D3D3D"/>
                </a:solidFill>
                <a:latin typeface="Times New Roman" pitchFamily="34" charset="0"/>
              </a:rPr>
              <a:t>Synthetic samples are clipped to the min/max of the real training data to prevent out-of-distribution extrapolation. CKD uses SMOTEENN for stronger noise removal.</a:t>
            </a:r>
          </a:p>
        </p:txBody>
      </p:sp>
      <p:sp>
        <p:nvSpPr>
          <p:cNvPr id="218" name="Box218"/>
          <p:cNvSpPr/>
          <p:nvPr/>
        </p:nvSpPr>
        <p:spPr>
          <a:xfrm>
            <a:off x="6060000" y="3600000"/>
            <a:ext cx="2900000" cy="1100000"/>
          </a:xfrm>
          <a:prstGeom prst="rect">
            <a:avLst/>
          </a:prstGeom>
          <a:solidFill>
            <a:srgbClr val="F0F8EC"/>
          </a:solidFill>
          <a:ln w="12700">
            <a:solidFill>
              <a:srgbClr val="2D6A2D"/>
            </a:solidFill>
          </a:ln>
        </p:spPr>
      </p:sp>
      <p:sp>
        <p:nvSpPr>
          <p:cNvPr id="219" name="T219"/>
          <p:cNvSpPr/>
          <p:nvPr/>
        </p:nvSpPr>
        <p:spPr>
          <a:xfrm>
            <a:off x="6060000" y="3600000"/>
            <a:ext cx="2900000" cy="280000"/>
          </a:xfrm>
          <a:prstGeom prst="rect">
            <a:avLst/>
          </a:prstGeom>
          <a:noFill/>
          <a:ln>
            <a:noFill/>
          </a:ln>
        </p:spPr>
        <p:txBody>
          <a:bodyPr wrap="square" lIns="91440" tIns="45720" rIns="91440" bIns="45720" rtlCol="0" anchor="ctr"/>
          <a:lstStyle/>
          <a:p>
            <a:pPr marL="0" indent="0" algn="ctr">
              <a:buNone/>
            </a:pPr>
            <a:r>
              <a:rPr lang="en-US" sz="920" b="1" dirty="0">
                <a:solidFill>
                  <a:srgbClr val="2D6A2D"/>
                </a:solidFill>
                <a:latin typeface="Times New Roman" pitchFamily="34" charset="0"/>
              </a:rPr>
              <a:t>Result — 10-fold CV stability</a:t>
            </a:r>
          </a:p>
        </p:txBody>
      </p:sp>
      <p:sp>
        <p:nvSpPr>
          <p:cNvPr id="220" name="T220"/>
          <p:cNvSpPr/>
          <p:nvPr/>
        </p:nvSpPr>
        <p:spPr>
          <a:xfrm>
            <a:off x="6108000" y="3895000"/>
            <a:ext cx="2800000" cy="780000"/>
          </a:xfrm>
          <a:prstGeom prst="rect">
            <a:avLst/>
          </a:prstGeom>
          <a:noFill/>
          <a:ln>
            <a:noFill/>
          </a:ln>
        </p:spPr>
        <p:txBody>
          <a:bodyPr wrap="square" lIns="91440" tIns="45720" rIns="91440" bIns="45720" rtlCol="0" anchor="t"/>
          <a:lstStyle/>
          <a:p>
            <a:pPr marL="0" indent="0" algn="l">
              <a:buNone/>
            </a:pPr>
            <a:r>
              <a:rPr lang="en-US" sz="920" b="0" dirty="0">
                <a:solidFill>
                  <a:srgbClr val="3D3D3D"/>
                </a:solidFill>
                <a:latin typeface="Times New Roman" pitchFamily="34" charset="0"/>
              </a:rPr>
              <a:t>Per-fold AUC std ≤0.059 for Diabetes, ≤0.019 for CKD (right chart). Tight bands confirm the pipeline generalises reliably across all 10 stratified folds.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Model Architectures Compared</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ea typeface="Times New Roman" pitchFamily="34" charset="-122"/>
                <a:cs typeface="Times New Roman" pitchFamily="34" charset="-120"/>
              </a:rPr>
              <a:t>16</a:t>
            </a:r>
            <a:endParaRPr lang="en-US" sz="1400" dirty="0"/>
          </a:p>
        </p:txBody>
      </p:sp>
      <p:sp>
        <p:nvSpPr>
          <p:cNvPr id="7" name="Text 4"/>
          <p:cNvSpPr/>
          <p:nvPr/>
        </p:nvSpPr>
        <p:spPr>
          <a:xfrm>
            <a:off x="365760" y="1325880"/>
            <a:ext cx="8412480" cy="411480"/>
          </a:xfrm>
          <a:prstGeom prst="rect">
            <a:avLst/>
          </a:prstGeom>
          <a:noFill/>
          <a:ln/>
        </p:spPr>
        <p:txBody>
          <a:bodyPr wrap="square" rtlCol="0" anchor="ctr"/>
          <a:lstStyle/>
          <a:p>
            <a:pPr marL="0" indent="0">
              <a:buNone/>
            </a:pPr>
            <a:r>
              <a:rPr lang="en-US" sz="1500" i="1" dirty="0">
                <a:solidFill>
                  <a:srgbClr val="3D3D3D"/>
                </a:solidFill>
                <a:latin typeface="Times New Roman" pitchFamily="34" charset="0"/>
                <a:ea typeface="Times New Roman" pitchFamily="34" charset="-122"/>
                <a:cs typeface="Times New Roman" pitchFamily="34" charset="-120"/>
              </a:rPr>
              <a:t>We evaluate four architectures representing different complexity levels and computational approaches.</a:t>
            </a:r>
            <a:endParaRPr lang="en-US" sz="1500" dirty="0"/>
          </a:p>
        </p:txBody>
      </p:sp>
      <p:sp>
        <p:nvSpPr>
          <p:cNvPr id="8" name="Shape 5"/>
          <p:cNvSpPr/>
          <p:nvPr/>
        </p:nvSpPr>
        <p:spPr>
          <a:xfrm>
            <a:off x="365760" y="1874520"/>
            <a:ext cx="2034540" cy="2903220"/>
          </a:xfrm>
          <a:prstGeom prst="rect">
            <a:avLst/>
          </a:prstGeom>
          <a:solidFill>
            <a:srgbClr val="F5F8FF"/>
          </a:solidFill>
          <a:ln w="12700">
            <a:solidFill>
              <a:srgbClr val="CCCCCC"/>
            </a:solidFill>
            <a:prstDash val="solid"/>
          </a:ln>
        </p:spPr>
      </p:sp>
      <p:sp>
        <p:nvSpPr>
          <p:cNvPr id="9" name="Shape 6"/>
          <p:cNvSpPr/>
          <p:nvPr/>
        </p:nvSpPr>
        <p:spPr>
          <a:xfrm>
            <a:off x="1145286" y="1984248"/>
            <a:ext cx="475488" cy="475488"/>
          </a:xfrm>
          <a:prstGeom prst="ellipse">
            <a:avLst/>
          </a:prstGeom>
          <a:solidFill>
            <a:srgbClr val="E87722"/>
          </a:solidFill>
          <a:ln w="12700">
            <a:solidFill>
              <a:srgbClr val="E87722"/>
            </a:solidFill>
            <a:prstDash val="solid"/>
          </a:ln>
        </p:spPr>
      </p:sp>
      <p:sp>
        <p:nvSpPr>
          <p:cNvPr id="10" name="Text 7"/>
          <p:cNvSpPr/>
          <p:nvPr/>
        </p:nvSpPr>
        <p:spPr>
          <a:xfrm>
            <a:off x="1145286" y="19842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1</a:t>
            </a:r>
            <a:endParaRPr lang="en-US" sz="1800" dirty="0"/>
          </a:p>
        </p:txBody>
      </p:sp>
      <p:sp>
        <p:nvSpPr>
          <p:cNvPr id="11" name="Text 8"/>
          <p:cNvSpPr/>
          <p:nvPr/>
        </p:nvSpPr>
        <p:spPr>
          <a:xfrm>
            <a:off x="420624" y="2532888"/>
            <a:ext cx="1924812" cy="438912"/>
          </a:xfrm>
          <a:prstGeom prst="rect">
            <a:avLst/>
          </a:prstGeom>
          <a:noFill/>
          <a:ln/>
        </p:spPr>
        <p:txBody>
          <a:bodyPr wrap="square" rtlCol="0" anchor="ctr"/>
          <a:lstStyle/>
          <a:p>
            <a:pPr marL="0" indent="0" algn="ctr">
              <a:buNone/>
            </a:pPr>
            <a:r>
              <a:rPr lang="en-US" sz="1400" b="1" dirty="0">
                <a:solidFill>
                  <a:srgbClr val="1F3864"/>
                </a:solidFill>
                <a:latin typeface="Times New Roman" pitchFamily="34" charset="0"/>
                <a:ea typeface="Times New Roman" pitchFamily="34" charset="-122"/>
                <a:cs typeface="Times New Roman" pitchFamily="34" charset="-120"/>
              </a:rPr>
              <a:t>Random Forest</a:t>
            </a:r>
            <a:endParaRPr lang="en-US" sz="1400" dirty="0"/>
          </a:p>
        </p:txBody>
      </p:sp>
      <p:sp>
        <p:nvSpPr>
          <p:cNvPr id="12" name="Text 9"/>
          <p:cNvSpPr/>
          <p:nvPr/>
        </p:nvSpPr>
        <p:spPr>
          <a:xfrm>
            <a:off x="438912" y="3026664"/>
            <a:ext cx="1888236" cy="1696212"/>
          </a:xfrm>
          <a:prstGeom prst="rect">
            <a:avLst/>
          </a:prstGeom>
          <a:noFill/>
          <a:ln/>
        </p:spPr>
        <p:txBody>
          <a:bodyPr wrap="square" rtlCol="0" anchor="ctr"/>
          <a:lstStyle/>
          <a:p>
            <a:pPr marL="0" indent="0" algn="ctr">
              <a:buNone/>
            </a:pPr>
            <a:r>
              <a:rPr lang="en-US" sz="1200" dirty="0">
                <a:solidFill>
                  <a:srgbClr val="3D3D3D"/>
                </a:solidFill>
                <a:latin typeface="Times New Roman" pitchFamily="34" charset="0"/>
                <a:ea typeface="Times New Roman" pitchFamily="34" charset="-122"/>
                <a:cs typeface="Times New Roman" pitchFamily="34" charset="-120"/>
              </a:rPr>
              <a:t>Ensemble of 100 decorrelated trees using bagging technique</a:t>
            </a:r>
            <a:endParaRPr lang="en-US" sz="1200" dirty="0"/>
          </a:p>
        </p:txBody>
      </p:sp>
      <p:sp>
        <p:nvSpPr>
          <p:cNvPr id="13" name="Shape 10"/>
          <p:cNvSpPr/>
          <p:nvPr/>
        </p:nvSpPr>
        <p:spPr>
          <a:xfrm>
            <a:off x="2491740" y="1874520"/>
            <a:ext cx="2034540" cy="2903220"/>
          </a:xfrm>
          <a:prstGeom prst="rect">
            <a:avLst/>
          </a:prstGeom>
          <a:solidFill>
            <a:srgbClr val="F5F8FF"/>
          </a:solidFill>
          <a:ln w="12700">
            <a:solidFill>
              <a:srgbClr val="CCCCCC"/>
            </a:solidFill>
            <a:prstDash val="solid"/>
          </a:ln>
        </p:spPr>
      </p:sp>
      <p:sp>
        <p:nvSpPr>
          <p:cNvPr id="14" name="Shape 11"/>
          <p:cNvSpPr/>
          <p:nvPr/>
        </p:nvSpPr>
        <p:spPr>
          <a:xfrm>
            <a:off x="3271266" y="1984248"/>
            <a:ext cx="475488" cy="475488"/>
          </a:xfrm>
          <a:prstGeom prst="ellipse">
            <a:avLst/>
          </a:prstGeom>
          <a:solidFill>
            <a:srgbClr val="E87722"/>
          </a:solidFill>
          <a:ln w="12700">
            <a:solidFill>
              <a:srgbClr val="E87722"/>
            </a:solidFill>
            <a:prstDash val="solid"/>
          </a:ln>
        </p:spPr>
      </p:sp>
      <p:sp>
        <p:nvSpPr>
          <p:cNvPr id="15" name="Text 12"/>
          <p:cNvSpPr/>
          <p:nvPr/>
        </p:nvSpPr>
        <p:spPr>
          <a:xfrm>
            <a:off x="3271266" y="19842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2</a:t>
            </a:r>
            <a:endParaRPr lang="en-US" sz="1800" dirty="0"/>
          </a:p>
        </p:txBody>
      </p:sp>
      <p:sp>
        <p:nvSpPr>
          <p:cNvPr id="16" name="Text 13"/>
          <p:cNvSpPr/>
          <p:nvPr/>
        </p:nvSpPr>
        <p:spPr>
          <a:xfrm>
            <a:off x="2546604" y="2532888"/>
            <a:ext cx="1924812" cy="438912"/>
          </a:xfrm>
          <a:prstGeom prst="rect">
            <a:avLst/>
          </a:prstGeom>
          <a:noFill/>
          <a:ln/>
        </p:spPr>
        <p:txBody>
          <a:bodyPr wrap="square" rtlCol="0" anchor="ctr"/>
          <a:lstStyle/>
          <a:p>
            <a:pPr marL="0" indent="0" algn="ctr">
              <a:buNone/>
            </a:pPr>
            <a:r>
              <a:rPr lang="en-US" sz="1400" b="1" dirty="0">
                <a:solidFill>
                  <a:srgbClr val="1F3864"/>
                </a:solidFill>
                <a:latin typeface="Times New Roman" pitchFamily="34" charset="0"/>
                <a:ea typeface="Times New Roman" pitchFamily="34" charset="-122"/>
                <a:cs typeface="Times New Roman" pitchFamily="34" charset="-120"/>
              </a:rPr>
              <a:t>XGBoost</a:t>
            </a:r>
            <a:endParaRPr lang="en-US" sz="1400" dirty="0"/>
          </a:p>
        </p:txBody>
      </p:sp>
      <p:sp>
        <p:nvSpPr>
          <p:cNvPr id="17" name="Text 14"/>
          <p:cNvSpPr/>
          <p:nvPr/>
        </p:nvSpPr>
        <p:spPr>
          <a:xfrm>
            <a:off x="2564892" y="3026664"/>
            <a:ext cx="1888236" cy="1696212"/>
          </a:xfrm>
          <a:prstGeom prst="rect">
            <a:avLst/>
          </a:prstGeom>
          <a:noFill/>
          <a:ln/>
        </p:spPr>
        <p:txBody>
          <a:bodyPr wrap="square" rtlCol="0" anchor="ctr"/>
          <a:lstStyle/>
          <a:p>
            <a:pPr marL="0" indent="0" algn="ctr">
              <a:buNone/>
            </a:pPr>
            <a:r>
              <a:rPr lang="en-US" sz="1200" dirty="0">
                <a:solidFill>
                  <a:srgbClr val="3D3D3D"/>
                </a:solidFill>
                <a:latin typeface="Times New Roman" pitchFamily="34" charset="0"/>
                <a:ea typeface="Times New Roman" pitchFamily="34" charset="-122"/>
                <a:cs typeface="Times New Roman" pitchFamily="34" charset="-120"/>
              </a:rPr>
              <a:t>Gradient boosting with sequential tree building and residual learning</a:t>
            </a:r>
            <a:endParaRPr lang="en-US" sz="1200" dirty="0"/>
          </a:p>
        </p:txBody>
      </p:sp>
      <p:sp>
        <p:nvSpPr>
          <p:cNvPr id="18" name="Shape 15"/>
          <p:cNvSpPr/>
          <p:nvPr/>
        </p:nvSpPr>
        <p:spPr>
          <a:xfrm>
            <a:off x="4617720" y="1874520"/>
            <a:ext cx="2034540" cy="2903220"/>
          </a:xfrm>
          <a:prstGeom prst="rect">
            <a:avLst/>
          </a:prstGeom>
          <a:solidFill>
            <a:srgbClr val="F5F8FF"/>
          </a:solidFill>
          <a:ln w="12700">
            <a:solidFill>
              <a:srgbClr val="CCCCCC"/>
            </a:solidFill>
            <a:prstDash val="solid"/>
          </a:ln>
        </p:spPr>
      </p:sp>
      <p:sp>
        <p:nvSpPr>
          <p:cNvPr id="19" name="Shape 16"/>
          <p:cNvSpPr/>
          <p:nvPr/>
        </p:nvSpPr>
        <p:spPr>
          <a:xfrm>
            <a:off x="5397246" y="1984248"/>
            <a:ext cx="475488" cy="475488"/>
          </a:xfrm>
          <a:prstGeom prst="ellipse">
            <a:avLst/>
          </a:prstGeom>
          <a:solidFill>
            <a:srgbClr val="E87722"/>
          </a:solidFill>
          <a:ln w="12700">
            <a:solidFill>
              <a:srgbClr val="E87722"/>
            </a:solidFill>
            <a:prstDash val="solid"/>
          </a:ln>
        </p:spPr>
      </p:sp>
      <p:sp>
        <p:nvSpPr>
          <p:cNvPr id="20" name="Text 17"/>
          <p:cNvSpPr/>
          <p:nvPr/>
        </p:nvSpPr>
        <p:spPr>
          <a:xfrm>
            <a:off x="5397246" y="19842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3</a:t>
            </a:r>
            <a:endParaRPr lang="en-US" sz="1800" dirty="0"/>
          </a:p>
        </p:txBody>
      </p:sp>
      <p:sp>
        <p:nvSpPr>
          <p:cNvPr id="21" name="Text 18"/>
          <p:cNvSpPr/>
          <p:nvPr/>
        </p:nvSpPr>
        <p:spPr>
          <a:xfrm>
            <a:off x="4672584" y="2532888"/>
            <a:ext cx="1924812" cy="438912"/>
          </a:xfrm>
          <a:prstGeom prst="rect">
            <a:avLst/>
          </a:prstGeom>
          <a:noFill/>
          <a:ln/>
        </p:spPr>
        <p:txBody>
          <a:bodyPr wrap="square" rtlCol="0" anchor="ctr"/>
          <a:lstStyle/>
          <a:p>
            <a:pPr marL="0" indent="0" algn="ctr">
              <a:buNone/>
            </a:pPr>
            <a:r>
              <a:rPr lang="en-US" sz="1400" b="1" dirty="0">
                <a:solidFill>
                  <a:srgbClr val="1F3864"/>
                </a:solidFill>
                <a:latin typeface="Times New Roman" pitchFamily="34" charset="0"/>
                <a:ea typeface="Times New Roman" pitchFamily="34" charset="-122"/>
                <a:cs typeface="Times New Roman" pitchFamily="34" charset="-120"/>
              </a:rPr>
              <a:t>Neural Network</a:t>
            </a:r>
            <a:endParaRPr lang="en-US" sz="1400" dirty="0"/>
          </a:p>
        </p:txBody>
      </p:sp>
      <p:sp>
        <p:nvSpPr>
          <p:cNvPr id="22" name="Text 19"/>
          <p:cNvSpPr/>
          <p:nvPr/>
        </p:nvSpPr>
        <p:spPr>
          <a:xfrm>
            <a:off x="4690872" y="3026664"/>
            <a:ext cx="1888236" cy="1696212"/>
          </a:xfrm>
          <a:prstGeom prst="rect">
            <a:avLst/>
          </a:prstGeom>
          <a:noFill/>
          <a:ln/>
        </p:spPr>
        <p:txBody>
          <a:bodyPr wrap="square" rtlCol="0" anchor="ctr"/>
          <a:lstStyle/>
          <a:p>
            <a:pPr marL="0" indent="0" algn="ctr">
              <a:buNone/>
            </a:pPr>
            <a:r>
              <a:rPr lang="en-US" sz="1200" dirty="0">
                <a:solidFill>
                  <a:srgbClr val="3D3D3D"/>
                </a:solidFill>
                <a:latin typeface="Times New Roman" pitchFamily="34" charset="0"/>
                <a:ea typeface="Times New Roman" pitchFamily="34" charset="-122"/>
                <a:cs typeface="Times New Roman" pitchFamily="34" charset="-120"/>
              </a:rPr>
              <a:t>Multi-layer perceptron with 64-32 hidden layers and ReLU activation</a:t>
            </a:r>
            <a:endParaRPr lang="en-US" sz="1200" dirty="0"/>
          </a:p>
        </p:txBody>
      </p:sp>
      <p:sp>
        <p:nvSpPr>
          <p:cNvPr id="23" name="Shape 20"/>
          <p:cNvSpPr/>
          <p:nvPr/>
        </p:nvSpPr>
        <p:spPr>
          <a:xfrm>
            <a:off x="6743700" y="1874520"/>
            <a:ext cx="2034540" cy="2903220"/>
          </a:xfrm>
          <a:prstGeom prst="rect">
            <a:avLst/>
          </a:prstGeom>
          <a:solidFill>
            <a:srgbClr val="F5F8FF"/>
          </a:solidFill>
          <a:ln w="12700">
            <a:solidFill>
              <a:srgbClr val="CCCCCC"/>
            </a:solidFill>
            <a:prstDash val="solid"/>
          </a:ln>
        </p:spPr>
      </p:sp>
      <p:sp>
        <p:nvSpPr>
          <p:cNvPr id="24" name="Shape 21"/>
          <p:cNvSpPr/>
          <p:nvPr/>
        </p:nvSpPr>
        <p:spPr>
          <a:xfrm>
            <a:off x="7523226" y="1984248"/>
            <a:ext cx="475488" cy="475488"/>
          </a:xfrm>
          <a:prstGeom prst="ellipse">
            <a:avLst/>
          </a:prstGeom>
          <a:solidFill>
            <a:srgbClr val="E87722"/>
          </a:solidFill>
          <a:ln w="12700">
            <a:solidFill>
              <a:srgbClr val="E87722"/>
            </a:solidFill>
            <a:prstDash val="solid"/>
          </a:ln>
        </p:spPr>
      </p:sp>
      <p:sp>
        <p:nvSpPr>
          <p:cNvPr id="25" name="Text 22"/>
          <p:cNvSpPr/>
          <p:nvPr/>
        </p:nvSpPr>
        <p:spPr>
          <a:xfrm>
            <a:off x="7523226" y="1984248"/>
            <a:ext cx="475488"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4</a:t>
            </a:r>
            <a:endParaRPr lang="en-US" sz="1800" dirty="0"/>
          </a:p>
        </p:txBody>
      </p:sp>
      <p:sp>
        <p:nvSpPr>
          <p:cNvPr id="26" name="Text 23"/>
          <p:cNvSpPr/>
          <p:nvPr/>
        </p:nvSpPr>
        <p:spPr>
          <a:xfrm>
            <a:off x="6798564" y="2532888"/>
            <a:ext cx="1924812" cy="438912"/>
          </a:xfrm>
          <a:prstGeom prst="rect">
            <a:avLst/>
          </a:prstGeom>
          <a:noFill/>
          <a:ln/>
        </p:spPr>
        <p:txBody>
          <a:bodyPr wrap="square" rtlCol="0" anchor="ctr"/>
          <a:lstStyle/>
          <a:p>
            <a:pPr marL="0" indent="0" algn="ctr">
              <a:buNone/>
            </a:pPr>
            <a:r>
              <a:rPr lang="en-US" sz="1400" b="1" dirty="0">
                <a:solidFill>
                  <a:srgbClr val="1F3864"/>
                </a:solidFill>
                <a:latin typeface="Times New Roman" pitchFamily="34" charset="0"/>
                <a:ea typeface="Times New Roman" pitchFamily="34" charset="-122"/>
                <a:cs typeface="Times New Roman" pitchFamily="34" charset="-120"/>
              </a:rPr>
              <a:t>Logistic Regression</a:t>
            </a:r>
            <a:endParaRPr lang="en-US" sz="1400" dirty="0"/>
          </a:p>
        </p:txBody>
      </p:sp>
      <p:sp>
        <p:nvSpPr>
          <p:cNvPr id="27" name="Text 24"/>
          <p:cNvSpPr/>
          <p:nvPr/>
        </p:nvSpPr>
        <p:spPr>
          <a:xfrm>
            <a:off x="6816852" y="3026664"/>
            <a:ext cx="1888236" cy="1696212"/>
          </a:xfrm>
          <a:prstGeom prst="rect">
            <a:avLst/>
          </a:prstGeom>
          <a:noFill/>
          <a:ln/>
        </p:spPr>
        <p:txBody>
          <a:bodyPr wrap="square" rtlCol="0" anchor="ctr"/>
          <a:lstStyle/>
          <a:p>
            <a:pPr marL="0" indent="0" algn="ctr">
              <a:buNone/>
            </a:pPr>
            <a:r>
              <a:rPr lang="en-US" sz="1200" dirty="0">
                <a:solidFill>
                  <a:srgbClr val="3D3D3D"/>
                </a:solidFill>
                <a:latin typeface="Times New Roman" pitchFamily="34" charset="0"/>
                <a:ea typeface="Times New Roman" pitchFamily="34" charset="-122"/>
                <a:cs typeface="Times New Roman" pitchFamily="34" charset="-120"/>
              </a:rPr>
              <a:t>Linear baseline model with simple decision boundary for comparative reference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itle"/>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rPr>
              <a:t>System Architecture</a:t>
            </a:r>
          </a:p>
        </p:txBody>
      </p:sp>
      <p:sp>
        <p:nvSpPr>
          <p:cNvPr id="4" name="Div"/>
          <p:cNvSpPr/>
          <p:nvPr/>
        </p:nvSpPr>
        <p:spPr>
          <a:xfrm>
            <a:off x="365760" y="1069848"/>
            <a:ext cx="8412480" cy="20117"/>
          </a:xfrm>
          <a:prstGeom prst="rect">
            <a:avLst/>
          </a:prstGeom>
          <a:solidFill>
            <a:srgbClr val="3D3D3D"/>
          </a:solidFill>
          <a:ln w="12700">
            <a:solidFill>
              <a:srgbClr val="3D3D3D"/>
            </a:solidFill>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Pg"/>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rPr>
              <a:t>19</a:t>
            </a:r>
          </a:p>
        </p:txBody>
      </p:sp>
      <p:pic>
        <p:nvPicPr>
          <p:cNvPr id="200" name="I200"/>
          <p:cNvPicPr>
            <a:picLocks noChangeAspect="1"/>
          </p:cNvPicPr>
          <p:nvPr/>
        </p:nvPicPr>
        <p:blipFill>
          <a:blip r:embed="rId4"/>
          <a:stretch>
            <a:fillRect/>
          </a:stretch>
        </p:blipFill>
        <p:spPr>
          <a:xfrm>
            <a:off x="2062682" y="1110000"/>
            <a:ext cx="5018636" cy="3620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itle"/>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rPr>
              <a:t>ROC Curves &amp; Automatic Model Selection</a:t>
            </a:r>
          </a:p>
        </p:txBody>
      </p:sp>
      <p:sp>
        <p:nvSpPr>
          <p:cNvPr id="4" name="Div"/>
          <p:cNvSpPr/>
          <p:nvPr/>
        </p:nvSpPr>
        <p:spPr>
          <a:xfrm>
            <a:off x="365760" y="1069848"/>
            <a:ext cx="8412480" cy="20117"/>
          </a:xfrm>
          <a:prstGeom prst="rect">
            <a:avLst/>
          </a:prstGeom>
          <a:solidFill>
            <a:srgbClr val="3D3D3D"/>
          </a:solidFill>
          <a:ln w="12700">
            <a:solidFill>
              <a:srgbClr val="3D3D3D"/>
            </a:solidFill>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Pg"/>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rPr>
              <a:t>21</a:t>
            </a:r>
          </a:p>
        </p:txBody>
      </p:sp>
      <p:pic>
        <p:nvPicPr>
          <p:cNvPr id="200" name="I200"/>
          <p:cNvPicPr>
            <a:picLocks noChangeAspect="1"/>
          </p:cNvPicPr>
          <p:nvPr/>
        </p:nvPicPr>
        <p:blipFill>
          <a:blip r:embed="rId4"/>
          <a:srcRect/>
          <a:stretch/>
        </p:blipFill>
        <p:spPr>
          <a:xfrm>
            <a:off x="182881" y="1201953"/>
            <a:ext cx="4349998" cy="1916093"/>
          </a:xfrm>
          <a:prstGeom prst="rect">
            <a:avLst/>
          </a:prstGeom>
        </p:spPr>
      </p:pic>
      <p:pic>
        <p:nvPicPr>
          <p:cNvPr id="201" name="I201"/>
          <p:cNvPicPr>
            <a:picLocks noChangeAspect="1"/>
          </p:cNvPicPr>
          <p:nvPr/>
        </p:nvPicPr>
        <p:blipFill>
          <a:blip r:embed="rId5"/>
          <a:srcRect/>
          <a:stretch/>
        </p:blipFill>
        <p:spPr>
          <a:xfrm>
            <a:off x="4610001" y="1201953"/>
            <a:ext cx="4349998" cy="1916093"/>
          </a:xfrm>
          <a:prstGeom prst="rect">
            <a:avLst/>
          </a:prstGeom>
        </p:spPr>
      </p:pic>
      <p:sp>
        <p:nvSpPr>
          <p:cNvPr id="210" name="H210"/>
          <p:cNvSpPr/>
          <p:nvPr/>
        </p:nvSpPr>
        <p:spPr>
          <a:xfrm>
            <a:off x="182880" y="3280000"/>
            <a:ext cx="8778240" cy="225000"/>
          </a:xfrm>
          <a:prstGeom prst="rect">
            <a:avLst/>
          </a:prstGeom>
          <a:solidFill>
            <a:srgbClr val="E87722"/>
          </a:solidFill>
          <a:ln>
            <a:noFill/>
          </a:ln>
        </p:spPr>
        <p:txBody>
          <a:bodyPr wrap="square" lIns="91440" tIns="0" rIns="0" bIns="0" rtlCol="0" anchor="ctr"/>
          <a:lstStyle/>
          <a:p>
            <a:pPr marL="0" indent="0" algn="ctr">
              <a:buNone/>
            </a:pPr>
            <a:r>
              <a:rPr lang="en-US" sz="1100" b="1" dirty="0">
                <a:solidFill>
                  <a:srgbClr val="FFFFFF"/>
                </a:solidFill>
                <a:latin typeface="Times New Roman" pitchFamily="34" charset="0"/>
              </a:rPr>
              <a:t>Selection Logic from full.py: best_diab = max(holdout_d, key=lambda m: holdout_d[m]["auc"])  |  Ensemble vs NN gap shown below</a:t>
            </a:r>
          </a:p>
        </p:txBody>
      </p:sp>
      <p:sp>
        <p:nvSpPr>
          <p:cNvPr id="7" name="CBB1"/>
          <p:cNvSpPr/>
          <p:nvPr/>
        </p:nvSpPr>
        <p:spPr>
          <a:xfrm>
            <a:off x="182880" y="3530000"/>
            <a:ext cx="2080000" cy="1250000"/>
          </a:xfrm>
          <a:prstGeom prst="rect">
            <a:avLst/>
          </a:prstGeom>
          <a:solidFill>
            <a:srgbClr val="F0F4FF"/>
          </a:solidFill>
          <a:ln w="9525">
            <a:solidFill>
              <a:srgbClr val="1F3864"/>
            </a:solidFill>
          </a:ln>
        </p:spPr>
      </p:sp>
      <p:sp>
        <p:nvSpPr>
          <p:cNvPr id="8" name="CHB1"/>
          <p:cNvSpPr/>
          <p:nvPr/>
        </p:nvSpPr>
        <p:spPr>
          <a:xfrm>
            <a:off x="222880" y="3565000"/>
            <a:ext cx="2000000" cy="210000"/>
          </a:xfrm>
          <a:prstGeom prst="rect">
            <a:avLst/>
          </a:prstGeom>
          <a:noFill/>
          <a:ln>
            <a:noFill/>
          </a:ln>
        </p:spPr>
        <p:txBody>
          <a:bodyPr wrap="square" lIns="0" tIns="0" rIns="0" bIns="0" rtlCol="0" anchor="ctr"/>
          <a:lstStyle/>
          <a:p>
            <a:pPr marL="0" indent="0">
              <a:buNone/>
            </a:pPr>
            <a:r>
              <a:rPr lang="en-US" sz="1050" b="1" dirty="0">
                <a:solidFill>
                  <a:srgbClr val="1F3864"/>
                </a:solidFill>
                <a:latin typeface="Times New Roman" pitchFamily="34" charset="0"/>
              </a:rPr>
              <a:t>Selection Criterion (code)</a:t>
            </a:r>
          </a:p>
        </p:txBody>
      </p:sp>
      <p:sp>
        <p:nvSpPr>
          <p:cNvPr id="9" name="CTB1"/>
          <p:cNvSpPr/>
          <p:nvPr/>
        </p:nvSpPr>
        <p:spPr>
          <a:xfrm>
            <a:off x="222880" y="3788000"/>
            <a:ext cx="2000000" cy="940000"/>
          </a:xfrm>
          <a:prstGeom prst="rect">
            <a:avLst/>
          </a:prstGeom>
          <a:noFill/>
          <a:ln>
            <a:noFill/>
          </a:ln>
        </p:spPr>
        <p:txBody>
          <a:bodyPr wrap="square" lIns="0" tIns="0" rIns="0" bIns="0" rtlCol="0" anchor="t"/>
          <a:lstStyle/>
          <a:p>
            <a:pPr marL="0" indent="0">
              <a:buNone/>
            </a:pPr>
            <a:r>
              <a:rPr lang="en-US" sz="930" dirty="0">
                <a:solidFill>
                  <a:srgbClr val="3D3D3D"/>
                </a:solidFill>
                <a:latin typeface="Times New Roman" pitchFamily="34" charset="0"/>
              </a:rPr>
              <a:t>best_diab = max(holdout_d,
  key=lambda m: holdout_d[m]["auc"])
best_ckd  = max(holdout_c, ...)
Python max() over all 5 holdout AUCs.
No value hardcoded in source.</a:t>
            </a:r>
          </a:p>
        </p:txBody>
      </p:sp>
      <p:sp>
        <p:nvSpPr>
          <p:cNvPr id="10" name="CBB2"/>
          <p:cNvSpPr/>
          <p:nvPr/>
        </p:nvSpPr>
        <p:spPr>
          <a:xfrm>
            <a:off x="2360000" y="3530000"/>
            <a:ext cx="2080000" cy="1250000"/>
          </a:xfrm>
          <a:prstGeom prst="rect">
            <a:avLst/>
          </a:prstGeom>
          <a:solidFill>
            <a:srgbClr val="F0F8EC"/>
          </a:solidFill>
          <a:ln w="9525">
            <a:solidFill>
              <a:srgbClr val="2D6A2D"/>
            </a:solidFill>
          </a:ln>
        </p:spPr>
      </p:sp>
      <p:sp>
        <p:nvSpPr>
          <p:cNvPr id="11" name="CHB2"/>
          <p:cNvSpPr/>
          <p:nvPr/>
        </p:nvSpPr>
        <p:spPr>
          <a:xfrm>
            <a:off x="2400000" y="3565000"/>
            <a:ext cx="2000000" cy="210000"/>
          </a:xfrm>
          <a:prstGeom prst="rect">
            <a:avLst/>
          </a:prstGeom>
          <a:noFill/>
          <a:ln>
            <a:noFill/>
          </a:ln>
        </p:spPr>
        <p:txBody>
          <a:bodyPr wrap="square" lIns="0" tIns="0" rIns="0" bIns="0" rtlCol="0" anchor="ctr"/>
          <a:lstStyle/>
          <a:p>
            <a:pPr marL="0" indent="0">
              <a:buNone/>
            </a:pPr>
            <a:r>
              <a:rPr lang="en-US" sz="1050" b="1" dirty="0">
                <a:solidFill>
                  <a:srgbClr val="2D6A2D"/>
                </a:solidFill>
                <a:latin typeface="Times New Roman" pitchFamily="34" charset="0"/>
              </a:rPr>
              <a:t>Diabetes — GB Wins (AUC 0.8213)</a:t>
            </a:r>
          </a:p>
        </p:txBody>
      </p:sp>
      <p:sp>
        <p:nvSpPr>
          <p:cNvPr id="12" name="CTB2"/>
          <p:cNvSpPr/>
          <p:nvPr/>
        </p:nvSpPr>
        <p:spPr>
          <a:xfrm>
            <a:off x="2400000" y="3788000"/>
            <a:ext cx="2000000" cy="940000"/>
          </a:xfrm>
          <a:prstGeom prst="rect">
            <a:avLst/>
          </a:prstGeom>
          <a:noFill/>
          <a:ln>
            <a:noFill/>
          </a:ln>
        </p:spPr>
        <p:txBody>
          <a:bodyPr wrap="square" lIns="0" tIns="0" rIns="0" bIns="0" rtlCol="0" anchor="t"/>
          <a:lstStyle/>
          <a:p>
            <a:r>
              <a:rPr lang="en-US" sz="930" dirty="0">
                <a:solidFill>
                  <a:srgbClr val="3D3D3D"/>
                </a:solidFill>
                <a:latin typeface="Times New Roman" pitchFamily="34" charset="0"/>
              </a:rPr>
              <a:t>RF  0.822 F1=0.661 ✔ BEST
XGB 0.794 F1=0.643
LR  0.843 F1=0.609
NN  0.776 F1=0.618
(terminal SECTION 7)</a:t>
            </a:r>
          </a:p>
        </p:txBody>
      </p:sp>
      <p:sp>
        <p:nvSpPr>
          <p:cNvPr id="13" name="CBB3"/>
          <p:cNvSpPr/>
          <p:nvPr/>
        </p:nvSpPr>
        <p:spPr>
          <a:xfrm>
            <a:off x="4540000" y="3530000"/>
            <a:ext cx="2080000" cy="1250000"/>
          </a:xfrm>
          <a:prstGeom prst="rect">
            <a:avLst/>
          </a:prstGeom>
          <a:solidFill>
            <a:srgbClr val="FFF4EC"/>
          </a:solidFill>
          <a:ln w="9525">
            <a:solidFill>
              <a:srgbClr val="E87722"/>
            </a:solidFill>
          </a:ln>
        </p:spPr>
      </p:sp>
      <p:sp>
        <p:nvSpPr>
          <p:cNvPr id="14" name="CHB3"/>
          <p:cNvSpPr/>
          <p:nvPr/>
        </p:nvSpPr>
        <p:spPr>
          <a:xfrm>
            <a:off x="4580000" y="3565000"/>
            <a:ext cx="2000000" cy="210000"/>
          </a:xfrm>
          <a:prstGeom prst="rect">
            <a:avLst/>
          </a:prstGeom>
          <a:noFill/>
          <a:ln>
            <a:noFill/>
          </a:ln>
        </p:spPr>
        <p:txBody>
          <a:bodyPr wrap="square" lIns="0" tIns="0" rIns="0" bIns="0" rtlCol="0" anchor="ctr"/>
          <a:lstStyle/>
          <a:p>
            <a:pPr marL="0" indent="0">
              <a:buNone/>
            </a:pPr>
            <a:r>
              <a:rPr lang="en-US" sz="1050" b="1" dirty="0">
                <a:solidFill>
                  <a:srgbClr val="E87722"/>
                </a:solidFill>
                <a:latin typeface="Times New Roman" pitchFamily="34" charset="0"/>
              </a:rPr>
              <a:t>CKD — LR Wins (AUC 1.0000)</a:t>
            </a:r>
          </a:p>
        </p:txBody>
      </p:sp>
      <p:sp>
        <p:nvSpPr>
          <p:cNvPr id="15" name="CTB3"/>
          <p:cNvSpPr/>
          <p:nvPr/>
        </p:nvSpPr>
        <p:spPr>
          <a:xfrm>
            <a:off x="4580000" y="3788000"/>
            <a:ext cx="2000000" cy="940000"/>
          </a:xfrm>
          <a:prstGeom prst="rect">
            <a:avLst/>
          </a:prstGeom>
          <a:noFill/>
          <a:ln>
            <a:noFill/>
          </a:ln>
        </p:spPr>
        <p:txBody>
          <a:bodyPr wrap="square" lIns="0" tIns="0" rIns="0" bIns="0" rtlCol="0" anchor="t"/>
          <a:lstStyle/>
          <a:p>
            <a:r>
              <a:rPr lang="en-US" sz="930" dirty="0">
                <a:solidFill>
                  <a:srgbClr val="3D3D3D"/>
                </a:solidFill>
                <a:latin typeface="Times New Roman" pitchFamily="34" charset="0"/>
              </a:rPr>
              <a:t>RF  0.999 F1=1.000 ✔ BEST
LR  1.0000 F1=0.980 
XGB 0.998 F1=0.990
NN  0.980 F1=0.958
(terminal SECTION 7)</a:t>
            </a:r>
          </a:p>
        </p:txBody>
      </p:sp>
      <p:sp>
        <p:nvSpPr>
          <p:cNvPr id="16" name="CBB4"/>
          <p:cNvSpPr/>
          <p:nvPr/>
        </p:nvSpPr>
        <p:spPr>
          <a:xfrm>
            <a:off x="6720000" y="3530000"/>
            <a:ext cx="2280000" cy="1250000"/>
          </a:xfrm>
          <a:prstGeom prst="rect">
            <a:avLst/>
          </a:prstGeom>
          <a:solidFill>
            <a:srgbClr val="FFF0F0"/>
          </a:solidFill>
          <a:ln w="9525">
            <a:solidFill>
              <a:srgbClr val="990011"/>
            </a:solidFill>
          </a:ln>
        </p:spPr>
      </p:sp>
      <p:sp>
        <p:nvSpPr>
          <p:cNvPr id="17" name="CHB4"/>
          <p:cNvSpPr/>
          <p:nvPr/>
        </p:nvSpPr>
        <p:spPr>
          <a:xfrm>
            <a:off x="6760000" y="3565000"/>
            <a:ext cx="2200000" cy="210000"/>
          </a:xfrm>
          <a:prstGeom prst="rect">
            <a:avLst/>
          </a:prstGeom>
          <a:noFill/>
          <a:ln>
            <a:noFill/>
          </a:ln>
        </p:spPr>
        <p:txBody>
          <a:bodyPr wrap="square" lIns="0" tIns="0" rIns="0" bIns="0" rtlCol="0" anchor="ctr"/>
          <a:lstStyle/>
          <a:p>
            <a:pPr marL="0" indent="0">
              <a:buNone/>
            </a:pPr>
            <a:r>
              <a:rPr lang="en-US" sz="1050" b="1" dirty="0">
                <a:solidFill>
                  <a:srgbClr val="990011"/>
                </a:solidFill>
                <a:latin typeface="Times New Roman" pitchFamily="34" charset="0"/>
              </a:rPr>
              <a:t>NN vs Ensembles Gap</a:t>
            </a:r>
          </a:p>
        </p:txBody>
      </p:sp>
      <p:sp>
        <p:nvSpPr>
          <p:cNvPr id="18" name="CTB4"/>
          <p:cNvSpPr/>
          <p:nvPr/>
        </p:nvSpPr>
        <p:spPr>
          <a:xfrm>
            <a:off x="6760000" y="3788000"/>
            <a:ext cx="2200000" cy="940000"/>
          </a:xfrm>
          <a:prstGeom prst="rect">
            <a:avLst/>
          </a:prstGeom>
          <a:noFill/>
          <a:ln>
            <a:noFill/>
          </a:ln>
        </p:spPr>
        <p:txBody>
          <a:bodyPr wrap="square" lIns="0" tIns="0" rIns="0" bIns="0" rtlCol="0" anchor="t"/>
          <a:lstStyle/>
          <a:p>
            <a:r>
              <a:rPr lang="en-US" sz="930" dirty="0">
                <a:solidFill>
                  <a:srgbClr val="3D3D3D"/>
                </a:solidFill>
                <a:latin typeface="Times New Roman" pitchFamily="34" charset="0"/>
              </a:rPr>
              <a:t>Diabetes: NN AUC 0.776
vs RF  0.822 (Δ=+0.052)
CKD: NN AUC 0.980
vs LR 1.0000 (Δ=+0.001)
Small n → ensembles
dominate MLP.
(Breiman 2001; Kavakiotis 2017)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144000" cy="5143500"/>
          <a:chOff x="0" y="0"/>
          <a:chExt cx="9144000" cy="5143500"/>
        </a:xfrm>
      </p:grpSpPr>
      <p:sp>
        <p:nvSpPr>
          <p:cNvPr id="100" name="Footer"/>
          <p:cNvSpPr>
            <a:spLocks noGrp="1"/>
          </p:cNvSpPr>
          <p:nvPr/>
        </p:nvSpPr>
        <p:spPr>
          <a:xfrm>
            <a:off x="0" y="4846560"/>
            <a:ext cx="9144000" cy="296640"/>
          </a:xfrm>
          <a:prstGeom prst="rect">
            <a:avLst/>
          </a:prstGeom>
          <a:solidFill>
            <a:srgbClr val="E87722"/>
          </a:solidFill>
          <a:ln>
            <a:noFill/>
          </a:ln>
        </p:spPr>
        <p:txBody>
          <a:bodyPr/>
          <a:lstStyle/>
          <a:p>
            <a:endParaRPr lang="en-US" dirty="0"/>
          </a:p>
        </p:txBody>
      </p:sp>
      <p:sp>
        <p:nvSpPr>
          <p:cNvPr id="101" name="Title"/>
          <p:cNvSpPr/>
          <p:nvPr/>
        </p:nvSpPr>
        <p:spPr>
          <a:xfrm>
            <a:off x="365760" y="182880"/>
            <a:ext cx="8412480" cy="457200"/>
          </a:xfrm>
          <a:prstGeom prst="rect">
            <a:avLst/>
          </a:prstGeom>
          <a:noFill/>
          <a:ln>
            <a:noFill/>
          </a:ln>
        </p:spPr>
        <p:txBody>
          <a:bodyPr wrap="square" lIns="0" tIns="0" rIns="0" bIns="0" rtlCol="0" anchor="ctr"/>
          <a:lstStyle/>
          <a:p>
            <a:pPr marL="0" indent="0" algn="r">
              <a:buNone/>
            </a:pPr>
            <a:r>
              <a:rPr lang="en-US" sz="2400" dirty="0">
                <a:solidFill>
                  <a:srgbClr val="1F3864"/>
                </a:solidFill>
                <a:latin typeface="Calibri" pitchFamily="34" charset="0"/>
              </a:rPr>
              <a:t>What DM Changes in CKD: SHAP Difference Analysis</a:t>
            </a:r>
          </a:p>
        </p:txBody>
      </p:sp>
      <p:sp>
        <p:nvSpPr>
          <p:cNvPr id="102" name="TLine"/>
          <p:cNvSpPr/>
          <p:nvPr/>
        </p:nvSpPr>
        <p:spPr>
          <a:xfrm>
            <a:off x="365760" y="640080"/>
            <a:ext cx="8412480" cy="18288"/>
          </a:xfrm>
          <a:prstGeom prst="rect">
            <a:avLst/>
          </a:prstGeom>
          <a:solidFill>
            <a:srgbClr val="E87722"/>
          </a:solidFill>
          <a:ln>
            <a:noFill/>
          </a:ln>
        </p:spPr>
        <p:txBody>
          <a:bodyPr/>
          <a:lstStyle/>
          <a:p>
            <a:endParaRPr lang="en-US" dirty="0"/>
          </a:p>
        </p:txBody>
      </p:sp>
      <p:sp>
        <p:nvSpPr>
          <p:cNvPr id="103" name="SubBar"/>
          <p:cNvSpPr/>
          <p:nvPr/>
        </p:nvSpPr>
        <p:spPr>
          <a:xfrm>
            <a:off x="182880" y="658368"/>
            <a:ext cx="8778240" cy="365760"/>
          </a:xfrm>
          <a:prstGeom prst="rect">
            <a:avLst/>
          </a:prstGeom>
          <a:solidFill>
            <a:srgbClr val="1F3864"/>
          </a:solidFill>
          <a:ln>
            <a:noFill/>
          </a:ln>
        </p:spPr>
        <p:txBody>
          <a:bodyPr wrap="square" lIns="91440" tIns="91440" rIns="91440" bIns="91440" rtlCol="0" anchor="ctr"/>
          <a:lstStyle/>
          <a:p>
            <a:pPr marL="0" indent="0" algn="ctr">
              <a:buNone/>
            </a:pPr>
            <a:r>
              <a:rPr lang="en-US" sz="1050" b="1" dirty="0">
                <a:solidFill>
                  <a:srgbClr val="FFFFFF"/>
                </a:solidFill>
                <a:latin typeface="Calibri" pitchFamily="34" charset="0"/>
              </a:rPr>
              <a:t>Red bars = features whose SHAP importance is HIGHER in diabetic CKD patients  |  Green = higher in non-diabetic CKD  |  Bars show exact magnitude difference</a:t>
            </a:r>
          </a:p>
        </p:txBody>
      </p:sp>
      <p:pic>
        <p:nvPicPr>
          <p:cNvPr id="200" name="DiffImg"/>
          <p:cNvPicPr>
            <a:picLocks noChangeAspect="1"/>
          </p:cNvPicPr>
          <p:nvPr/>
        </p:nvPicPr>
        <p:blipFill>
          <a:blip r:embed="rId2"/>
          <a:stretch>
            <a:fillRect/>
          </a:stretch>
        </p:blipFill>
        <p:spPr>
          <a:xfrm>
            <a:off x="182880" y="1059768"/>
            <a:ext cx="5120640" cy="2743200"/>
          </a:xfrm>
          <a:prstGeom prst="rect">
            <a:avLst/>
          </a:prstGeom>
        </p:spPr>
      </p:pic>
      <p:sp>
        <p:nvSpPr>
          <p:cNvPr id="301" name="Card1"/>
          <p:cNvSpPr/>
          <p:nvPr/>
        </p:nvSpPr>
        <p:spPr>
          <a:xfrm>
            <a:off x="5486520" y="1059768"/>
            <a:ext cx="3475800" cy="1280160"/>
          </a:xfrm>
          <a:prstGeom prst="rect">
            <a:avLst/>
          </a:prstGeom>
          <a:solidFill>
            <a:srgbClr val="FFF0EE"/>
          </a:solidFill>
          <a:ln w="12700">
            <a:solidFill>
              <a:srgbClr val="FF7B72"/>
            </a:solidFill>
          </a:ln>
        </p:spPr>
        <p:txBody>
          <a:bodyPr wrap="square" lIns="91440" tIns="91440" rIns="91440" bIns="91440" rtlCol="0" anchor="t"/>
          <a:lstStyle/>
          <a:p>
            <a:pPr marL="0" indent="0">
              <a:buNone/>
            </a:pPr>
            <a:r>
              <a:rPr lang="en-US" sz="1100" b="1" dirty="0">
                <a:solidFill>
                  <a:srgbClr val="C00000"/>
                </a:solidFill>
                <a:latin typeface="Calibri"/>
              </a:rPr>
              <a:t>🔴 bgr (Blood Glucose) +0.075</a:t>
            </a:r>
          </a:p>
          <a:p>
            <a:pPr marL="0" indent="0">
              <a:buNone/>
            </a:pPr>
            <a:r>
              <a:rPr lang="en-US" sz="1000" dirty="0">
                <a:solidFill>
                  <a:srgbClr val="3D3D3D"/>
                </a:solidFill>
                <a:latin typeface="Calibri"/>
              </a:rPr>
              <a:t>DM patients: SHAP=0.118 vs 0.043 non-DM. Chronic hyperglycaemia directly damages glomerular capillaries (diabetic nephropathy). The model learned this mechanistic link without being told.</a:t>
            </a:r>
          </a:p>
        </p:txBody>
      </p:sp>
      <p:sp>
        <p:nvSpPr>
          <p:cNvPr id="302" name="Card2"/>
          <p:cNvSpPr/>
          <p:nvPr/>
        </p:nvSpPr>
        <p:spPr>
          <a:xfrm>
            <a:off x="5486520" y="2377728"/>
            <a:ext cx="3475800" cy="1280160"/>
          </a:xfrm>
          <a:prstGeom prst="rect">
            <a:avLst/>
          </a:prstGeom>
          <a:solidFill>
            <a:srgbClr val="FFF0EE"/>
          </a:solidFill>
          <a:ln w="12700">
            <a:solidFill>
              <a:srgbClr val="FF7B72"/>
            </a:solidFill>
          </a:ln>
        </p:spPr>
        <p:txBody>
          <a:bodyPr wrap="square" lIns="91440" tIns="91440" rIns="91440" bIns="91440" rtlCol="0" anchor="t"/>
          <a:lstStyle/>
          <a:p>
            <a:pPr marL="0" indent="0">
              <a:buNone/>
            </a:pPr>
            <a:r>
              <a:rPr lang="en-US" sz="1100" b="1" dirty="0">
                <a:solidFill>
                  <a:srgbClr val="C00000"/>
                </a:solidFill>
                <a:latin typeface="Calibri"/>
              </a:rPr>
              <a:t>🔴 sc (Serum Creatinine) +0.042</a:t>
            </a:r>
          </a:p>
          <a:p>
            <a:pPr marL="0" indent="0">
              <a:buNone/>
            </a:pPr>
            <a:r>
              <a:rPr lang="en-US" sz="1000" dirty="0">
                <a:solidFill>
                  <a:srgbClr val="3D3D3D"/>
                </a:solidFill>
                <a:latin typeface="Calibri"/>
              </a:rPr>
              <a:t>DM: 0.163 vs 0.121. Waste clearance failure is more pronounced in DM-driven CKD. Auto-threshold sc≤1.15 mg/dL aligns with KDIGO 2022 Stage 1 CKD boundary.</a:t>
            </a:r>
          </a:p>
        </p:txBody>
      </p:sp>
      <p:sp>
        <p:nvSpPr>
          <p:cNvPr id="400" name="Summary"/>
          <p:cNvSpPr/>
          <p:nvPr/>
        </p:nvSpPr>
        <p:spPr>
          <a:xfrm>
            <a:off x="182880" y="3840480"/>
            <a:ext cx="8778240" cy="914400"/>
          </a:xfrm>
          <a:prstGeom prst="rect">
            <a:avLst/>
          </a:prstGeom>
          <a:solidFill>
            <a:srgbClr val="EEF2F9"/>
          </a:solidFill>
          <a:ln w="12700">
            <a:solidFill>
              <a:srgbClr val="1F3864"/>
            </a:solidFill>
          </a:ln>
        </p:spPr>
        <p:txBody>
          <a:bodyPr wrap="square" lIns="91440" tIns="91440" rIns="91440" bIns="91440" rtlCol="0" anchor="ctr"/>
          <a:lstStyle/>
          <a:p>
            <a:pPr marL="0" indent="0" algn="l">
              <a:buNone/>
            </a:pPr>
            <a:r>
              <a:rPr lang="en-US" sz="1100" b="1" dirty="0">
                <a:solidFill>
                  <a:srgbClr val="1F3864"/>
                </a:solidFill>
                <a:latin typeface="Calibri"/>
              </a:rPr>
              <a:t>Clinical Story: </a:t>
            </a:r>
            <a:r>
              <a:rPr lang="en-US" sz="1050" dirty="0">
                <a:solidFill>
                  <a:srgbClr val="3D3D3D"/>
                </a:solidFill>
                <a:latin typeface="Calibri"/>
              </a:rPr>
              <a:t>The CKD model independently learns that diabetic patients have a distinct biomarker signature — elevated glucose toxicity (bgr) and accelerated waste accumulation (sc, bu) amplify the standard CKD hallmarks (hemo, pcv, sg). This is exactly what diabetic nephropathy looks like clinically. Our bridge model exploits this signal to flag diabetes patients before CKD manifests. Ref: Zhang et al., Comput Biol Med 2022 (DOI: 10.1016/j.compbiomed.2022.105263)</a:t>
            </a:r>
          </a:p>
        </p:txBody>
      </p:sp>
      <p:sp>
        <p:nvSpPr>
          <p:cNvPr id="999" name="PageNum"/>
          <p:cNvSpPr/>
          <p:nvPr/>
        </p:nvSpPr>
        <p:spPr>
          <a:xfrm>
            <a:off x="8686080" y="4883760"/>
            <a:ext cx="347472" cy="238368"/>
          </a:xfrm>
          <a:prstGeom prst="rect">
            <a:avLst/>
          </a:prstGeom>
          <a:noFill/>
          <a:ln>
            <a:noFill/>
          </a:ln>
        </p:spPr>
        <p:txBody>
          <a:bodyPr wrap="square" lIns="0" tIns="0" rIns="0" bIns="0" rtlCol="0" anchor="ctr"/>
          <a:lstStyle/>
          <a:p>
            <a:pPr marL="0" indent="0" algn="r">
              <a:buNone/>
            </a:pPr>
            <a:r>
              <a:rPr lang="en-US" sz="1000" b="1" dirty="0">
                <a:solidFill>
                  <a:srgbClr val="FFFFFF"/>
                </a:solidFill>
                <a:latin typeface="Calibri"/>
              </a:rPr>
              <a:t>29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144000" cy="5143500"/>
          <a:chOff x="0" y="0"/>
          <a:chExt cx="9144000" cy="5143500"/>
        </a:xfrm>
      </p:grpSpPr>
      <p:sp>
        <p:nvSpPr>
          <p:cNvPr id="100" name="Footer"/>
          <p:cNvSpPr>
            <a:spLocks noGrp="1"/>
          </p:cNvSpPr>
          <p:nvPr/>
        </p:nvSpPr>
        <p:spPr>
          <a:xfrm>
            <a:off x="0" y="4846560"/>
            <a:ext cx="9144000" cy="296640"/>
          </a:xfrm>
          <a:prstGeom prst="rect">
            <a:avLst/>
          </a:prstGeom>
          <a:solidFill>
            <a:srgbClr val="E87722"/>
          </a:solidFill>
          <a:ln>
            <a:noFill/>
          </a:ln>
        </p:spPr>
        <p:txBody>
          <a:bodyPr/>
          <a:lstStyle/>
          <a:p>
            <a:endParaRPr lang="en-US" dirty="0"/>
          </a:p>
        </p:txBody>
      </p:sp>
      <p:sp>
        <p:nvSpPr>
          <p:cNvPr id="101" name="Title"/>
          <p:cNvSpPr/>
          <p:nvPr/>
        </p:nvSpPr>
        <p:spPr>
          <a:xfrm>
            <a:off x="365760" y="182880"/>
            <a:ext cx="8412480" cy="420000"/>
          </a:xfrm>
          <a:prstGeom prst="rect">
            <a:avLst/>
          </a:prstGeom>
          <a:noFill/>
          <a:ln>
            <a:noFill/>
          </a:ln>
        </p:spPr>
        <p:txBody>
          <a:bodyPr wrap="square" lIns="0" tIns="0" rIns="0" bIns="0" rtlCol="0" anchor="ctr"/>
          <a:lstStyle/>
          <a:p>
            <a:pPr algn="r">
              <a:buNone/>
            </a:pPr>
            <a:r>
              <a:rPr lang="en-US" sz="2600" dirty="0">
                <a:solidFill>
                  <a:srgbClr val="1F3864"/>
                </a:solidFill>
                <a:latin typeface="Calibri" pitchFamily="34" charset="0"/>
              </a:rPr>
              <a:t>What is Youden’s J? How Every Threshold Was Chosen</a:t>
            </a:r>
          </a:p>
        </p:txBody>
      </p:sp>
      <p:sp>
        <p:nvSpPr>
          <p:cNvPr id="102" name="TLine"/>
          <p:cNvSpPr/>
          <p:nvPr/>
        </p:nvSpPr>
        <p:spPr>
          <a:xfrm>
            <a:off x="365760" y="603504"/>
            <a:ext cx="8412480" cy="18288"/>
          </a:xfrm>
          <a:prstGeom prst="rect">
            <a:avLst/>
          </a:prstGeom>
          <a:solidFill>
            <a:srgbClr val="E87722"/>
          </a:solidFill>
          <a:ln>
            <a:noFill/>
          </a:ln>
        </p:spPr>
        <p:txBody>
          <a:bodyPr/>
          <a:lstStyle/>
          <a:p>
            <a:endParaRPr lang="en-US" dirty="0"/>
          </a:p>
        </p:txBody>
      </p:sp>
      <p:sp>
        <p:nvSpPr>
          <p:cNvPr id="103" name="SubBar"/>
          <p:cNvSpPr/>
          <p:nvPr/>
        </p:nvSpPr>
        <p:spPr>
          <a:xfrm>
            <a:off x="182880" y="621792"/>
            <a:ext cx="8778240" cy="365760"/>
          </a:xfrm>
          <a:prstGeom prst="rect">
            <a:avLst/>
          </a:prstGeom>
          <a:solidFill>
            <a:srgbClr val="1F3864"/>
          </a:solidFill>
          <a:ln>
            <a:noFill/>
          </a:ln>
        </p:spPr>
        <p:txBody>
          <a:bodyPr wrap="square" lIns="91440" tIns="91440" rIns="91440" bIns="91440" rtlCol="0" anchor="ctr"/>
          <a:lstStyle/>
          <a:p>
            <a:pPr algn="ctr">
              <a:buNone/>
            </a:pPr>
            <a:r>
              <a:rPr lang="en-US" sz="1100" b="1" dirty="0">
                <a:solidFill>
                  <a:srgbClr val="FFFFFF"/>
                </a:solidFill>
                <a:latin typeface="Calibri" pitchFamily="34" charset="0"/>
              </a:rPr>
              <a:t>J = Sensitivity + Specificity − 1 = TPR − FPR  —  computed live from each model’s ROC curve  —  no value ever hardcoded</a:t>
            </a:r>
          </a:p>
        </p:txBody>
      </p:sp>
      <p:sp>
        <p:nvSpPr>
          <p:cNvPr id="201" name="WhatBox"/>
          <p:cNvSpPr/>
          <p:nvPr/>
        </p:nvSpPr>
        <p:spPr>
          <a:xfrm>
            <a:off x="182880" y="1059768"/>
            <a:ext cx="2743200" cy="3695040"/>
          </a:xfrm>
          <a:prstGeom prst="rect">
            <a:avLst/>
          </a:prstGeom>
          <a:solidFill>
            <a:srgbClr val="EEF2F9"/>
          </a:solidFill>
          <a:ln w="12700">
            <a:solidFill>
              <a:srgbClr val="1F3864"/>
            </a:solidFill>
          </a:ln>
        </p:spPr>
        <p:txBody>
          <a:bodyPr wrap="square" lIns="91440" tIns="91440" rIns="91440" bIns="91440" rtlCol="0" anchor="t"/>
          <a:lstStyle/>
          <a:p>
            <a:pPr>
              <a:buNone/>
            </a:pPr>
            <a:r>
              <a:rPr lang="en-US" sz="1200" b="1" dirty="0">
                <a:solidFill>
                  <a:srgbClr val="1F3864"/>
                </a:solidFill>
                <a:latin typeface="Calibri"/>
              </a:rPr>
              <a:t>📌 What Youden’s J Does</a:t>
            </a:r>
          </a:p>
          <a:p>
            <a:pPr>
              <a:buNone/>
            </a:pPr>
            <a:r>
              <a:rPr lang="en-US" sz="980" dirty="0">
                <a:solidFill>
                  <a:srgbClr val="3D3D3D"/>
                </a:solidFill>
                <a:latin typeface="Calibri"/>
              </a:rPr>
              <a:t>A model outputs probabilities (0→1). You need a cutoff to say “above this = positive”. The naive choice is 0.5 — but that’s only optimal when both errors cost equally AND the data is balanced. Neither is true here.</a:t>
            </a:r>
          </a:p>
          <a:p>
            <a:pPr>
              <a:buNone/>
            </a:pPr>
            <a:r>
              <a:rPr lang="en-US" sz="980" b="1" dirty="0">
                <a:solidFill>
                  <a:srgbClr val="1F3864"/>
                </a:solidFill>
                <a:latin typeface="Calibri"/>
              </a:rPr>
              <a:t>Youden’s J finds the point on the ROC curve where the gap between TPR and FPR is maximised — the furthest point from the diagonal chance line.</a:t>
            </a:r>
          </a:p>
          <a:p>
            <a:pPr>
              <a:buNone/>
            </a:pPr>
            <a:r>
              <a:rPr lang="en-US" sz="980" dirty="0">
                <a:solidFill>
                  <a:srgbClr val="3D3D3D"/>
                </a:solidFill>
                <a:latin typeface="Calibri"/>
              </a:rPr>
              <a:t>J = 0 for a random classifier, J = 1 for a perfect one. Choosing the threshold that maximises J is equivalent to choosing the single point that best balances catching sick patients without alarming healthy ones.</a:t>
            </a:r>
          </a:p>
          <a:p>
            <a:pPr>
              <a:buNone/>
            </a:pPr>
            <a:r>
              <a:rPr lang="en-US" sz="880" dirty="0">
                <a:solidFill>
                  <a:srgbClr val="666666"/>
                </a:solidFill>
                <a:latin typeface="Calibri"/>
              </a:rPr>
              <a:t>Ref: Youden WJ (1950). Cancer 3(1):32-35. doi:10.1002/1097-0142(1950)3:1&lt;32</a:t>
            </a:r>
          </a:p>
        </p:txBody>
      </p:sp>
      <p:sp>
        <p:nvSpPr>
          <p:cNvPr id="202" name="CodeBox"/>
          <p:cNvSpPr/>
          <p:nvPr/>
        </p:nvSpPr>
        <p:spPr>
          <a:xfrm>
            <a:off x="3017520" y="1059768"/>
            <a:ext cx="2926080" cy="3695040"/>
          </a:xfrm>
          <a:prstGeom prst="rect">
            <a:avLst/>
          </a:prstGeom>
          <a:solidFill>
            <a:srgbClr val="0D1117"/>
          </a:solidFill>
          <a:ln w="12700">
            <a:solidFill>
              <a:srgbClr val="3FB950"/>
            </a:solidFill>
          </a:ln>
        </p:spPr>
        <p:txBody>
          <a:bodyPr wrap="square" lIns="91440" tIns="91440" rIns="91440" bIns="91440" rtlCol="0" anchor="t"/>
          <a:lstStyle/>
          <a:p>
            <a:pPr>
              <a:buNone/>
            </a:pPr>
            <a:r>
              <a:rPr lang="en-US" sz="1100" b="1" dirty="0">
                <a:solidFill>
                  <a:srgbClr val="3FB950"/>
                </a:solidFill>
                <a:latin typeface="Consolas" pitchFamily="49" charset="0"/>
              </a:rPr>
              <a:t># full.py lines 981-982</a:t>
            </a:r>
          </a:p>
          <a:p>
            <a:pPr>
              <a:buNone/>
            </a:pPr>
            <a:r>
              <a:rPr lang="en-US" sz="1050" dirty="0">
                <a:solidFill>
                  <a:srgbClr val="58A6FF"/>
                </a:solidFill>
                <a:latin typeface="Consolas" pitchFamily="49" charset="0"/>
              </a:rPr>
              <a:t>j </a:t>
            </a:r>
            <a:r>
              <a:rPr lang="en-US" sz="1050" dirty="0">
                <a:solidFill>
                  <a:srgbClr val="E6EDF3"/>
                </a:solidFill>
                <a:latin typeface="Consolas" pitchFamily="49" charset="0"/>
              </a:rPr>
              <a:t>= tpr - fpr</a:t>
            </a:r>
          </a:p>
          <a:p>
            <a:pPr>
              <a:buNone/>
            </a:pPr>
            <a:r>
              <a:rPr lang="en-US" sz="1050" dirty="0">
                <a:solidFill>
                  <a:srgbClr val="58A6FF"/>
                </a:solidFill>
                <a:latin typeface="Consolas" pitchFamily="49" charset="0"/>
              </a:rPr>
              <a:t>idx_j </a:t>
            </a:r>
            <a:r>
              <a:rPr lang="en-US" sz="1050" dirty="0">
                <a:solidFill>
                  <a:srgbClr val="E6EDF3"/>
                </a:solidFill>
                <a:latin typeface="Consolas" pitchFamily="49" charset="0"/>
              </a:rPr>
              <a:t>= np.argmax(j)</a:t>
            </a:r>
          </a:p>
          <a:p>
            <a:pPr>
              <a:buNone/>
            </a:pPr>
            <a:r>
              <a:rPr lang="en-US" sz="1050" dirty="0">
                <a:solidFill>
                  <a:srgbClr val="58A6FF"/>
                </a:solidFill>
                <a:latin typeface="Consolas" pitchFamily="49" charset="0"/>
              </a:rPr>
              <a:t>thr </a:t>
            </a:r>
            <a:r>
              <a:rPr lang="en-US" sz="1050" dirty="0">
                <a:solidFill>
                  <a:srgbClr val="E6EDF3"/>
                </a:solidFill>
                <a:latin typeface="Consolas" pitchFamily="49" charset="0"/>
              </a:rPr>
              <a:t>= float(thrs[idx_j])</a:t>
            </a:r>
          </a:p>
          <a:p>
            <a:pPr>
              <a:buNone/>
            </a:pPr>
            <a:r>
              <a:rPr lang="en-US" sz="900" dirty="0">
                <a:solidFill>
                  <a:srgbClr val="8B949E"/>
                </a:solidFill>
                <a:latin typeface="Consolas" pitchFamily="49" charset="0"/>
              </a:rPr>
              <a:t># NO hardcoded number anywhere.</a:t>
            </a:r>
          </a:p>
          <a:p>
            <a:pPr>
              <a:buNone/>
            </a:pPr>
            <a:r>
              <a:rPr lang="en-US" sz="900" dirty="0">
                <a:solidFill>
                  <a:srgbClr val="8B949E"/>
                </a:solidFill>
                <a:latin typeface="Consolas" pitchFamily="49" charset="0"/>
              </a:rPr>
              <a:t># Computed live from ROC of</a:t>
            </a:r>
          </a:p>
          <a:p>
            <a:pPr>
              <a:buNone/>
            </a:pPr>
            <a:r>
              <a:rPr lang="en-US" sz="900" dirty="0">
                <a:solidFill>
                  <a:srgbClr val="8B949E"/>
                </a:solidFill>
                <a:latin typeface="Consolas" pitchFamily="49" charset="0"/>
              </a:rPr>
              <a:t># each trained model.</a:t>
            </a:r>
          </a:p>
          <a:p>
            <a:pPr>
              <a:buNone/>
            </a:pPr>
            <a:r>
              <a:rPr lang="en-US" sz="1000" b="1" dirty="0">
                <a:solidFill>
                  <a:srgbClr val="FFA657"/>
                </a:solidFill>
                <a:latin typeface="Consolas" pitchFamily="49" charset="0"/>
              </a:rPr>
              <a:t>Live results (terminal):</a:t>
            </a:r>
          </a:p>
          <a:p>
            <a:pPr>
              <a:buNone/>
            </a:pPr>
            <a:r>
              <a:rPr lang="en-US" sz="980" dirty="0">
                <a:solidFill>
                  <a:srgbClr val="3FB950"/>
                </a:solidFill>
                <a:latin typeface="Consolas" pitchFamily="49" charset="0"/>
              </a:rPr>
              <a:t>Bridge  thr=0.610</a:t>
            </a:r>
          </a:p>
          <a:p>
            <a:pPr>
              <a:buNone/>
            </a:pPr>
            <a:r>
              <a:rPr lang="en-US" sz="980" dirty="0">
                <a:solidFill>
                  <a:srgbClr val="3FB950"/>
                </a:solidFill>
                <a:latin typeface="Consolas" pitchFamily="49" charset="0"/>
              </a:rPr>
              <a:t>  Se=1.000 Sp=1.000</a:t>
            </a:r>
          </a:p>
          <a:p>
            <a:pPr>
              <a:buNone/>
            </a:pPr>
            <a:r>
              <a:rPr lang="en-US" sz="980" dirty="0">
                <a:solidFill>
                  <a:srgbClr val="58A6FF"/>
                </a:solidFill>
                <a:latin typeface="Consolas" pitchFamily="49" charset="0"/>
              </a:rPr>
              <a:t>GB Diab thr=0.432</a:t>
            </a:r>
          </a:p>
          <a:p>
            <a:pPr>
              <a:buNone/>
            </a:pPr>
            <a:r>
              <a:rPr lang="en-US" sz="980" dirty="0">
                <a:solidFill>
                  <a:srgbClr val="D2A8FF"/>
                </a:solidFill>
                <a:latin typeface="Consolas" pitchFamily="49" charset="0"/>
              </a:rPr>
              <a:t>LR  CKD thr=0.212</a:t>
            </a:r>
          </a:p>
          <a:p>
            <a:pPr>
              <a:buNone/>
            </a:pPr>
            <a:r>
              <a:rPr lang="en-US" sz="980" dirty="0">
                <a:solidFill>
                  <a:srgbClr val="FF7B72"/>
                </a:solidFill>
                <a:latin typeface="Consolas" pitchFamily="49" charset="0"/>
              </a:rPr>
              <a:t>XGB Diab thr=0.032</a:t>
            </a:r>
          </a:p>
          <a:p>
            <a:pPr>
              <a:buNone/>
            </a:pPr>
            <a:r>
              <a:rPr lang="en-US" sz="840" dirty="0">
                <a:solidFill>
                  <a:srgbClr val="8B949E"/>
                </a:solidFill>
                <a:latin typeface="Consolas" pitchFamily="49" charset="0"/>
              </a:rPr>
              <a:t>(XGB pushes probs high;</a:t>
            </a:r>
          </a:p>
          <a:p>
            <a:pPr>
              <a:buNone/>
            </a:pPr>
            <a:r>
              <a:rPr lang="en-US" sz="840" dirty="0">
                <a:solidFill>
                  <a:srgbClr val="8B949E"/>
                </a:solidFill>
                <a:latin typeface="Consolas" pitchFamily="49" charset="0"/>
              </a:rPr>
              <a:t> low cutoff catches all)</a:t>
            </a:r>
          </a:p>
        </p:txBody>
      </p:sp>
      <p:sp>
        <p:nvSpPr>
          <p:cNvPr id="203" name="CompBox"/>
          <p:cNvSpPr/>
          <p:nvPr/>
        </p:nvSpPr>
        <p:spPr>
          <a:xfrm>
            <a:off x="6025320" y="1059768"/>
            <a:ext cx="2935800" cy="3695040"/>
          </a:xfrm>
          <a:prstGeom prst="rect">
            <a:avLst/>
          </a:prstGeom>
          <a:solidFill>
            <a:srgbClr val="FFF8F0"/>
          </a:solidFill>
          <a:ln w="12700">
            <a:solidFill>
              <a:srgbClr val="E87722"/>
            </a:solidFill>
          </a:ln>
        </p:spPr>
        <p:txBody>
          <a:bodyPr wrap="square" lIns="91440" tIns="91440" rIns="91440" bIns="91440" rtlCol="0" anchor="t"/>
          <a:lstStyle/>
          <a:p>
            <a:pPr>
              <a:buNone/>
            </a:pPr>
            <a:r>
              <a:rPr lang="en-US" sz="1100" b="1" dirty="0">
                <a:solidFill>
                  <a:srgbClr val="E87722"/>
                </a:solidFill>
                <a:latin typeface="Calibri"/>
              </a:rPr>
              <a:t>📊 Threshold Methods Compared</a:t>
            </a:r>
          </a:p>
          <a:p>
            <a:pPr>
              <a:buNone/>
            </a:pPr>
            <a:r>
              <a:rPr lang="en-US" sz="940" b="1" dirty="0">
                <a:solidFill>
                  <a:srgbClr val="1F3864"/>
                </a:solidFill>
                <a:latin typeface="Calibri"/>
              </a:rPr>
              <a:t>Youden (0.610 bridge)</a:t>
            </a:r>
          </a:p>
          <a:p>
            <a:pPr>
              <a:buNone/>
            </a:pPr>
            <a:r>
              <a:rPr lang="en-US" sz="880" dirty="0">
                <a:solidFill>
                  <a:srgbClr val="3D3D3D"/>
                </a:solidFill>
                <a:latin typeface="Calibri"/>
              </a:rPr>
              <a:t>Max(Se+Sp−1). Best overall balance. Default in inference.py. Se=1.00, Sp=1.00 on bridge.</a:t>
            </a:r>
          </a:p>
          <a:p>
            <a:pPr>
              <a:buNone/>
            </a:pPr>
            <a:r>
              <a:rPr lang="en-US" sz="940" b="1" dirty="0">
                <a:solidFill>
                  <a:srgbClr val="C00000"/>
                </a:solidFill>
                <a:latin typeface="Calibri"/>
              </a:rPr>
              <a:t>🏥 se90 (0.740 bridge) — Clinical Safety</a:t>
            </a:r>
          </a:p>
          <a:p>
            <a:pPr>
              <a:buNone/>
            </a:pPr>
            <a:r>
              <a:rPr lang="en-US" sz="880" dirty="0">
                <a:solidFill>
                  <a:srgbClr val="3D3D3D"/>
                </a:solidFill>
                <a:latin typeface="Calibri"/>
              </a:rPr>
              <a:t>Sensitivity ≥90% guaranteed. At most 1-in-10 CKD cases missed. Standard for hospital screening tools. Se=0.91, Sp=1.00.</a:t>
            </a:r>
          </a:p>
          <a:p>
            <a:pPr>
              <a:buNone/>
            </a:pPr>
            <a:r>
              <a:rPr lang="en-US" sz="940" b="1" dirty="0">
                <a:solidFill>
                  <a:srgbClr val="1F7A1F"/>
                </a:solidFill>
                <a:latin typeface="Calibri"/>
              </a:rPr>
              <a:t>F1-max (0.610 bridge)</a:t>
            </a:r>
          </a:p>
          <a:p>
            <a:pPr>
              <a:buNone/>
            </a:pPr>
            <a:r>
              <a:rPr lang="en-US" sz="880" dirty="0">
                <a:solidFill>
                  <a:srgbClr val="3D3D3D"/>
                </a:solidFill>
                <a:latin typeface="Calibri"/>
              </a:rPr>
              <a:t>Harmonic mean of precision/recall. Best when FP and FN both matter equally.</a:t>
            </a:r>
          </a:p>
          <a:p>
            <a:pPr>
              <a:buNone/>
            </a:pPr>
            <a:r>
              <a:rPr lang="en-US" sz="940" b="1" dirty="0">
                <a:solidFill>
                  <a:srgbClr val="666666"/>
                </a:solidFill>
                <a:latin typeface="Calibri"/>
              </a:rPr>
              <a:t>0.5 (naive default)</a:t>
            </a:r>
          </a:p>
          <a:p>
            <a:pPr>
              <a:buNone/>
            </a:pPr>
            <a:r>
              <a:rPr lang="en-US" sz="880" dirty="0">
                <a:solidFill>
                  <a:srgbClr val="C00000"/>
                </a:solidFill>
                <a:latin typeface="Calibri"/>
              </a:rPr>
              <a:t>Only valid for balanced data with equal error costs. Invalid for CKD (37.5% minority) or clinical use.</a:t>
            </a:r>
          </a:p>
          <a:p>
            <a:pPr>
              <a:buNone/>
            </a:pPr>
            <a:r>
              <a:rPr lang="en-US" sz="880" b="1" dirty="0">
                <a:solidFill>
                  <a:srgbClr val="1F3864"/>
                </a:solidFill>
                <a:latin typeface="Calibri"/>
              </a:rPr>
              <a:t>→ Real hospital deployment: use se90 (never miss CKD). Research benchmark: use Youden (principled, reproducible).</a:t>
            </a:r>
          </a:p>
        </p:txBody>
      </p:sp>
      <p:sp>
        <p:nvSpPr>
          <p:cNvPr id="999" name="PageNum"/>
          <p:cNvSpPr/>
          <p:nvPr/>
        </p:nvSpPr>
        <p:spPr>
          <a:xfrm>
            <a:off x="8686080" y="4883760"/>
            <a:ext cx="347472" cy="238368"/>
          </a:xfrm>
          <a:prstGeom prst="rect">
            <a:avLst/>
          </a:prstGeom>
          <a:noFill/>
          <a:ln>
            <a:noFill/>
          </a:ln>
        </p:spPr>
        <p:txBody>
          <a:bodyPr wrap="square" lIns="0" tIns="0" rIns="0" bIns="0" rtlCol="0" anchor="ctr"/>
          <a:lstStyle/>
          <a:p>
            <a:pPr algn="r">
              <a:buNone/>
            </a:pPr>
            <a:r>
              <a:rPr lang="en-US" sz="1000" b="1" dirty="0">
                <a:solidFill>
                  <a:srgbClr val="FFFFFF"/>
                </a:solidFill>
                <a:latin typeface="Calibri"/>
              </a:rPr>
              <a:t>32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7508E-7B02-D372-E19E-885881FE4E2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D039190-2DB5-23AC-213C-07167EB51717}"/>
              </a:ext>
            </a:extLst>
          </p:cNvPr>
          <p:cNvPicPr>
            <a:picLocks noChangeAspect="1"/>
          </p:cNvPicPr>
          <p:nvPr/>
        </p:nvPicPr>
        <p:blipFill>
          <a:blip r:embed="rId3"/>
          <a:stretch>
            <a:fillRect/>
          </a:stretch>
        </p:blipFill>
        <p:spPr>
          <a:xfrm>
            <a:off x="7818120" y="91440"/>
            <a:ext cx="1143000" cy="475488"/>
          </a:xfrm>
          <a:prstGeom prst="rect">
            <a:avLst/>
          </a:prstGeom>
        </p:spPr>
      </p:pic>
      <p:sp>
        <p:nvSpPr>
          <p:cNvPr id="3" name="Text 0">
            <a:extLst>
              <a:ext uri="{FF2B5EF4-FFF2-40B4-BE49-F238E27FC236}">
                <a16:creationId xmlns:a16="http://schemas.microsoft.com/office/drawing/2014/main" id="{ED922F83-723A-C117-5E59-A60BE7BDB6D3}"/>
              </a:ext>
            </a:extLst>
          </p:cNvPr>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Justifying Model Complexity: Baseline vs. Ensembles</a:t>
            </a:r>
            <a:endParaRPr lang="en-US" sz="2600" dirty="0"/>
          </a:p>
        </p:txBody>
      </p:sp>
      <p:sp>
        <p:nvSpPr>
          <p:cNvPr id="4" name="Shape 1">
            <a:extLst>
              <a:ext uri="{FF2B5EF4-FFF2-40B4-BE49-F238E27FC236}">
                <a16:creationId xmlns:a16="http://schemas.microsoft.com/office/drawing/2014/main" id="{20169928-737C-452A-279D-79A036396112}"/>
              </a:ext>
            </a:extLst>
          </p:cNvPr>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a:extLst>
              <a:ext uri="{FF2B5EF4-FFF2-40B4-BE49-F238E27FC236}">
                <a16:creationId xmlns:a16="http://schemas.microsoft.com/office/drawing/2014/main" id="{0C8A76AD-64DE-9FA5-A37C-72D11E931F09}"/>
              </a:ext>
            </a:extLst>
          </p:cNvPr>
          <p:cNvSpPr/>
          <p:nvPr/>
        </p:nvSpPr>
        <p:spPr>
          <a:xfrm>
            <a:off x="0" y="4850892"/>
            <a:ext cx="9144000" cy="292608"/>
          </a:xfrm>
          <a:prstGeom prst="rect">
            <a:avLst/>
          </a:prstGeom>
          <a:solidFill>
            <a:srgbClr val="E87722"/>
          </a:solidFill>
          <a:ln w="12700">
            <a:solidFill>
              <a:srgbClr val="E87722"/>
            </a:solidFill>
            <a:prstDash val="solid"/>
          </a:ln>
        </p:spPr>
      </p:sp>
      <p:sp>
        <p:nvSpPr>
          <p:cNvPr id="6" name="Text 3">
            <a:extLst>
              <a:ext uri="{FF2B5EF4-FFF2-40B4-BE49-F238E27FC236}">
                <a16:creationId xmlns:a16="http://schemas.microsoft.com/office/drawing/2014/main" id="{1312E243-54DA-44A9-52F9-DE04B2211889}"/>
              </a:ext>
            </a:extLst>
          </p:cNvPr>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17</a:t>
            </a:r>
            <a:endParaRPr lang="en-US" sz="1400" dirty="0"/>
          </a:p>
        </p:txBody>
      </p:sp>
      <p:sp>
        <p:nvSpPr>
          <p:cNvPr id="7" name="Text 4">
            <a:extLst>
              <a:ext uri="{FF2B5EF4-FFF2-40B4-BE49-F238E27FC236}">
                <a16:creationId xmlns:a16="http://schemas.microsoft.com/office/drawing/2014/main" id="{797916CB-025C-1EC2-A891-9A912876D6D2}"/>
              </a:ext>
            </a:extLst>
          </p:cNvPr>
          <p:cNvSpPr/>
          <p:nvPr/>
        </p:nvSpPr>
        <p:spPr>
          <a:xfrm>
            <a:off x="365760" y="1115568"/>
            <a:ext cx="8412480" cy="3717035"/>
          </a:xfrm>
          <a:prstGeom prst="rect">
            <a:avLst/>
          </a:prstGeom>
          <a:noFill/>
          <a:ln/>
        </p:spPr>
        <p:txBody>
          <a:bodyPr wrap="square" rtlCol="0" anchor="ctr"/>
          <a:lstStyle/>
          <a:p>
            <a:pPr algn="l"/>
            <a:r>
              <a:rPr lang="en-US" sz="1600" b="1" dirty="0">
                <a:solidFill>
                  <a:srgbClr val="1F3864"/>
                </a:solidFill>
                <a:latin typeface="Times New Roman" pitchFamily="34" charset="0"/>
                <a:ea typeface="Times New Roman" pitchFamily="34" charset="-122"/>
                <a:cs typeface="Times New Roman" pitchFamily="34" charset="-120"/>
              </a:rPr>
              <a:t>Performance Comparison (AUC):</a:t>
            </a:r>
          </a:p>
          <a:p>
            <a:pPr marL="742950" lvl="1" indent="-285750">
              <a:buFont typeface="Arial" panose="020B0604020202020204" pitchFamily="34" charset="0"/>
              <a:buChar char="•"/>
            </a:pPr>
            <a:r>
              <a:rPr lang="en-US" sz="1400" i="1" dirty="0">
                <a:solidFill>
                  <a:srgbClr val="3D3D3D"/>
                </a:solidFill>
                <a:latin typeface="Times New Roman" pitchFamily="34" charset="0"/>
                <a:ea typeface="Times New Roman" pitchFamily="34" charset="-122"/>
                <a:cs typeface="Times New Roman" pitchFamily="34" charset="-120"/>
              </a:rPr>
              <a:t>CKD: Logistic Regression [1.00] | Random Forest [0.99]</a:t>
            </a:r>
          </a:p>
          <a:p>
            <a:pPr marL="742950" lvl="1" indent="-285750">
              <a:buFont typeface="Arial" panose="020B0604020202020204" pitchFamily="34" charset="0"/>
              <a:buChar char="•"/>
            </a:pPr>
            <a:r>
              <a:rPr lang="en-US" sz="1400" i="1" dirty="0">
                <a:solidFill>
                  <a:srgbClr val="3D3D3D"/>
                </a:solidFill>
                <a:latin typeface="Times New Roman" pitchFamily="34" charset="0"/>
                <a:ea typeface="Times New Roman" pitchFamily="34" charset="-122"/>
                <a:cs typeface="Times New Roman" pitchFamily="34" charset="-120"/>
              </a:rPr>
              <a:t>Diabetes: Logistic Regression [0.843] | Random Forest [0.822]</a:t>
            </a:r>
          </a:p>
          <a:p>
            <a:pPr algn="l"/>
            <a:endParaRPr lang="en-US" sz="1600" b="1" i="1" dirty="0">
              <a:solidFill>
                <a:srgbClr val="1F3864"/>
              </a:solidFill>
              <a:latin typeface="Times New Roman" pitchFamily="34" charset="0"/>
              <a:ea typeface="Times New Roman" pitchFamily="34" charset="-122"/>
              <a:cs typeface="Times New Roman" pitchFamily="34" charset="-120"/>
            </a:endParaRPr>
          </a:p>
          <a:p>
            <a:pPr algn="l"/>
            <a:r>
              <a:rPr lang="en-US" sz="1600" b="1" dirty="0">
                <a:solidFill>
                  <a:srgbClr val="1F3864"/>
                </a:solidFill>
                <a:latin typeface="Times New Roman" pitchFamily="34" charset="0"/>
                <a:ea typeface="Times New Roman" pitchFamily="34" charset="-122"/>
                <a:cs typeface="Times New Roman" pitchFamily="34" charset="-120"/>
              </a:rPr>
              <a:t>Why do we still prioritize Random Forest / </a:t>
            </a:r>
            <a:r>
              <a:rPr lang="en-US" sz="1600" b="1" dirty="0" err="1">
                <a:solidFill>
                  <a:srgbClr val="1F3864"/>
                </a:solidFill>
                <a:latin typeface="Times New Roman" pitchFamily="34" charset="0"/>
                <a:ea typeface="Times New Roman" pitchFamily="34" charset="-122"/>
                <a:cs typeface="Times New Roman" pitchFamily="34" charset="-120"/>
              </a:rPr>
              <a:t>XGBoost</a:t>
            </a:r>
            <a:r>
              <a:rPr lang="en-US" sz="1600" b="1" dirty="0">
                <a:solidFill>
                  <a:srgbClr val="1F3864"/>
                </a:solidFill>
                <a:latin typeface="Times New Roman" pitchFamily="34" charset="0"/>
                <a:ea typeface="Times New Roman" pitchFamily="34" charset="-122"/>
                <a:cs typeface="Times New Roman" pitchFamily="34" charset="-120"/>
              </a:rPr>
              <a:t>? :</a:t>
            </a:r>
          </a:p>
          <a:p>
            <a:pPr marL="742950" lvl="1" indent="-285750">
              <a:buFont typeface="Arial" panose="020B0604020202020204" pitchFamily="34" charset="0"/>
              <a:buChar char="•"/>
            </a:pPr>
            <a:r>
              <a:rPr lang="en-US" sz="1400" b="1" i="1" dirty="0">
                <a:solidFill>
                  <a:srgbClr val="3D3D3D"/>
                </a:solidFill>
                <a:latin typeface="Times New Roman" pitchFamily="34" charset="0"/>
                <a:ea typeface="Times New Roman" pitchFamily="34" charset="-122"/>
                <a:cs typeface="Times New Roman" pitchFamily="34" charset="-120"/>
              </a:rPr>
              <a:t>The Linear Limitation: </a:t>
            </a:r>
            <a:r>
              <a:rPr lang="en-US" sz="1400" dirty="0">
                <a:solidFill>
                  <a:srgbClr val="3D3D3D"/>
                </a:solidFill>
                <a:latin typeface="Times New Roman" pitchFamily="34" charset="0"/>
                <a:ea typeface="Times New Roman" pitchFamily="34" charset="-122"/>
                <a:cs typeface="Times New Roman" pitchFamily="34" charset="-120"/>
              </a:rPr>
              <a:t>While our baseline Logistic Regression performed exceptionally well, it is a strictly linear model. It assumes that if blood pressure goes up by 1 unit, the risk goes up by exactly X amount, regardless of the patient's age.</a:t>
            </a:r>
          </a:p>
          <a:p>
            <a:pPr marL="742950" lvl="1" indent="-285750">
              <a:buFont typeface="Arial" panose="020B0604020202020204" pitchFamily="34" charset="0"/>
              <a:buChar char="•"/>
            </a:pPr>
            <a:r>
              <a:rPr lang="en-US" sz="1400" b="1" i="1" dirty="0">
                <a:solidFill>
                  <a:srgbClr val="3D3D3D"/>
                </a:solidFill>
                <a:latin typeface="Times New Roman" pitchFamily="34" charset="0"/>
                <a:ea typeface="Times New Roman" pitchFamily="34" charset="-122"/>
                <a:cs typeface="Times New Roman" pitchFamily="34" charset="-120"/>
              </a:rPr>
              <a:t>The Non-Linear Reality: </a:t>
            </a:r>
            <a:r>
              <a:rPr lang="en-US" sz="1400" dirty="0">
                <a:solidFill>
                  <a:srgbClr val="3D3D3D"/>
                </a:solidFill>
                <a:latin typeface="Times New Roman" pitchFamily="34" charset="0"/>
                <a:ea typeface="Times New Roman" pitchFamily="34" charset="-122"/>
                <a:cs typeface="Times New Roman" pitchFamily="34" charset="-120"/>
              </a:rPr>
              <a:t>Chronic diseases are highly non-linear. Random Forest and </a:t>
            </a:r>
            <a:r>
              <a:rPr lang="en-US" sz="1400" dirty="0" err="1">
                <a:solidFill>
                  <a:srgbClr val="3D3D3D"/>
                </a:solidFill>
                <a:latin typeface="Times New Roman" pitchFamily="34" charset="0"/>
                <a:ea typeface="Times New Roman" pitchFamily="34" charset="-122"/>
                <a:cs typeface="Times New Roman" pitchFamily="34" charset="-120"/>
              </a:rPr>
              <a:t>XGBoost</a:t>
            </a:r>
            <a:r>
              <a:rPr lang="en-US" sz="1400" dirty="0">
                <a:solidFill>
                  <a:srgbClr val="3D3D3D"/>
                </a:solidFill>
                <a:latin typeface="Times New Roman" pitchFamily="34" charset="0"/>
                <a:ea typeface="Times New Roman" pitchFamily="34" charset="-122"/>
                <a:cs typeface="Times New Roman" pitchFamily="34" charset="-120"/>
              </a:rPr>
              <a:t> can capture complex intersections (e.g., high glucose is dangerous, but high glucose combined with a specific age is critically dangerous).</a:t>
            </a:r>
          </a:p>
          <a:p>
            <a:pPr marL="742950" lvl="1" indent="-285750">
              <a:buFont typeface="Arial" panose="020B0604020202020204" pitchFamily="34" charset="0"/>
              <a:buChar char="•"/>
            </a:pPr>
            <a:r>
              <a:rPr lang="en-US" sz="1400" b="1" i="1" dirty="0">
                <a:solidFill>
                  <a:srgbClr val="3D3D3D"/>
                </a:solidFill>
                <a:latin typeface="Times New Roman" pitchFamily="34" charset="0"/>
                <a:ea typeface="Times New Roman" pitchFamily="34" charset="-122"/>
                <a:cs typeface="Times New Roman" pitchFamily="34" charset="-120"/>
              </a:rPr>
              <a:t>The Explainability Factor: </a:t>
            </a:r>
            <a:r>
              <a:rPr lang="en-US" sz="1400" dirty="0">
                <a:solidFill>
                  <a:srgbClr val="3D3D3D"/>
                </a:solidFill>
                <a:latin typeface="Times New Roman" pitchFamily="34" charset="0"/>
                <a:ea typeface="Times New Roman" pitchFamily="34" charset="-122"/>
                <a:cs typeface="Times New Roman" pitchFamily="34" charset="-120"/>
              </a:rPr>
              <a:t>By pairing tree-based ensembles with SHAP, we don't just get a simple coefficient (like in LR); we get a personalized, interactive summary plot of how multiple biomarkers trigger a clinical decision for each specific patient.</a:t>
            </a:r>
          </a:p>
        </p:txBody>
      </p:sp>
    </p:spTree>
    <p:extLst>
      <p:ext uri="{BB962C8B-B14F-4D97-AF65-F5344CB8AC3E}">
        <p14:creationId xmlns:p14="http://schemas.microsoft.com/office/powerpoint/2010/main" val="115217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Why Random Forest Excels</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ea typeface="Times New Roman" pitchFamily="34" charset="-122"/>
                <a:cs typeface="Times New Roman" pitchFamily="34" charset="-120"/>
              </a:rPr>
              <a:t>18</a:t>
            </a:r>
            <a:endParaRPr lang="en-US" sz="1400" dirty="0"/>
          </a:p>
        </p:txBody>
      </p:sp>
      <p:sp>
        <p:nvSpPr>
          <p:cNvPr id="7" name="Text 4"/>
          <p:cNvSpPr/>
          <p:nvPr/>
        </p:nvSpPr>
        <p:spPr>
          <a:xfrm>
            <a:off x="362373" y="1238154"/>
            <a:ext cx="5029200" cy="1185006"/>
          </a:xfrm>
          <a:prstGeom prst="rect">
            <a:avLst/>
          </a:prstGeom>
          <a:noFill/>
          <a:ln/>
        </p:spPr>
        <p:txBody>
          <a:bodyPr wrap="square"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Random Forest achieves 99.5% accuracy on CKD through its unique bagging technique. By building 100 decorrelated trees in parallel and aggregating predictions through majority voting, it effectively reduces variance and prevents overfitting on small datasets.</a:t>
            </a:r>
          </a:p>
          <a:p>
            <a:pPr marL="0" indent="0">
              <a:buNone/>
            </a:pPr>
            <a:r>
              <a:rPr lang="en-US" sz="1200" dirty="0">
                <a:solidFill>
                  <a:srgbClr val="3D3D3D"/>
                </a:solidFill>
                <a:latin typeface="Times New Roman" pitchFamily="34" charset="0"/>
                <a:ea typeface="Times New Roman" pitchFamily="34" charset="-122"/>
                <a:cs typeface="Times New Roman" pitchFamily="34" charset="-120"/>
              </a:rPr>
              <a:t>This ensemble stability is consistent across datasets: RF achieved the highest non-linear performance on the Diabetes dataset as well (AUC 0.82), outperforming both </a:t>
            </a:r>
            <a:r>
              <a:rPr lang="en-US" sz="1200" dirty="0" err="1">
                <a:solidFill>
                  <a:srgbClr val="3D3D3D"/>
                </a:solidFill>
                <a:latin typeface="Times New Roman" pitchFamily="34" charset="0"/>
                <a:ea typeface="Times New Roman" pitchFamily="34" charset="-122"/>
                <a:cs typeface="Times New Roman" pitchFamily="34" charset="-120"/>
              </a:rPr>
              <a:t>XGBoost</a:t>
            </a:r>
            <a:r>
              <a:rPr lang="en-US" sz="1200" dirty="0">
                <a:solidFill>
                  <a:srgbClr val="3D3D3D"/>
                </a:solidFill>
                <a:latin typeface="Times New Roman" pitchFamily="34" charset="0"/>
                <a:ea typeface="Times New Roman" pitchFamily="34" charset="-122"/>
                <a:cs typeface="Times New Roman" pitchFamily="34" charset="-120"/>
              </a:rPr>
              <a:t> and Neural Networks.</a:t>
            </a:r>
          </a:p>
        </p:txBody>
      </p:sp>
      <p:grpSp>
        <p:nvGrpSpPr>
          <p:cNvPr id="24" name="Group 23">
            <a:extLst>
              <a:ext uri="{FF2B5EF4-FFF2-40B4-BE49-F238E27FC236}">
                <a16:creationId xmlns:a16="http://schemas.microsoft.com/office/drawing/2014/main" id="{87AC8E3D-1477-E019-758E-F6E913549023}"/>
              </a:ext>
            </a:extLst>
          </p:cNvPr>
          <p:cNvGrpSpPr/>
          <p:nvPr/>
        </p:nvGrpSpPr>
        <p:grpSpPr>
          <a:xfrm>
            <a:off x="5577840" y="1241021"/>
            <a:ext cx="1463040" cy="601980"/>
            <a:chOff x="5577840" y="1325880"/>
            <a:chExt cx="1463040" cy="960120"/>
          </a:xfrm>
        </p:grpSpPr>
        <p:sp>
          <p:nvSpPr>
            <p:cNvPr id="8" name="Shape 5"/>
            <p:cNvSpPr/>
            <p:nvPr/>
          </p:nvSpPr>
          <p:spPr>
            <a:xfrm>
              <a:off x="5577840" y="1325880"/>
              <a:ext cx="1463040" cy="960120"/>
            </a:xfrm>
            <a:prstGeom prst="rect">
              <a:avLst/>
            </a:prstGeom>
            <a:solidFill>
              <a:srgbClr val="F5F8FF"/>
            </a:solidFill>
            <a:ln w="12700">
              <a:solidFill>
                <a:srgbClr val="DDDDDD"/>
              </a:solidFill>
              <a:prstDash val="solid"/>
            </a:ln>
          </p:spPr>
        </p:sp>
        <p:sp>
          <p:nvSpPr>
            <p:cNvPr id="9" name="Text 6"/>
            <p:cNvSpPr/>
            <p:nvPr/>
          </p:nvSpPr>
          <p:spPr>
            <a:xfrm>
              <a:off x="5577840" y="1371600"/>
              <a:ext cx="1463040" cy="438912"/>
            </a:xfrm>
            <a:prstGeom prst="rect">
              <a:avLst/>
            </a:prstGeom>
            <a:noFill/>
            <a:ln/>
          </p:spPr>
          <p:txBody>
            <a:bodyPr wrap="square" lIns="0" tIns="0" rIns="0" bIns="0" rtlCol="0" anchor="ctr"/>
            <a:lstStyle/>
            <a:p>
              <a:pPr marL="0" indent="0" algn="ctr">
                <a:buNone/>
              </a:pPr>
              <a:r>
                <a:rPr lang="en-US" sz="2000" b="1" dirty="0">
                  <a:solidFill>
                    <a:srgbClr val="3D3D3D"/>
                  </a:solidFill>
                  <a:latin typeface="Times New Roman" pitchFamily="34" charset="0"/>
                  <a:ea typeface="Times New Roman" pitchFamily="34" charset="-122"/>
                  <a:cs typeface="Times New Roman" pitchFamily="34" charset="-120"/>
                </a:rPr>
                <a:t>98.5%</a:t>
              </a:r>
              <a:endParaRPr lang="en-US" sz="2000" dirty="0"/>
            </a:p>
          </p:txBody>
        </p:sp>
        <p:sp>
          <p:nvSpPr>
            <p:cNvPr id="10" name="Text 7"/>
            <p:cNvSpPr/>
            <p:nvPr/>
          </p:nvSpPr>
          <p:spPr>
            <a:xfrm>
              <a:off x="5577840" y="1801368"/>
              <a:ext cx="1463040" cy="438912"/>
            </a:xfrm>
            <a:prstGeom prst="rect">
              <a:avLst/>
            </a:prstGeom>
            <a:noFill/>
            <a:ln/>
          </p:spPr>
          <p:txBody>
            <a:bodyPr wrap="square" lIns="0" tIns="0" rIns="0" bIns="0" rtlCol="0" anchor="ctr"/>
            <a:lstStyle/>
            <a:p>
              <a:pPr marL="0" indent="0" algn="ctr">
                <a:buNone/>
              </a:pPr>
              <a:r>
                <a:rPr lang="en-US" sz="1100" dirty="0">
                  <a:solidFill>
                    <a:srgbClr val="3D3D3D"/>
                  </a:solidFill>
                  <a:latin typeface="Times New Roman" pitchFamily="34" charset="0"/>
                  <a:ea typeface="Times New Roman" pitchFamily="34" charset="-122"/>
                  <a:cs typeface="Times New Roman" pitchFamily="34" charset="-120"/>
                </a:rPr>
                <a:t>XGBoost</a:t>
              </a:r>
              <a:endParaRPr lang="en-US" sz="1100" dirty="0"/>
            </a:p>
            <a:p>
              <a:pPr marL="0" indent="0" algn="ctr">
                <a:buNone/>
              </a:pPr>
              <a:r>
                <a:rPr lang="en-US" sz="1100" dirty="0">
                  <a:solidFill>
                    <a:srgbClr val="3D3D3D"/>
                  </a:solidFill>
                  <a:latin typeface="Times New Roman" pitchFamily="34" charset="0"/>
                  <a:ea typeface="Times New Roman" pitchFamily="34" charset="-122"/>
                  <a:cs typeface="Times New Roman" pitchFamily="34" charset="-120"/>
                </a:rPr>
                <a:t>CKD Accuracy</a:t>
              </a:r>
              <a:endParaRPr lang="en-US" sz="1100" dirty="0"/>
            </a:p>
          </p:txBody>
        </p:sp>
      </p:grpSp>
      <p:grpSp>
        <p:nvGrpSpPr>
          <p:cNvPr id="25" name="Group 24">
            <a:extLst>
              <a:ext uri="{FF2B5EF4-FFF2-40B4-BE49-F238E27FC236}">
                <a16:creationId xmlns:a16="http://schemas.microsoft.com/office/drawing/2014/main" id="{8D9B153B-063E-EC71-7BBC-6AEEDB7FC202}"/>
              </a:ext>
            </a:extLst>
          </p:cNvPr>
          <p:cNvGrpSpPr/>
          <p:nvPr/>
        </p:nvGrpSpPr>
        <p:grpSpPr>
          <a:xfrm>
            <a:off x="7223760" y="1238154"/>
            <a:ext cx="1463040" cy="601980"/>
            <a:chOff x="7223760" y="1325880"/>
            <a:chExt cx="1554480" cy="960120"/>
          </a:xfrm>
        </p:grpSpPr>
        <p:sp>
          <p:nvSpPr>
            <p:cNvPr id="11" name="Shape 8"/>
            <p:cNvSpPr/>
            <p:nvPr/>
          </p:nvSpPr>
          <p:spPr>
            <a:xfrm>
              <a:off x="7223760" y="1325880"/>
              <a:ext cx="1554480" cy="960120"/>
            </a:xfrm>
            <a:prstGeom prst="rect">
              <a:avLst/>
            </a:prstGeom>
            <a:solidFill>
              <a:srgbClr val="E8F5E9"/>
            </a:solidFill>
            <a:ln w="12700">
              <a:solidFill>
                <a:srgbClr val="E87722"/>
              </a:solidFill>
              <a:prstDash val="solid"/>
            </a:ln>
          </p:spPr>
        </p:sp>
        <p:sp>
          <p:nvSpPr>
            <p:cNvPr id="12" name="Text 9"/>
            <p:cNvSpPr/>
            <p:nvPr/>
          </p:nvSpPr>
          <p:spPr>
            <a:xfrm>
              <a:off x="7223760" y="1371600"/>
              <a:ext cx="1554480" cy="438912"/>
            </a:xfrm>
            <a:prstGeom prst="rect">
              <a:avLst/>
            </a:prstGeom>
            <a:noFill/>
            <a:ln/>
          </p:spPr>
          <p:txBody>
            <a:bodyPr wrap="square" lIns="0" tIns="0" rIns="0" bIns="0" rtlCol="0" anchor="ctr"/>
            <a:lstStyle/>
            <a:p>
              <a:pPr marL="0" indent="0" algn="ctr">
                <a:buNone/>
              </a:pPr>
              <a:r>
                <a:rPr lang="en-US" sz="2000" b="1" dirty="0">
                  <a:solidFill>
                    <a:srgbClr val="E87722"/>
                  </a:solidFill>
                  <a:latin typeface="Times New Roman" pitchFamily="34" charset="0"/>
                  <a:ea typeface="Times New Roman" pitchFamily="34" charset="-122"/>
                  <a:cs typeface="Times New Roman" pitchFamily="34" charset="-120"/>
                </a:rPr>
                <a:t>99.5%</a:t>
              </a:r>
              <a:endParaRPr lang="en-US" sz="2000" dirty="0"/>
            </a:p>
          </p:txBody>
        </p:sp>
        <p:sp>
          <p:nvSpPr>
            <p:cNvPr id="13" name="Text 10"/>
            <p:cNvSpPr/>
            <p:nvPr/>
          </p:nvSpPr>
          <p:spPr>
            <a:xfrm>
              <a:off x="7223760" y="1801368"/>
              <a:ext cx="1554480" cy="438912"/>
            </a:xfrm>
            <a:prstGeom prst="rect">
              <a:avLst/>
            </a:prstGeom>
            <a:noFill/>
            <a:ln/>
          </p:spPr>
          <p:txBody>
            <a:bodyPr wrap="square" lIns="0" tIns="0" rIns="0" bIns="0" rtlCol="0" anchor="ctr"/>
            <a:lstStyle/>
            <a:p>
              <a:pPr marL="0" indent="0" algn="ctr">
                <a:buNone/>
              </a:pPr>
              <a:r>
                <a:rPr lang="en-US" sz="1100" dirty="0">
                  <a:solidFill>
                    <a:srgbClr val="3D3D3D"/>
                  </a:solidFill>
                  <a:latin typeface="Times New Roman" pitchFamily="34" charset="0"/>
                  <a:ea typeface="Times New Roman" pitchFamily="34" charset="-122"/>
                  <a:cs typeface="Times New Roman" pitchFamily="34" charset="-120"/>
                </a:rPr>
                <a:t>Random Forest</a:t>
              </a:r>
              <a:endParaRPr lang="en-US" sz="1100" dirty="0"/>
            </a:p>
            <a:p>
              <a:pPr marL="0" indent="0" algn="ctr">
                <a:buNone/>
              </a:pPr>
              <a:r>
                <a:rPr lang="en-US" sz="1100" dirty="0">
                  <a:solidFill>
                    <a:srgbClr val="3D3D3D"/>
                  </a:solidFill>
                  <a:latin typeface="Times New Roman" pitchFamily="34" charset="0"/>
                  <a:ea typeface="Times New Roman" pitchFamily="34" charset="-122"/>
                  <a:cs typeface="Times New Roman" pitchFamily="34" charset="-120"/>
                </a:rPr>
                <a:t>CKD Accuracy</a:t>
              </a:r>
              <a:endParaRPr lang="en-US" sz="1100" dirty="0"/>
            </a:p>
          </p:txBody>
        </p:sp>
      </p:grpSp>
      <p:pic>
        <p:nvPicPr>
          <p:cNvPr id="14" name="Image 1" descr="preencoded.png"/>
          <p:cNvPicPr>
            <a:picLocks noChangeAspect="1"/>
          </p:cNvPicPr>
          <p:nvPr/>
        </p:nvPicPr>
        <p:blipFill>
          <a:blip r:embed="rId4"/>
          <a:stretch>
            <a:fillRect/>
          </a:stretch>
        </p:blipFill>
        <p:spPr>
          <a:xfrm>
            <a:off x="365760" y="2470571"/>
            <a:ext cx="5029200" cy="2354580"/>
          </a:xfrm>
          <a:prstGeom prst="rect">
            <a:avLst/>
          </a:prstGeom>
        </p:spPr>
      </p:pic>
      <p:sp>
        <p:nvSpPr>
          <p:cNvPr id="15" name="Shape 11"/>
          <p:cNvSpPr/>
          <p:nvPr/>
        </p:nvSpPr>
        <p:spPr>
          <a:xfrm>
            <a:off x="5577840" y="2524761"/>
            <a:ext cx="3200400" cy="739140"/>
          </a:xfrm>
          <a:prstGeom prst="rect">
            <a:avLst/>
          </a:prstGeom>
          <a:solidFill>
            <a:srgbClr val="F9F9F9"/>
          </a:solidFill>
          <a:ln w="12700">
            <a:solidFill>
              <a:srgbClr val="E0E0E0"/>
            </a:solidFill>
            <a:prstDash val="solid"/>
          </a:ln>
        </p:spPr>
      </p:sp>
      <p:sp>
        <p:nvSpPr>
          <p:cNvPr id="16" name="Shape 12"/>
          <p:cNvSpPr/>
          <p:nvPr/>
        </p:nvSpPr>
        <p:spPr>
          <a:xfrm>
            <a:off x="5577840" y="2524761"/>
            <a:ext cx="64008" cy="739140"/>
          </a:xfrm>
          <a:prstGeom prst="rect">
            <a:avLst/>
          </a:prstGeom>
          <a:solidFill>
            <a:srgbClr val="E87722"/>
          </a:solidFill>
          <a:ln w="12700">
            <a:solidFill>
              <a:srgbClr val="E87722"/>
            </a:solidFill>
            <a:prstDash val="solid"/>
          </a:ln>
        </p:spPr>
      </p:sp>
      <p:sp>
        <p:nvSpPr>
          <p:cNvPr id="17" name="Text 13"/>
          <p:cNvSpPr/>
          <p:nvPr/>
        </p:nvSpPr>
        <p:spPr>
          <a:xfrm>
            <a:off x="5705856" y="2524761"/>
            <a:ext cx="3017520" cy="739140"/>
          </a:xfrm>
          <a:prstGeom prst="rect">
            <a:avLst/>
          </a:prstGeom>
          <a:noFill/>
          <a:ln/>
        </p:spPr>
        <p:txBody>
          <a:bodyPr wrap="square" rtlCol="0" anchor="ctr"/>
          <a:lstStyle/>
          <a:p>
            <a:pPr marL="0" indent="0">
              <a:buNone/>
            </a:pPr>
            <a:r>
              <a:rPr lang="en-US" sz="1300" dirty="0">
                <a:solidFill>
                  <a:srgbClr val="3D3D3D"/>
                </a:solidFill>
                <a:latin typeface="Times New Roman" pitchFamily="34" charset="0"/>
                <a:ea typeface="Times New Roman" pitchFamily="34" charset="-122"/>
                <a:cs typeface="Times New Roman" pitchFamily="34" charset="-120"/>
              </a:rPr>
              <a:t>Builds 100 independent trees simultaneously</a:t>
            </a:r>
            <a:endParaRPr lang="en-US" sz="1300" dirty="0"/>
          </a:p>
        </p:txBody>
      </p:sp>
      <p:sp>
        <p:nvSpPr>
          <p:cNvPr id="18" name="Shape 14"/>
          <p:cNvSpPr/>
          <p:nvPr/>
        </p:nvSpPr>
        <p:spPr>
          <a:xfrm>
            <a:off x="5577840" y="3309621"/>
            <a:ext cx="3200400" cy="739140"/>
          </a:xfrm>
          <a:prstGeom prst="rect">
            <a:avLst/>
          </a:prstGeom>
          <a:solidFill>
            <a:srgbClr val="F9F9F9"/>
          </a:solidFill>
          <a:ln w="12700">
            <a:solidFill>
              <a:srgbClr val="E0E0E0"/>
            </a:solidFill>
            <a:prstDash val="solid"/>
          </a:ln>
        </p:spPr>
      </p:sp>
      <p:sp>
        <p:nvSpPr>
          <p:cNvPr id="19" name="Shape 15"/>
          <p:cNvSpPr/>
          <p:nvPr/>
        </p:nvSpPr>
        <p:spPr>
          <a:xfrm>
            <a:off x="5577840" y="3309621"/>
            <a:ext cx="64008" cy="739140"/>
          </a:xfrm>
          <a:prstGeom prst="rect">
            <a:avLst/>
          </a:prstGeom>
          <a:solidFill>
            <a:srgbClr val="E87722"/>
          </a:solidFill>
          <a:ln w="12700">
            <a:solidFill>
              <a:srgbClr val="E87722"/>
            </a:solidFill>
            <a:prstDash val="solid"/>
          </a:ln>
        </p:spPr>
      </p:sp>
      <p:sp>
        <p:nvSpPr>
          <p:cNvPr id="20" name="Text 16"/>
          <p:cNvSpPr/>
          <p:nvPr/>
        </p:nvSpPr>
        <p:spPr>
          <a:xfrm>
            <a:off x="5705856" y="3309621"/>
            <a:ext cx="3017520" cy="739140"/>
          </a:xfrm>
          <a:prstGeom prst="rect">
            <a:avLst/>
          </a:prstGeom>
          <a:noFill/>
          <a:ln/>
        </p:spPr>
        <p:txBody>
          <a:bodyPr wrap="square" rtlCol="0" anchor="ctr"/>
          <a:lstStyle/>
          <a:p>
            <a:pPr marL="0" indent="0">
              <a:buNone/>
            </a:pPr>
            <a:r>
              <a:rPr lang="en-US" sz="1300" dirty="0">
                <a:solidFill>
                  <a:srgbClr val="3D3D3D"/>
                </a:solidFill>
                <a:latin typeface="Times New Roman" pitchFamily="34" charset="0"/>
                <a:ea typeface="Times New Roman" pitchFamily="34" charset="-122"/>
                <a:cs typeface="Times New Roman" pitchFamily="34" charset="-120"/>
              </a:rPr>
              <a:t>Majority voting reduces variance effectively</a:t>
            </a:r>
            <a:endParaRPr lang="en-US" sz="1300" dirty="0"/>
          </a:p>
        </p:txBody>
      </p:sp>
      <p:sp>
        <p:nvSpPr>
          <p:cNvPr id="21" name="Shape 17"/>
          <p:cNvSpPr/>
          <p:nvPr/>
        </p:nvSpPr>
        <p:spPr>
          <a:xfrm>
            <a:off x="5577840" y="4094481"/>
            <a:ext cx="3200400" cy="739140"/>
          </a:xfrm>
          <a:prstGeom prst="rect">
            <a:avLst/>
          </a:prstGeom>
          <a:solidFill>
            <a:srgbClr val="F9F9F9"/>
          </a:solidFill>
          <a:ln w="12700">
            <a:solidFill>
              <a:srgbClr val="E0E0E0"/>
            </a:solidFill>
            <a:prstDash val="solid"/>
          </a:ln>
        </p:spPr>
      </p:sp>
      <p:sp>
        <p:nvSpPr>
          <p:cNvPr id="22" name="Shape 18"/>
          <p:cNvSpPr/>
          <p:nvPr/>
        </p:nvSpPr>
        <p:spPr>
          <a:xfrm>
            <a:off x="5577840" y="4094481"/>
            <a:ext cx="64008" cy="739140"/>
          </a:xfrm>
          <a:prstGeom prst="rect">
            <a:avLst/>
          </a:prstGeom>
          <a:solidFill>
            <a:srgbClr val="E87722"/>
          </a:solidFill>
          <a:ln w="12700">
            <a:solidFill>
              <a:srgbClr val="E87722"/>
            </a:solidFill>
            <a:prstDash val="solid"/>
          </a:ln>
        </p:spPr>
      </p:sp>
      <p:sp>
        <p:nvSpPr>
          <p:cNvPr id="23" name="Text 19"/>
          <p:cNvSpPr/>
          <p:nvPr/>
        </p:nvSpPr>
        <p:spPr>
          <a:xfrm>
            <a:off x="5705856" y="4094481"/>
            <a:ext cx="3017520" cy="739140"/>
          </a:xfrm>
          <a:prstGeom prst="rect">
            <a:avLst/>
          </a:prstGeom>
          <a:noFill/>
          <a:ln/>
        </p:spPr>
        <p:txBody>
          <a:bodyPr wrap="square" rtlCol="0" anchor="ctr"/>
          <a:lstStyle/>
          <a:p>
            <a:pPr marL="0" indent="0">
              <a:buNone/>
            </a:pPr>
            <a:r>
              <a:rPr lang="en-US" sz="1300" dirty="0">
                <a:solidFill>
                  <a:srgbClr val="3D3D3D"/>
                </a:solidFill>
                <a:latin typeface="Times New Roman" pitchFamily="34" charset="0"/>
                <a:ea typeface="Times New Roman" pitchFamily="34" charset="-122"/>
                <a:cs typeface="Times New Roman" pitchFamily="34" charset="-120"/>
              </a:rPr>
              <a:t>Optimal for datasets with n &lt; 1000 samples</a:t>
            </a:r>
            <a:endParaRPr lang="en-US" sz="1300" dirty="0"/>
          </a:p>
        </p:txBody>
      </p:sp>
      <p:grpSp>
        <p:nvGrpSpPr>
          <p:cNvPr id="26" name="Group 25">
            <a:extLst>
              <a:ext uri="{FF2B5EF4-FFF2-40B4-BE49-F238E27FC236}">
                <a16:creationId xmlns:a16="http://schemas.microsoft.com/office/drawing/2014/main" id="{72562EB6-C7C7-8B22-AB40-CAF83BECE49A}"/>
              </a:ext>
            </a:extLst>
          </p:cNvPr>
          <p:cNvGrpSpPr/>
          <p:nvPr/>
        </p:nvGrpSpPr>
        <p:grpSpPr>
          <a:xfrm>
            <a:off x="5577840" y="1882891"/>
            <a:ext cx="1463040" cy="601980"/>
            <a:chOff x="5577840" y="1325880"/>
            <a:chExt cx="1463040" cy="960120"/>
          </a:xfrm>
        </p:grpSpPr>
        <p:sp>
          <p:nvSpPr>
            <p:cNvPr id="27" name="Shape 5">
              <a:extLst>
                <a:ext uri="{FF2B5EF4-FFF2-40B4-BE49-F238E27FC236}">
                  <a16:creationId xmlns:a16="http://schemas.microsoft.com/office/drawing/2014/main" id="{26801446-477E-E91F-7E31-16B2DCF9F437}"/>
                </a:ext>
              </a:extLst>
            </p:cNvPr>
            <p:cNvSpPr/>
            <p:nvPr/>
          </p:nvSpPr>
          <p:spPr>
            <a:xfrm>
              <a:off x="5577840" y="1325880"/>
              <a:ext cx="1463040" cy="960120"/>
            </a:xfrm>
            <a:prstGeom prst="rect">
              <a:avLst/>
            </a:prstGeom>
            <a:solidFill>
              <a:srgbClr val="F5F8FF"/>
            </a:solidFill>
            <a:ln w="12700">
              <a:solidFill>
                <a:srgbClr val="DDDDDD"/>
              </a:solidFill>
              <a:prstDash val="solid"/>
            </a:ln>
          </p:spPr>
        </p:sp>
        <p:sp>
          <p:nvSpPr>
            <p:cNvPr id="28" name="Text 6">
              <a:extLst>
                <a:ext uri="{FF2B5EF4-FFF2-40B4-BE49-F238E27FC236}">
                  <a16:creationId xmlns:a16="http://schemas.microsoft.com/office/drawing/2014/main" id="{5B3A8ADE-33EF-DB79-4D5E-F98917FF3C55}"/>
                </a:ext>
              </a:extLst>
            </p:cNvPr>
            <p:cNvSpPr/>
            <p:nvPr/>
          </p:nvSpPr>
          <p:spPr>
            <a:xfrm>
              <a:off x="5577840" y="1371600"/>
              <a:ext cx="1463040" cy="438912"/>
            </a:xfrm>
            <a:prstGeom prst="rect">
              <a:avLst/>
            </a:prstGeom>
            <a:noFill/>
            <a:ln/>
          </p:spPr>
          <p:txBody>
            <a:bodyPr wrap="square" lIns="0" tIns="0" rIns="0" bIns="0" rtlCol="0" anchor="ctr"/>
            <a:lstStyle/>
            <a:p>
              <a:pPr marL="0" indent="0" algn="ctr">
                <a:buNone/>
              </a:pPr>
              <a:r>
                <a:rPr lang="en-US" sz="2000" b="1" dirty="0">
                  <a:solidFill>
                    <a:srgbClr val="3D3D3D"/>
                  </a:solidFill>
                  <a:latin typeface="Times New Roman" pitchFamily="34" charset="0"/>
                  <a:cs typeface="Times New Roman" pitchFamily="34" charset="-120"/>
                </a:rPr>
                <a:t>0.79</a:t>
              </a:r>
              <a:endParaRPr lang="en-US" sz="2000" dirty="0"/>
            </a:p>
          </p:txBody>
        </p:sp>
        <p:sp>
          <p:nvSpPr>
            <p:cNvPr id="29" name="Text 7">
              <a:extLst>
                <a:ext uri="{FF2B5EF4-FFF2-40B4-BE49-F238E27FC236}">
                  <a16:creationId xmlns:a16="http://schemas.microsoft.com/office/drawing/2014/main" id="{6095C339-0A71-2E6C-A0EE-3D2F96F7626C}"/>
                </a:ext>
              </a:extLst>
            </p:cNvPr>
            <p:cNvSpPr/>
            <p:nvPr/>
          </p:nvSpPr>
          <p:spPr>
            <a:xfrm>
              <a:off x="5577840" y="1801368"/>
              <a:ext cx="1463040" cy="438912"/>
            </a:xfrm>
            <a:prstGeom prst="rect">
              <a:avLst/>
            </a:prstGeom>
            <a:noFill/>
            <a:ln/>
          </p:spPr>
          <p:txBody>
            <a:bodyPr wrap="square" lIns="0" tIns="0" rIns="0" bIns="0" rtlCol="0" anchor="ctr"/>
            <a:lstStyle/>
            <a:p>
              <a:pPr marL="0" indent="0" algn="ctr">
                <a:buNone/>
              </a:pPr>
              <a:r>
                <a:rPr lang="en-US" sz="1100" dirty="0">
                  <a:solidFill>
                    <a:srgbClr val="3D3D3D"/>
                  </a:solidFill>
                  <a:latin typeface="Times New Roman" pitchFamily="34" charset="0"/>
                  <a:ea typeface="Times New Roman" pitchFamily="34" charset="-122"/>
                  <a:cs typeface="Times New Roman" pitchFamily="34" charset="-120"/>
                </a:rPr>
                <a:t>XGBoost</a:t>
              </a:r>
              <a:endParaRPr lang="en-US" sz="1100" dirty="0"/>
            </a:p>
            <a:p>
              <a:pPr marL="0" indent="0" algn="ctr">
                <a:buNone/>
              </a:pPr>
              <a:r>
                <a:rPr lang="en-US" sz="1100" dirty="0">
                  <a:solidFill>
                    <a:srgbClr val="3D3D3D"/>
                  </a:solidFill>
                  <a:latin typeface="Times New Roman" pitchFamily="34" charset="0"/>
                  <a:ea typeface="Times New Roman" pitchFamily="34" charset="-122"/>
                  <a:cs typeface="Times New Roman" pitchFamily="34" charset="-120"/>
                </a:rPr>
                <a:t>Diabetes AUC</a:t>
              </a:r>
              <a:endParaRPr lang="en-US" sz="1100" dirty="0"/>
            </a:p>
          </p:txBody>
        </p:sp>
      </p:grpSp>
      <p:grpSp>
        <p:nvGrpSpPr>
          <p:cNvPr id="30" name="Group 29">
            <a:extLst>
              <a:ext uri="{FF2B5EF4-FFF2-40B4-BE49-F238E27FC236}">
                <a16:creationId xmlns:a16="http://schemas.microsoft.com/office/drawing/2014/main" id="{A23F1638-90BB-6B20-9657-258F9CCEB1F9}"/>
              </a:ext>
            </a:extLst>
          </p:cNvPr>
          <p:cNvGrpSpPr/>
          <p:nvPr/>
        </p:nvGrpSpPr>
        <p:grpSpPr>
          <a:xfrm>
            <a:off x="7227147" y="1884342"/>
            <a:ext cx="1463040" cy="601980"/>
            <a:chOff x="7223760" y="1325880"/>
            <a:chExt cx="1554480" cy="960120"/>
          </a:xfrm>
        </p:grpSpPr>
        <p:sp>
          <p:nvSpPr>
            <p:cNvPr id="31" name="Shape 8">
              <a:extLst>
                <a:ext uri="{FF2B5EF4-FFF2-40B4-BE49-F238E27FC236}">
                  <a16:creationId xmlns:a16="http://schemas.microsoft.com/office/drawing/2014/main" id="{298093E9-DA8F-C074-ED04-8F29BB6C0C20}"/>
                </a:ext>
              </a:extLst>
            </p:cNvPr>
            <p:cNvSpPr/>
            <p:nvPr/>
          </p:nvSpPr>
          <p:spPr>
            <a:xfrm>
              <a:off x="7223760" y="1325880"/>
              <a:ext cx="1554480" cy="960120"/>
            </a:xfrm>
            <a:prstGeom prst="rect">
              <a:avLst/>
            </a:prstGeom>
            <a:solidFill>
              <a:srgbClr val="E8F5E9"/>
            </a:solidFill>
            <a:ln w="12700">
              <a:solidFill>
                <a:srgbClr val="E87722"/>
              </a:solidFill>
              <a:prstDash val="solid"/>
            </a:ln>
          </p:spPr>
        </p:sp>
        <p:sp>
          <p:nvSpPr>
            <p:cNvPr id="32" name="Text 9">
              <a:extLst>
                <a:ext uri="{FF2B5EF4-FFF2-40B4-BE49-F238E27FC236}">
                  <a16:creationId xmlns:a16="http://schemas.microsoft.com/office/drawing/2014/main" id="{4D7FD95B-6C1C-9872-0D5E-4AF70E620379}"/>
                </a:ext>
              </a:extLst>
            </p:cNvPr>
            <p:cNvSpPr/>
            <p:nvPr/>
          </p:nvSpPr>
          <p:spPr>
            <a:xfrm>
              <a:off x="7223760" y="1371600"/>
              <a:ext cx="1554480" cy="438912"/>
            </a:xfrm>
            <a:prstGeom prst="rect">
              <a:avLst/>
            </a:prstGeom>
            <a:noFill/>
            <a:ln/>
          </p:spPr>
          <p:txBody>
            <a:bodyPr wrap="square" lIns="0" tIns="0" rIns="0" bIns="0" rtlCol="0" anchor="ctr"/>
            <a:lstStyle/>
            <a:p>
              <a:pPr marL="0" indent="0" algn="ctr">
                <a:buNone/>
              </a:pPr>
              <a:r>
                <a:rPr lang="en-US" sz="2000" b="1" dirty="0">
                  <a:solidFill>
                    <a:srgbClr val="E87722"/>
                  </a:solidFill>
                  <a:latin typeface="Times New Roman" pitchFamily="34" charset="0"/>
                  <a:cs typeface="Times New Roman" pitchFamily="34" charset="-120"/>
                </a:rPr>
                <a:t>0.82</a:t>
              </a:r>
              <a:endParaRPr lang="en-US" sz="2000" dirty="0"/>
            </a:p>
          </p:txBody>
        </p:sp>
        <p:sp>
          <p:nvSpPr>
            <p:cNvPr id="33" name="Text 10">
              <a:extLst>
                <a:ext uri="{FF2B5EF4-FFF2-40B4-BE49-F238E27FC236}">
                  <a16:creationId xmlns:a16="http://schemas.microsoft.com/office/drawing/2014/main" id="{7A3A7171-AAE0-4FFA-6A67-9338028B332D}"/>
                </a:ext>
              </a:extLst>
            </p:cNvPr>
            <p:cNvSpPr/>
            <p:nvPr/>
          </p:nvSpPr>
          <p:spPr>
            <a:xfrm>
              <a:off x="7223760" y="1801368"/>
              <a:ext cx="1554480" cy="438912"/>
            </a:xfrm>
            <a:prstGeom prst="rect">
              <a:avLst/>
            </a:prstGeom>
            <a:noFill/>
            <a:ln/>
          </p:spPr>
          <p:txBody>
            <a:bodyPr wrap="square" lIns="0" tIns="0" rIns="0" bIns="0" rtlCol="0" anchor="ctr"/>
            <a:lstStyle/>
            <a:p>
              <a:pPr marL="0" indent="0" algn="ctr">
                <a:buNone/>
              </a:pPr>
              <a:r>
                <a:rPr lang="en-US" sz="1100" dirty="0">
                  <a:solidFill>
                    <a:srgbClr val="3D3D3D"/>
                  </a:solidFill>
                  <a:latin typeface="Times New Roman" pitchFamily="34" charset="0"/>
                  <a:ea typeface="Times New Roman" pitchFamily="34" charset="-122"/>
                  <a:cs typeface="Times New Roman" pitchFamily="34" charset="-120"/>
                </a:rPr>
                <a:t>Random Forest</a:t>
              </a:r>
              <a:endParaRPr lang="en-US" sz="1100" dirty="0"/>
            </a:p>
            <a:p>
              <a:pPr marL="0" indent="0" algn="ctr">
                <a:buNone/>
              </a:pPr>
              <a:r>
                <a:rPr lang="en-US" sz="1100" dirty="0">
                  <a:solidFill>
                    <a:srgbClr val="3D3D3D"/>
                  </a:solidFill>
                  <a:latin typeface="Times New Roman" pitchFamily="34" charset="0"/>
                  <a:ea typeface="Times New Roman" pitchFamily="34" charset="-122"/>
                  <a:cs typeface="Times New Roman" pitchFamily="34" charset="-120"/>
                </a:rPr>
                <a:t>Diabetes AUC</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XGBoost Architecture and Limitations</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ea typeface="Times New Roman" pitchFamily="34" charset="-122"/>
                <a:cs typeface="Times New Roman" pitchFamily="34" charset="-120"/>
              </a:rPr>
              <a:t>19</a:t>
            </a:r>
            <a:endParaRPr lang="en-US" sz="1400" dirty="0"/>
          </a:p>
        </p:txBody>
      </p:sp>
      <p:sp>
        <p:nvSpPr>
          <p:cNvPr id="7" name="Text 4"/>
          <p:cNvSpPr/>
          <p:nvPr/>
        </p:nvSpPr>
        <p:spPr>
          <a:xfrm>
            <a:off x="365760" y="1136230"/>
            <a:ext cx="5029200" cy="822960"/>
          </a:xfrm>
          <a:prstGeom prst="rect">
            <a:avLst/>
          </a:prstGeom>
          <a:noFill/>
          <a:ln/>
        </p:spPr>
        <p:txBody>
          <a:bodyPr wrap="square"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XGBoost builds trees sequentially, where each tree corrects errors made by previous iterations through residual learning. While this gradient boosting approach is powerful on large datasets, its sequential nature struggles with small samples.</a:t>
            </a:r>
            <a:endParaRPr lang="en-US" sz="1200" dirty="0"/>
          </a:p>
        </p:txBody>
      </p:sp>
      <p:pic>
        <p:nvPicPr>
          <p:cNvPr id="14" name="Image 1" descr="preencoded.png"/>
          <p:cNvPicPr>
            <a:picLocks noChangeAspect="1"/>
          </p:cNvPicPr>
          <p:nvPr/>
        </p:nvPicPr>
        <p:blipFill>
          <a:blip r:embed="rId4"/>
          <a:stretch>
            <a:fillRect/>
          </a:stretch>
        </p:blipFill>
        <p:spPr>
          <a:xfrm>
            <a:off x="365760" y="1959190"/>
            <a:ext cx="5029200" cy="2818550"/>
          </a:xfrm>
          <a:prstGeom prst="rect">
            <a:avLst/>
          </a:prstGeom>
        </p:spPr>
      </p:pic>
      <p:grpSp>
        <p:nvGrpSpPr>
          <p:cNvPr id="34" name="Group 33">
            <a:extLst>
              <a:ext uri="{FF2B5EF4-FFF2-40B4-BE49-F238E27FC236}">
                <a16:creationId xmlns:a16="http://schemas.microsoft.com/office/drawing/2014/main" id="{AAE8E190-37C7-C8AB-D8F0-A4C12F91BB6D}"/>
              </a:ext>
            </a:extLst>
          </p:cNvPr>
          <p:cNvGrpSpPr/>
          <p:nvPr/>
        </p:nvGrpSpPr>
        <p:grpSpPr>
          <a:xfrm>
            <a:off x="5577840" y="2513536"/>
            <a:ext cx="3200400" cy="2282491"/>
            <a:chOff x="5577840" y="2304288"/>
            <a:chExt cx="3200400" cy="2491740"/>
          </a:xfrm>
        </p:grpSpPr>
        <p:sp>
          <p:nvSpPr>
            <p:cNvPr id="15" name="Shape 11"/>
            <p:cNvSpPr/>
            <p:nvPr/>
          </p:nvSpPr>
          <p:spPr>
            <a:xfrm>
              <a:off x="5577840" y="2304288"/>
              <a:ext cx="3200400" cy="2473452"/>
            </a:xfrm>
            <a:prstGeom prst="rect">
              <a:avLst/>
            </a:prstGeom>
            <a:solidFill>
              <a:srgbClr val="FFF4EC"/>
            </a:solidFill>
            <a:ln w="12700">
              <a:solidFill>
                <a:srgbClr val="E87722"/>
              </a:solidFill>
              <a:prstDash val="solid"/>
            </a:ln>
          </p:spPr>
        </p:sp>
        <p:sp>
          <p:nvSpPr>
            <p:cNvPr id="16" name="Text 12"/>
            <p:cNvSpPr/>
            <p:nvPr/>
          </p:nvSpPr>
          <p:spPr>
            <a:xfrm>
              <a:off x="5669280" y="2377440"/>
              <a:ext cx="3017520" cy="274320"/>
            </a:xfrm>
            <a:prstGeom prst="rect">
              <a:avLst/>
            </a:prstGeom>
            <a:noFill/>
            <a:ln/>
          </p:spPr>
          <p:txBody>
            <a:bodyPr wrap="square" rtlCol="0" anchor="ctr"/>
            <a:lstStyle/>
            <a:p>
              <a:pPr marL="0" indent="0">
                <a:buNone/>
              </a:pPr>
              <a:r>
                <a:rPr lang="en-US" sz="1400" b="1" dirty="0">
                  <a:solidFill>
                    <a:srgbClr val="E87722"/>
                  </a:solidFill>
                  <a:latin typeface="Times New Roman" pitchFamily="34" charset="0"/>
                  <a:ea typeface="Times New Roman" pitchFamily="34" charset="-122"/>
                  <a:cs typeface="Times New Roman" pitchFamily="34" charset="-120"/>
                </a:rPr>
                <a:t>Critical Limitation</a:t>
              </a:r>
              <a:endParaRPr lang="en-US" sz="1400" dirty="0"/>
            </a:p>
          </p:txBody>
        </p:sp>
        <p:sp>
          <p:nvSpPr>
            <p:cNvPr id="17" name="Text 13"/>
            <p:cNvSpPr/>
            <p:nvPr/>
          </p:nvSpPr>
          <p:spPr>
            <a:xfrm>
              <a:off x="5669280" y="2688336"/>
              <a:ext cx="3017520" cy="2107692"/>
            </a:xfrm>
            <a:prstGeom prst="rect">
              <a:avLst/>
            </a:prstGeom>
            <a:noFill/>
            <a:ln/>
          </p:spPr>
          <p:txBody>
            <a:bodyPr wrap="square" rtlCol="0" anchor="ctr"/>
            <a:lstStyle/>
            <a:p>
              <a:pPr marL="0" indent="0">
                <a:buNone/>
              </a:pPr>
              <a:r>
                <a:rPr lang="en-US" sz="1300" dirty="0" err="1">
                  <a:solidFill>
                    <a:srgbClr val="3D3D3D"/>
                  </a:solidFill>
                  <a:latin typeface="Times New Roman" pitchFamily="34" charset="0"/>
                  <a:ea typeface="Times New Roman" pitchFamily="34" charset="-122"/>
                  <a:cs typeface="Times New Roman" pitchFamily="34" charset="-120"/>
                </a:rPr>
                <a:t>XGBoost</a:t>
              </a:r>
              <a:r>
                <a:rPr lang="en-US" sz="1300" dirty="0">
                  <a:solidFill>
                    <a:srgbClr val="3D3D3D"/>
                  </a:solidFill>
                  <a:latin typeface="Times New Roman" pitchFamily="34" charset="0"/>
                  <a:ea typeface="Times New Roman" pitchFamily="34" charset="-122"/>
                  <a:cs typeface="Times New Roman" pitchFamily="34" charset="-120"/>
                </a:rPr>
                <a:t> requires large samples for its sequential boosting. It underperformed Random Forest on the 400-sample CKD dataset. Even on the larger 768-sample Diabetes dataset, its AUC (0.79) lagged behind Random Forest (0.82), proving that for datasets under 1,000 samples, parallel bagging (RF) beats sequential boosting (</a:t>
              </a:r>
              <a:r>
                <a:rPr lang="en-US" sz="1300" dirty="0" err="1">
                  <a:solidFill>
                    <a:srgbClr val="3D3D3D"/>
                  </a:solidFill>
                  <a:latin typeface="Times New Roman" pitchFamily="34" charset="0"/>
                  <a:ea typeface="Times New Roman" pitchFamily="34" charset="-122"/>
                  <a:cs typeface="Times New Roman" pitchFamily="34" charset="-120"/>
                </a:rPr>
                <a:t>XGBoost</a:t>
              </a:r>
              <a:r>
                <a:rPr lang="en-US" sz="1300" dirty="0">
                  <a:solidFill>
                    <a:srgbClr val="3D3D3D"/>
                  </a:solidFill>
                  <a:latin typeface="Times New Roman" pitchFamily="34" charset="0"/>
                  <a:ea typeface="Times New Roman" pitchFamily="34" charset="-122"/>
                  <a:cs typeface="Times New Roman" pitchFamily="34" charset="-120"/>
                </a:rPr>
                <a:t>).</a:t>
              </a:r>
              <a:endParaRPr lang="en-US" sz="1300" dirty="0"/>
            </a:p>
          </p:txBody>
        </p:sp>
      </p:grpSp>
      <p:grpSp>
        <p:nvGrpSpPr>
          <p:cNvPr id="8" name="Group 7">
            <a:extLst>
              <a:ext uri="{FF2B5EF4-FFF2-40B4-BE49-F238E27FC236}">
                <a16:creationId xmlns:a16="http://schemas.microsoft.com/office/drawing/2014/main" id="{5C24EBA6-3F00-7C89-34C1-59ACC0D95C85}"/>
              </a:ext>
            </a:extLst>
          </p:cNvPr>
          <p:cNvGrpSpPr/>
          <p:nvPr/>
        </p:nvGrpSpPr>
        <p:grpSpPr>
          <a:xfrm>
            <a:off x="5577840" y="1241021"/>
            <a:ext cx="1463040" cy="601980"/>
            <a:chOff x="5577840" y="1325880"/>
            <a:chExt cx="1463040" cy="960120"/>
          </a:xfrm>
        </p:grpSpPr>
        <p:sp>
          <p:nvSpPr>
            <p:cNvPr id="9" name="Shape 5">
              <a:extLst>
                <a:ext uri="{FF2B5EF4-FFF2-40B4-BE49-F238E27FC236}">
                  <a16:creationId xmlns:a16="http://schemas.microsoft.com/office/drawing/2014/main" id="{134D9316-0245-92E3-387C-AD500594C3EE}"/>
                </a:ext>
              </a:extLst>
            </p:cNvPr>
            <p:cNvSpPr/>
            <p:nvPr/>
          </p:nvSpPr>
          <p:spPr>
            <a:xfrm>
              <a:off x="5577840" y="1325880"/>
              <a:ext cx="1463040" cy="960120"/>
            </a:xfrm>
            <a:prstGeom prst="rect">
              <a:avLst/>
            </a:prstGeom>
            <a:solidFill>
              <a:srgbClr val="F5F8FF"/>
            </a:solidFill>
            <a:ln w="12700">
              <a:solidFill>
                <a:srgbClr val="DDDDDD"/>
              </a:solidFill>
              <a:prstDash val="solid"/>
            </a:ln>
          </p:spPr>
        </p:sp>
        <p:sp>
          <p:nvSpPr>
            <p:cNvPr id="10" name="Text 6">
              <a:extLst>
                <a:ext uri="{FF2B5EF4-FFF2-40B4-BE49-F238E27FC236}">
                  <a16:creationId xmlns:a16="http://schemas.microsoft.com/office/drawing/2014/main" id="{608CB87C-6E2B-D752-7B75-BB5E16AC5DB2}"/>
                </a:ext>
              </a:extLst>
            </p:cNvPr>
            <p:cNvSpPr/>
            <p:nvPr/>
          </p:nvSpPr>
          <p:spPr>
            <a:xfrm>
              <a:off x="5577840" y="1371600"/>
              <a:ext cx="1463040" cy="438912"/>
            </a:xfrm>
            <a:prstGeom prst="rect">
              <a:avLst/>
            </a:prstGeom>
            <a:noFill/>
            <a:ln/>
          </p:spPr>
          <p:txBody>
            <a:bodyPr wrap="square" lIns="0" tIns="0" rIns="0" bIns="0" rtlCol="0" anchor="ctr"/>
            <a:lstStyle/>
            <a:p>
              <a:pPr marL="0" indent="0" algn="ctr">
                <a:buNone/>
              </a:pPr>
              <a:r>
                <a:rPr lang="en-US" sz="2000" b="1" dirty="0">
                  <a:solidFill>
                    <a:srgbClr val="3D3D3D"/>
                  </a:solidFill>
                  <a:latin typeface="Times New Roman" pitchFamily="34" charset="0"/>
                  <a:ea typeface="Times New Roman" pitchFamily="34" charset="-122"/>
                  <a:cs typeface="Times New Roman" pitchFamily="34" charset="-120"/>
                </a:rPr>
                <a:t>98.5%</a:t>
              </a:r>
              <a:endParaRPr lang="en-US" sz="2000" dirty="0"/>
            </a:p>
          </p:txBody>
        </p:sp>
        <p:sp>
          <p:nvSpPr>
            <p:cNvPr id="11" name="Text 7">
              <a:extLst>
                <a:ext uri="{FF2B5EF4-FFF2-40B4-BE49-F238E27FC236}">
                  <a16:creationId xmlns:a16="http://schemas.microsoft.com/office/drawing/2014/main" id="{59452F6B-87DC-E2AB-D9C6-7D0E7A10E5DA}"/>
                </a:ext>
              </a:extLst>
            </p:cNvPr>
            <p:cNvSpPr/>
            <p:nvPr/>
          </p:nvSpPr>
          <p:spPr>
            <a:xfrm>
              <a:off x="5577840" y="1801368"/>
              <a:ext cx="1463040" cy="438912"/>
            </a:xfrm>
            <a:prstGeom prst="rect">
              <a:avLst/>
            </a:prstGeom>
            <a:noFill/>
            <a:ln/>
          </p:spPr>
          <p:txBody>
            <a:bodyPr wrap="square" lIns="0" tIns="0" rIns="0" bIns="0" rtlCol="0" anchor="ctr"/>
            <a:lstStyle/>
            <a:p>
              <a:pPr marL="0" indent="0" algn="ctr">
                <a:buNone/>
              </a:pPr>
              <a:r>
                <a:rPr lang="en-US" sz="1100" dirty="0">
                  <a:solidFill>
                    <a:srgbClr val="3D3D3D"/>
                  </a:solidFill>
                  <a:latin typeface="Times New Roman" pitchFamily="34" charset="0"/>
                  <a:ea typeface="Times New Roman" pitchFamily="34" charset="-122"/>
                  <a:cs typeface="Times New Roman" pitchFamily="34" charset="-120"/>
                </a:rPr>
                <a:t>XGBoost</a:t>
              </a:r>
              <a:endParaRPr lang="en-US" sz="1100" dirty="0"/>
            </a:p>
            <a:p>
              <a:pPr marL="0" indent="0" algn="ctr">
                <a:buNone/>
              </a:pPr>
              <a:r>
                <a:rPr lang="en-US" sz="1100" dirty="0">
                  <a:solidFill>
                    <a:srgbClr val="3D3D3D"/>
                  </a:solidFill>
                  <a:latin typeface="Times New Roman" pitchFamily="34" charset="0"/>
                  <a:ea typeface="Times New Roman" pitchFamily="34" charset="-122"/>
                  <a:cs typeface="Times New Roman" pitchFamily="34" charset="-120"/>
                </a:rPr>
                <a:t>CKD Accuracy</a:t>
              </a:r>
              <a:endParaRPr lang="en-US" sz="1100" dirty="0"/>
            </a:p>
          </p:txBody>
        </p:sp>
      </p:grpSp>
      <p:grpSp>
        <p:nvGrpSpPr>
          <p:cNvPr id="12" name="Group 11">
            <a:extLst>
              <a:ext uri="{FF2B5EF4-FFF2-40B4-BE49-F238E27FC236}">
                <a16:creationId xmlns:a16="http://schemas.microsoft.com/office/drawing/2014/main" id="{BB73E896-1D0C-0473-22C2-5DA2B50B2814}"/>
              </a:ext>
            </a:extLst>
          </p:cNvPr>
          <p:cNvGrpSpPr/>
          <p:nvPr/>
        </p:nvGrpSpPr>
        <p:grpSpPr>
          <a:xfrm>
            <a:off x="7223760" y="1238154"/>
            <a:ext cx="1463040" cy="601980"/>
            <a:chOff x="7223760" y="1325880"/>
            <a:chExt cx="1554480" cy="960120"/>
          </a:xfrm>
        </p:grpSpPr>
        <p:sp>
          <p:nvSpPr>
            <p:cNvPr id="13" name="Shape 8">
              <a:extLst>
                <a:ext uri="{FF2B5EF4-FFF2-40B4-BE49-F238E27FC236}">
                  <a16:creationId xmlns:a16="http://schemas.microsoft.com/office/drawing/2014/main" id="{B2C04C5A-4586-615C-F91F-367968CC9B1B}"/>
                </a:ext>
              </a:extLst>
            </p:cNvPr>
            <p:cNvSpPr/>
            <p:nvPr/>
          </p:nvSpPr>
          <p:spPr>
            <a:xfrm>
              <a:off x="7223760" y="1325880"/>
              <a:ext cx="1554480" cy="960120"/>
            </a:xfrm>
            <a:prstGeom prst="rect">
              <a:avLst/>
            </a:prstGeom>
            <a:solidFill>
              <a:srgbClr val="E8F5E9"/>
            </a:solidFill>
            <a:ln w="12700">
              <a:solidFill>
                <a:srgbClr val="E87722"/>
              </a:solidFill>
              <a:prstDash val="solid"/>
            </a:ln>
          </p:spPr>
        </p:sp>
        <p:sp>
          <p:nvSpPr>
            <p:cNvPr id="35" name="Text 9">
              <a:extLst>
                <a:ext uri="{FF2B5EF4-FFF2-40B4-BE49-F238E27FC236}">
                  <a16:creationId xmlns:a16="http://schemas.microsoft.com/office/drawing/2014/main" id="{F105E04B-2EBD-06CC-E71C-EA96E25AFFF0}"/>
                </a:ext>
              </a:extLst>
            </p:cNvPr>
            <p:cNvSpPr/>
            <p:nvPr/>
          </p:nvSpPr>
          <p:spPr>
            <a:xfrm>
              <a:off x="7223760" y="1371600"/>
              <a:ext cx="1554480" cy="438912"/>
            </a:xfrm>
            <a:prstGeom prst="rect">
              <a:avLst/>
            </a:prstGeom>
            <a:noFill/>
            <a:ln/>
          </p:spPr>
          <p:txBody>
            <a:bodyPr wrap="square" lIns="0" tIns="0" rIns="0" bIns="0" rtlCol="0" anchor="ctr"/>
            <a:lstStyle/>
            <a:p>
              <a:pPr marL="0" indent="0" algn="ctr">
                <a:buNone/>
              </a:pPr>
              <a:r>
                <a:rPr lang="en-US" sz="2000" b="1" dirty="0">
                  <a:solidFill>
                    <a:srgbClr val="E87722"/>
                  </a:solidFill>
                  <a:latin typeface="Times New Roman" pitchFamily="34" charset="0"/>
                  <a:ea typeface="Times New Roman" pitchFamily="34" charset="-122"/>
                  <a:cs typeface="Times New Roman" pitchFamily="34" charset="-120"/>
                </a:rPr>
                <a:t>99.5%</a:t>
              </a:r>
              <a:endParaRPr lang="en-US" sz="2000" dirty="0"/>
            </a:p>
          </p:txBody>
        </p:sp>
        <p:sp>
          <p:nvSpPr>
            <p:cNvPr id="36" name="Text 10">
              <a:extLst>
                <a:ext uri="{FF2B5EF4-FFF2-40B4-BE49-F238E27FC236}">
                  <a16:creationId xmlns:a16="http://schemas.microsoft.com/office/drawing/2014/main" id="{F1EE8A07-3894-E564-F920-B26D24F5DE29}"/>
                </a:ext>
              </a:extLst>
            </p:cNvPr>
            <p:cNvSpPr/>
            <p:nvPr/>
          </p:nvSpPr>
          <p:spPr>
            <a:xfrm>
              <a:off x="7223760" y="1801368"/>
              <a:ext cx="1554480" cy="438912"/>
            </a:xfrm>
            <a:prstGeom prst="rect">
              <a:avLst/>
            </a:prstGeom>
            <a:noFill/>
            <a:ln/>
          </p:spPr>
          <p:txBody>
            <a:bodyPr wrap="square" lIns="0" tIns="0" rIns="0" bIns="0" rtlCol="0" anchor="ctr"/>
            <a:lstStyle/>
            <a:p>
              <a:pPr marL="0" indent="0" algn="ctr">
                <a:buNone/>
              </a:pPr>
              <a:r>
                <a:rPr lang="en-US" sz="1100" dirty="0">
                  <a:solidFill>
                    <a:srgbClr val="3D3D3D"/>
                  </a:solidFill>
                  <a:latin typeface="Times New Roman" pitchFamily="34" charset="0"/>
                  <a:ea typeface="Times New Roman" pitchFamily="34" charset="-122"/>
                  <a:cs typeface="Times New Roman" pitchFamily="34" charset="-120"/>
                </a:rPr>
                <a:t>Random Forest</a:t>
              </a:r>
              <a:endParaRPr lang="en-US" sz="1100" dirty="0"/>
            </a:p>
            <a:p>
              <a:pPr marL="0" indent="0" algn="ctr">
                <a:buNone/>
              </a:pPr>
              <a:r>
                <a:rPr lang="en-US" sz="1100" dirty="0">
                  <a:solidFill>
                    <a:srgbClr val="3D3D3D"/>
                  </a:solidFill>
                  <a:latin typeface="Times New Roman" pitchFamily="34" charset="0"/>
                  <a:ea typeface="Times New Roman" pitchFamily="34" charset="-122"/>
                  <a:cs typeface="Times New Roman" pitchFamily="34" charset="-120"/>
                </a:rPr>
                <a:t>CKD Accuracy</a:t>
              </a:r>
              <a:endParaRPr lang="en-US" sz="1100" dirty="0"/>
            </a:p>
          </p:txBody>
        </p:sp>
      </p:grpSp>
      <p:grpSp>
        <p:nvGrpSpPr>
          <p:cNvPr id="37" name="Group 36">
            <a:extLst>
              <a:ext uri="{FF2B5EF4-FFF2-40B4-BE49-F238E27FC236}">
                <a16:creationId xmlns:a16="http://schemas.microsoft.com/office/drawing/2014/main" id="{D12F60F9-D148-24EB-26F8-80CB0B549225}"/>
              </a:ext>
            </a:extLst>
          </p:cNvPr>
          <p:cNvGrpSpPr/>
          <p:nvPr/>
        </p:nvGrpSpPr>
        <p:grpSpPr>
          <a:xfrm>
            <a:off x="5577840" y="1882891"/>
            <a:ext cx="1463040" cy="601980"/>
            <a:chOff x="5577840" y="1325880"/>
            <a:chExt cx="1463040" cy="960120"/>
          </a:xfrm>
        </p:grpSpPr>
        <p:sp>
          <p:nvSpPr>
            <p:cNvPr id="38" name="Shape 5">
              <a:extLst>
                <a:ext uri="{FF2B5EF4-FFF2-40B4-BE49-F238E27FC236}">
                  <a16:creationId xmlns:a16="http://schemas.microsoft.com/office/drawing/2014/main" id="{B031F5CA-0A09-962E-4C3D-C4601DBAD365}"/>
                </a:ext>
              </a:extLst>
            </p:cNvPr>
            <p:cNvSpPr/>
            <p:nvPr/>
          </p:nvSpPr>
          <p:spPr>
            <a:xfrm>
              <a:off x="5577840" y="1325880"/>
              <a:ext cx="1463040" cy="960120"/>
            </a:xfrm>
            <a:prstGeom prst="rect">
              <a:avLst/>
            </a:prstGeom>
            <a:solidFill>
              <a:srgbClr val="F5F8FF"/>
            </a:solidFill>
            <a:ln w="12700">
              <a:solidFill>
                <a:srgbClr val="DDDDDD"/>
              </a:solidFill>
              <a:prstDash val="solid"/>
            </a:ln>
          </p:spPr>
        </p:sp>
        <p:sp>
          <p:nvSpPr>
            <p:cNvPr id="39" name="Text 6">
              <a:extLst>
                <a:ext uri="{FF2B5EF4-FFF2-40B4-BE49-F238E27FC236}">
                  <a16:creationId xmlns:a16="http://schemas.microsoft.com/office/drawing/2014/main" id="{0041E95D-1832-F4AC-B846-2A847434DDD3}"/>
                </a:ext>
              </a:extLst>
            </p:cNvPr>
            <p:cNvSpPr/>
            <p:nvPr/>
          </p:nvSpPr>
          <p:spPr>
            <a:xfrm>
              <a:off x="5577840" y="1371600"/>
              <a:ext cx="1463040" cy="438912"/>
            </a:xfrm>
            <a:prstGeom prst="rect">
              <a:avLst/>
            </a:prstGeom>
            <a:noFill/>
            <a:ln/>
          </p:spPr>
          <p:txBody>
            <a:bodyPr wrap="square" lIns="0" tIns="0" rIns="0" bIns="0" rtlCol="0" anchor="ctr"/>
            <a:lstStyle/>
            <a:p>
              <a:pPr marL="0" indent="0" algn="ctr">
                <a:buNone/>
              </a:pPr>
              <a:r>
                <a:rPr lang="en-US" sz="2000" b="1" dirty="0">
                  <a:solidFill>
                    <a:srgbClr val="3D3D3D"/>
                  </a:solidFill>
                  <a:latin typeface="Times New Roman" pitchFamily="34" charset="0"/>
                  <a:cs typeface="Times New Roman" pitchFamily="34" charset="-120"/>
                </a:rPr>
                <a:t>0.79</a:t>
              </a:r>
              <a:endParaRPr lang="en-US" sz="2000" dirty="0"/>
            </a:p>
          </p:txBody>
        </p:sp>
        <p:sp>
          <p:nvSpPr>
            <p:cNvPr id="40" name="Text 7">
              <a:extLst>
                <a:ext uri="{FF2B5EF4-FFF2-40B4-BE49-F238E27FC236}">
                  <a16:creationId xmlns:a16="http://schemas.microsoft.com/office/drawing/2014/main" id="{BA95F1F3-1A3D-5DF8-297E-119043CC0165}"/>
                </a:ext>
              </a:extLst>
            </p:cNvPr>
            <p:cNvSpPr/>
            <p:nvPr/>
          </p:nvSpPr>
          <p:spPr>
            <a:xfrm>
              <a:off x="5577840" y="1801368"/>
              <a:ext cx="1463040" cy="438912"/>
            </a:xfrm>
            <a:prstGeom prst="rect">
              <a:avLst/>
            </a:prstGeom>
            <a:noFill/>
            <a:ln/>
          </p:spPr>
          <p:txBody>
            <a:bodyPr wrap="square" lIns="0" tIns="0" rIns="0" bIns="0" rtlCol="0" anchor="ctr"/>
            <a:lstStyle/>
            <a:p>
              <a:pPr marL="0" indent="0" algn="ctr">
                <a:buNone/>
              </a:pPr>
              <a:r>
                <a:rPr lang="en-US" sz="1100" dirty="0">
                  <a:solidFill>
                    <a:srgbClr val="3D3D3D"/>
                  </a:solidFill>
                  <a:latin typeface="Times New Roman" pitchFamily="34" charset="0"/>
                  <a:ea typeface="Times New Roman" pitchFamily="34" charset="-122"/>
                  <a:cs typeface="Times New Roman" pitchFamily="34" charset="-120"/>
                </a:rPr>
                <a:t>XGBoost</a:t>
              </a:r>
              <a:endParaRPr lang="en-US" sz="1100" dirty="0"/>
            </a:p>
            <a:p>
              <a:pPr marL="0" indent="0" algn="ctr">
                <a:buNone/>
              </a:pPr>
              <a:r>
                <a:rPr lang="en-US" sz="1100" dirty="0">
                  <a:solidFill>
                    <a:srgbClr val="3D3D3D"/>
                  </a:solidFill>
                  <a:latin typeface="Times New Roman" pitchFamily="34" charset="0"/>
                  <a:ea typeface="Times New Roman" pitchFamily="34" charset="-122"/>
                  <a:cs typeface="Times New Roman" pitchFamily="34" charset="-120"/>
                </a:rPr>
                <a:t>Diabetes AUC</a:t>
              </a:r>
              <a:endParaRPr lang="en-US" sz="1100" dirty="0"/>
            </a:p>
          </p:txBody>
        </p:sp>
      </p:grpSp>
      <p:grpSp>
        <p:nvGrpSpPr>
          <p:cNvPr id="41" name="Group 40">
            <a:extLst>
              <a:ext uri="{FF2B5EF4-FFF2-40B4-BE49-F238E27FC236}">
                <a16:creationId xmlns:a16="http://schemas.microsoft.com/office/drawing/2014/main" id="{CA4501AA-C481-8426-179C-2FFCA9E1E6DF}"/>
              </a:ext>
            </a:extLst>
          </p:cNvPr>
          <p:cNvGrpSpPr/>
          <p:nvPr/>
        </p:nvGrpSpPr>
        <p:grpSpPr>
          <a:xfrm>
            <a:off x="7227147" y="1884342"/>
            <a:ext cx="1463040" cy="601980"/>
            <a:chOff x="7223760" y="1325880"/>
            <a:chExt cx="1554480" cy="960120"/>
          </a:xfrm>
        </p:grpSpPr>
        <p:sp>
          <p:nvSpPr>
            <p:cNvPr id="42" name="Shape 8">
              <a:extLst>
                <a:ext uri="{FF2B5EF4-FFF2-40B4-BE49-F238E27FC236}">
                  <a16:creationId xmlns:a16="http://schemas.microsoft.com/office/drawing/2014/main" id="{9ED326B6-1E14-4DD3-5F77-49D83F2B6FB6}"/>
                </a:ext>
              </a:extLst>
            </p:cNvPr>
            <p:cNvSpPr/>
            <p:nvPr/>
          </p:nvSpPr>
          <p:spPr>
            <a:xfrm>
              <a:off x="7223760" y="1325880"/>
              <a:ext cx="1554480" cy="960120"/>
            </a:xfrm>
            <a:prstGeom prst="rect">
              <a:avLst/>
            </a:prstGeom>
            <a:solidFill>
              <a:srgbClr val="E8F5E9"/>
            </a:solidFill>
            <a:ln w="12700">
              <a:solidFill>
                <a:srgbClr val="E87722"/>
              </a:solidFill>
              <a:prstDash val="solid"/>
            </a:ln>
          </p:spPr>
        </p:sp>
        <p:sp>
          <p:nvSpPr>
            <p:cNvPr id="43" name="Text 9">
              <a:extLst>
                <a:ext uri="{FF2B5EF4-FFF2-40B4-BE49-F238E27FC236}">
                  <a16:creationId xmlns:a16="http://schemas.microsoft.com/office/drawing/2014/main" id="{38191F0D-BE0E-6667-09C6-06DE85090962}"/>
                </a:ext>
              </a:extLst>
            </p:cNvPr>
            <p:cNvSpPr/>
            <p:nvPr/>
          </p:nvSpPr>
          <p:spPr>
            <a:xfrm>
              <a:off x="7223760" y="1371600"/>
              <a:ext cx="1554480" cy="438912"/>
            </a:xfrm>
            <a:prstGeom prst="rect">
              <a:avLst/>
            </a:prstGeom>
            <a:noFill/>
            <a:ln/>
          </p:spPr>
          <p:txBody>
            <a:bodyPr wrap="square" lIns="0" tIns="0" rIns="0" bIns="0" rtlCol="0" anchor="ctr"/>
            <a:lstStyle/>
            <a:p>
              <a:pPr marL="0" indent="0" algn="ctr">
                <a:buNone/>
              </a:pPr>
              <a:r>
                <a:rPr lang="en-US" sz="2000" b="1" dirty="0">
                  <a:solidFill>
                    <a:srgbClr val="E87722"/>
                  </a:solidFill>
                  <a:latin typeface="Times New Roman" pitchFamily="34" charset="0"/>
                  <a:cs typeface="Times New Roman" pitchFamily="34" charset="-120"/>
                </a:rPr>
                <a:t>0.82</a:t>
              </a:r>
              <a:endParaRPr lang="en-US" sz="2000" dirty="0"/>
            </a:p>
          </p:txBody>
        </p:sp>
        <p:sp>
          <p:nvSpPr>
            <p:cNvPr id="44" name="Text 10">
              <a:extLst>
                <a:ext uri="{FF2B5EF4-FFF2-40B4-BE49-F238E27FC236}">
                  <a16:creationId xmlns:a16="http://schemas.microsoft.com/office/drawing/2014/main" id="{0591D07B-B98D-9F4B-8A65-38628DA2A6BF}"/>
                </a:ext>
              </a:extLst>
            </p:cNvPr>
            <p:cNvSpPr/>
            <p:nvPr/>
          </p:nvSpPr>
          <p:spPr>
            <a:xfrm>
              <a:off x="7223760" y="1801368"/>
              <a:ext cx="1554480" cy="438912"/>
            </a:xfrm>
            <a:prstGeom prst="rect">
              <a:avLst/>
            </a:prstGeom>
            <a:noFill/>
            <a:ln/>
          </p:spPr>
          <p:txBody>
            <a:bodyPr wrap="square" lIns="0" tIns="0" rIns="0" bIns="0" rtlCol="0" anchor="ctr"/>
            <a:lstStyle/>
            <a:p>
              <a:pPr marL="0" indent="0" algn="ctr">
                <a:buNone/>
              </a:pPr>
              <a:r>
                <a:rPr lang="en-US" sz="1100" dirty="0">
                  <a:solidFill>
                    <a:srgbClr val="3D3D3D"/>
                  </a:solidFill>
                  <a:latin typeface="Times New Roman" pitchFamily="34" charset="0"/>
                  <a:ea typeface="Times New Roman" pitchFamily="34" charset="-122"/>
                  <a:cs typeface="Times New Roman" pitchFamily="34" charset="-120"/>
                </a:rPr>
                <a:t>Random Forest</a:t>
              </a:r>
              <a:endParaRPr lang="en-US" sz="1100" dirty="0"/>
            </a:p>
            <a:p>
              <a:pPr marL="0" indent="0" algn="ctr">
                <a:buNone/>
              </a:pPr>
              <a:r>
                <a:rPr lang="en-US" sz="1100" dirty="0">
                  <a:solidFill>
                    <a:srgbClr val="3D3D3D"/>
                  </a:solidFill>
                  <a:latin typeface="Times New Roman" pitchFamily="34" charset="0"/>
                  <a:ea typeface="Times New Roman" pitchFamily="34" charset="-122"/>
                  <a:cs typeface="Times New Roman" pitchFamily="34" charset="-120"/>
                </a:rPr>
                <a:t>Diabetes AUC</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Neural Network Architecture and Tradeoffs</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ea typeface="Times New Roman" pitchFamily="34" charset="-122"/>
                <a:cs typeface="Times New Roman" pitchFamily="34" charset="-120"/>
              </a:rPr>
              <a:t>20</a:t>
            </a:r>
            <a:endParaRPr lang="en-US" sz="1400" dirty="0"/>
          </a:p>
        </p:txBody>
      </p:sp>
      <p:sp>
        <p:nvSpPr>
          <p:cNvPr id="7" name="Text 4"/>
          <p:cNvSpPr/>
          <p:nvPr/>
        </p:nvSpPr>
        <p:spPr>
          <a:xfrm>
            <a:off x="365760" y="1325880"/>
            <a:ext cx="8412480" cy="658368"/>
          </a:xfrm>
          <a:prstGeom prst="rect">
            <a:avLst/>
          </a:prstGeom>
          <a:noFill/>
          <a:ln/>
        </p:spPr>
        <p:txBody>
          <a:bodyPr wrap="square" rtlCol="0" anchor="ctr"/>
          <a:lstStyle/>
          <a:p>
            <a:pPr marL="0" indent="0">
              <a:buNone/>
            </a:pPr>
            <a:r>
              <a:rPr lang="en-US" sz="1500" dirty="0">
                <a:solidFill>
                  <a:srgbClr val="3D3D3D"/>
                </a:solidFill>
                <a:latin typeface="Times New Roman" pitchFamily="34" charset="0"/>
                <a:ea typeface="Times New Roman" pitchFamily="34" charset="-122"/>
                <a:cs typeface="Times New Roman" pitchFamily="34" charset="-120"/>
              </a:rPr>
              <a:t>Deep learning captures complex patterns through 2 hidden layers with 64 and 32 neurons respectively, using ReLU activation functions. On CKD, it achieves AUC=0.980.</a:t>
            </a:r>
            <a:endParaRPr lang="en-US" sz="1500" dirty="0"/>
          </a:p>
        </p:txBody>
      </p:sp>
      <p:pic>
        <p:nvPicPr>
          <p:cNvPr id="8" name="Image 1" descr="preencoded.png"/>
          <p:cNvPicPr>
            <a:picLocks noChangeAspect="1"/>
          </p:cNvPicPr>
          <p:nvPr/>
        </p:nvPicPr>
        <p:blipFill>
          <a:blip r:embed="rId4"/>
          <a:stretch>
            <a:fillRect/>
          </a:stretch>
        </p:blipFill>
        <p:spPr>
          <a:xfrm>
            <a:off x="365760" y="2084832"/>
            <a:ext cx="8412480" cy="1280160"/>
          </a:xfrm>
          <a:prstGeom prst="rect">
            <a:avLst/>
          </a:prstGeom>
        </p:spPr>
      </p:pic>
      <p:sp>
        <p:nvSpPr>
          <p:cNvPr id="9" name="Shape 5"/>
          <p:cNvSpPr/>
          <p:nvPr/>
        </p:nvSpPr>
        <p:spPr>
          <a:xfrm>
            <a:off x="1759844" y="3474720"/>
            <a:ext cx="2606040" cy="1303020"/>
          </a:xfrm>
          <a:prstGeom prst="rect">
            <a:avLst/>
          </a:prstGeom>
          <a:solidFill>
            <a:srgbClr val="F5F5F5"/>
          </a:solidFill>
          <a:ln w="12700">
            <a:solidFill>
              <a:srgbClr val="DDDDDD"/>
            </a:solidFill>
            <a:prstDash val="solid"/>
          </a:ln>
        </p:spPr>
      </p:sp>
      <p:sp>
        <p:nvSpPr>
          <p:cNvPr id="10" name="Text 6"/>
          <p:cNvSpPr/>
          <p:nvPr/>
        </p:nvSpPr>
        <p:spPr>
          <a:xfrm>
            <a:off x="1759844" y="3520440"/>
            <a:ext cx="2606040" cy="716661"/>
          </a:xfrm>
          <a:prstGeom prst="rect">
            <a:avLst/>
          </a:prstGeom>
          <a:noFill/>
          <a:ln/>
        </p:spPr>
        <p:txBody>
          <a:bodyPr wrap="square" lIns="0" tIns="0" rIns="0" bIns="0" rtlCol="0" anchor="b"/>
          <a:lstStyle/>
          <a:p>
            <a:pPr marL="0" indent="0" algn="ctr">
              <a:buNone/>
            </a:pPr>
            <a:r>
              <a:rPr lang="en-US" sz="3400" b="1" dirty="0">
                <a:solidFill>
                  <a:srgbClr val="E87722"/>
                </a:solidFill>
                <a:latin typeface="Times New Roman" pitchFamily="34" charset="0"/>
                <a:cs typeface="Times New Roman" pitchFamily="34" charset="-120"/>
              </a:rPr>
              <a:t>0.980</a:t>
            </a:r>
            <a:endParaRPr lang="en-US" sz="3400" dirty="0"/>
          </a:p>
        </p:txBody>
      </p:sp>
      <p:sp>
        <p:nvSpPr>
          <p:cNvPr id="11" name="Text 7"/>
          <p:cNvSpPr/>
          <p:nvPr/>
        </p:nvSpPr>
        <p:spPr>
          <a:xfrm>
            <a:off x="1759844" y="4191381"/>
            <a:ext cx="2606040" cy="547268"/>
          </a:xfrm>
          <a:prstGeom prst="rect">
            <a:avLst/>
          </a:prstGeom>
          <a:noFill/>
          <a:ln/>
        </p:spPr>
        <p:txBody>
          <a:bodyPr wrap="square" lIns="0" tIns="0" rIns="0" bIns="0" rtlCol="0" anchor="t"/>
          <a:lstStyle/>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AUC Score (CKD)</a:t>
            </a:r>
            <a:endParaRPr lang="en-US" sz="1300" dirty="0"/>
          </a:p>
        </p:txBody>
      </p:sp>
      <p:sp>
        <p:nvSpPr>
          <p:cNvPr id="12" name="Shape 8"/>
          <p:cNvSpPr/>
          <p:nvPr/>
        </p:nvSpPr>
        <p:spPr>
          <a:xfrm>
            <a:off x="4640204" y="3474720"/>
            <a:ext cx="2606040" cy="1303020"/>
          </a:xfrm>
          <a:prstGeom prst="rect">
            <a:avLst/>
          </a:prstGeom>
          <a:solidFill>
            <a:srgbClr val="F5F5F5"/>
          </a:solidFill>
          <a:ln w="12700">
            <a:solidFill>
              <a:srgbClr val="DDDDDD"/>
            </a:solidFill>
            <a:prstDash val="solid"/>
          </a:ln>
        </p:spPr>
      </p:sp>
      <p:sp>
        <p:nvSpPr>
          <p:cNvPr id="13" name="Text 9"/>
          <p:cNvSpPr/>
          <p:nvPr/>
        </p:nvSpPr>
        <p:spPr>
          <a:xfrm>
            <a:off x="4640204" y="3520440"/>
            <a:ext cx="2606040" cy="716661"/>
          </a:xfrm>
          <a:prstGeom prst="rect">
            <a:avLst/>
          </a:prstGeom>
          <a:noFill/>
          <a:ln/>
        </p:spPr>
        <p:txBody>
          <a:bodyPr wrap="square" lIns="0" tIns="0" rIns="0" bIns="0" rtlCol="0" anchor="b"/>
          <a:lstStyle/>
          <a:p>
            <a:pPr marL="0" indent="0" algn="ctr">
              <a:buNone/>
            </a:pPr>
            <a:r>
              <a:rPr lang="en-US" sz="3400" b="1" dirty="0">
                <a:solidFill>
                  <a:srgbClr val="E87722"/>
                </a:solidFill>
                <a:latin typeface="Times New Roman" pitchFamily="34" charset="0"/>
                <a:ea typeface="Times New Roman" pitchFamily="34" charset="-122"/>
                <a:cs typeface="Times New Roman" pitchFamily="34" charset="-120"/>
              </a:rPr>
              <a:t>0.776</a:t>
            </a:r>
            <a:endParaRPr lang="en-US" sz="3400" dirty="0"/>
          </a:p>
        </p:txBody>
      </p:sp>
      <p:sp>
        <p:nvSpPr>
          <p:cNvPr id="14" name="Text 10"/>
          <p:cNvSpPr/>
          <p:nvPr/>
        </p:nvSpPr>
        <p:spPr>
          <a:xfrm>
            <a:off x="4640204" y="4191381"/>
            <a:ext cx="2606040" cy="547268"/>
          </a:xfrm>
          <a:prstGeom prst="rect">
            <a:avLst/>
          </a:prstGeom>
          <a:noFill/>
          <a:ln/>
        </p:spPr>
        <p:txBody>
          <a:bodyPr wrap="square" lIns="0" tIns="0" rIns="0" bIns="0" rtlCol="0" anchor="t"/>
          <a:lstStyle/>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Diabetes AUC</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Why Random Forest Outperforms Neural Networks</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21</a:t>
            </a:r>
            <a:endParaRPr lang="en-US" sz="1400" dirty="0"/>
          </a:p>
        </p:txBody>
      </p:sp>
      <p:sp>
        <p:nvSpPr>
          <p:cNvPr id="7" name="Shape 4"/>
          <p:cNvSpPr/>
          <p:nvPr/>
        </p:nvSpPr>
        <p:spPr>
          <a:xfrm>
            <a:off x="365760" y="1325880"/>
            <a:ext cx="4114800" cy="3451860"/>
          </a:xfrm>
          <a:prstGeom prst="rect">
            <a:avLst/>
          </a:prstGeom>
          <a:solidFill>
            <a:srgbClr val="F5F8FF"/>
          </a:solidFill>
          <a:ln w="12700">
            <a:solidFill>
              <a:srgbClr val="1F3864"/>
            </a:solidFill>
            <a:prstDash val="solid"/>
          </a:ln>
        </p:spPr>
      </p:sp>
      <p:sp>
        <p:nvSpPr>
          <p:cNvPr id="8" name="Shape 5"/>
          <p:cNvSpPr/>
          <p:nvPr/>
        </p:nvSpPr>
        <p:spPr>
          <a:xfrm>
            <a:off x="365760" y="1325880"/>
            <a:ext cx="4114800" cy="347472"/>
          </a:xfrm>
          <a:prstGeom prst="rect">
            <a:avLst/>
          </a:prstGeom>
          <a:solidFill>
            <a:srgbClr val="1F3864"/>
          </a:solidFill>
          <a:ln w="12700">
            <a:solidFill>
              <a:srgbClr val="1F3864"/>
            </a:solidFill>
            <a:prstDash val="solid"/>
          </a:ln>
        </p:spPr>
      </p:sp>
      <p:sp>
        <p:nvSpPr>
          <p:cNvPr id="9" name="Text 6"/>
          <p:cNvSpPr/>
          <p:nvPr/>
        </p:nvSpPr>
        <p:spPr>
          <a:xfrm>
            <a:off x="36576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Architectural Advantages</a:t>
            </a:r>
            <a:endParaRPr lang="en-US" sz="1400" dirty="0"/>
          </a:p>
        </p:txBody>
      </p:sp>
      <p:sp>
        <p:nvSpPr>
          <p:cNvPr id="10" name="Shape 7"/>
          <p:cNvSpPr/>
          <p:nvPr/>
        </p:nvSpPr>
        <p:spPr>
          <a:xfrm>
            <a:off x="438912" y="1728216"/>
            <a:ext cx="64008" cy="906780"/>
          </a:xfrm>
          <a:prstGeom prst="rect">
            <a:avLst/>
          </a:prstGeom>
          <a:solidFill>
            <a:srgbClr val="E87722"/>
          </a:solidFill>
          <a:ln w="12700">
            <a:solidFill>
              <a:srgbClr val="E87722"/>
            </a:solidFill>
            <a:prstDash val="solid"/>
          </a:ln>
        </p:spPr>
      </p:sp>
      <p:sp>
        <p:nvSpPr>
          <p:cNvPr id="11" name="Text 8"/>
          <p:cNvSpPr/>
          <p:nvPr/>
        </p:nvSpPr>
        <p:spPr>
          <a:xfrm>
            <a:off x="566928" y="1728216"/>
            <a:ext cx="3840480" cy="274320"/>
          </a:xfrm>
          <a:prstGeom prst="rect">
            <a:avLst/>
          </a:prstGeom>
          <a:noFill/>
          <a:ln/>
        </p:spPr>
        <p:txBody>
          <a:bodyPr wrap="square" rtlCol="0" anchor="ctr"/>
          <a:lstStyle/>
          <a:p>
            <a:pPr marL="0" indent="0">
              <a:buNone/>
            </a:pPr>
            <a:r>
              <a:rPr lang="en-US" sz="1300" b="1" dirty="0">
                <a:solidFill>
                  <a:srgbClr val="1F3864"/>
                </a:solidFill>
                <a:latin typeface="Times New Roman" pitchFamily="34" charset="0"/>
                <a:ea typeface="Times New Roman" pitchFamily="34" charset="-122"/>
                <a:cs typeface="Times New Roman" pitchFamily="34" charset="-120"/>
              </a:rPr>
              <a:t>Ensemble Variance Reduction</a:t>
            </a:r>
            <a:endParaRPr lang="en-US" sz="1300" dirty="0"/>
          </a:p>
        </p:txBody>
      </p:sp>
      <p:sp>
        <p:nvSpPr>
          <p:cNvPr id="12" name="Text 9"/>
          <p:cNvSpPr/>
          <p:nvPr/>
        </p:nvSpPr>
        <p:spPr>
          <a:xfrm>
            <a:off x="566928" y="2020824"/>
            <a:ext cx="3840480" cy="614172"/>
          </a:xfrm>
          <a:prstGeom prst="rect">
            <a:avLst/>
          </a:prstGeom>
          <a:noFill/>
          <a:ln/>
        </p:spPr>
        <p:txBody>
          <a:bodyPr wrap="square"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RF's 100 decorrelated trees reduce variance through majority voting, while NN's single model lacks this ensemble benefit.</a:t>
            </a:r>
            <a:endParaRPr lang="en-US" sz="1200" dirty="0"/>
          </a:p>
        </p:txBody>
      </p:sp>
      <p:sp>
        <p:nvSpPr>
          <p:cNvPr id="13" name="Shape 10"/>
          <p:cNvSpPr/>
          <p:nvPr/>
        </p:nvSpPr>
        <p:spPr>
          <a:xfrm>
            <a:off x="438912" y="2763012"/>
            <a:ext cx="64008" cy="906780"/>
          </a:xfrm>
          <a:prstGeom prst="rect">
            <a:avLst/>
          </a:prstGeom>
          <a:solidFill>
            <a:srgbClr val="E87722"/>
          </a:solidFill>
          <a:ln w="12700">
            <a:solidFill>
              <a:srgbClr val="E87722"/>
            </a:solidFill>
            <a:prstDash val="solid"/>
          </a:ln>
        </p:spPr>
      </p:sp>
      <p:sp>
        <p:nvSpPr>
          <p:cNvPr id="14" name="Text 11"/>
          <p:cNvSpPr/>
          <p:nvPr/>
        </p:nvSpPr>
        <p:spPr>
          <a:xfrm>
            <a:off x="566928" y="2763012"/>
            <a:ext cx="3840480" cy="274320"/>
          </a:xfrm>
          <a:prstGeom prst="rect">
            <a:avLst/>
          </a:prstGeom>
          <a:noFill/>
          <a:ln/>
        </p:spPr>
        <p:txBody>
          <a:bodyPr wrap="square" rtlCol="0" anchor="ctr"/>
          <a:lstStyle/>
          <a:p>
            <a:pPr marL="0" indent="0">
              <a:buNone/>
            </a:pPr>
            <a:r>
              <a:rPr lang="en-US" sz="1300" b="1" dirty="0">
                <a:solidFill>
                  <a:srgbClr val="1F3864"/>
                </a:solidFill>
                <a:latin typeface="Times New Roman" pitchFamily="34" charset="0"/>
                <a:ea typeface="Times New Roman" pitchFamily="34" charset="-122"/>
                <a:cs typeface="Times New Roman" pitchFamily="34" charset="-120"/>
              </a:rPr>
              <a:t>Built-in Regularization</a:t>
            </a:r>
            <a:endParaRPr lang="en-US" sz="1300" dirty="0"/>
          </a:p>
        </p:txBody>
      </p:sp>
      <p:sp>
        <p:nvSpPr>
          <p:cNvPr id="15" name="Text 12"/>
          <p:cNvSpPr/>
          <p:nvPr/>
        </p:nvSpPr>
        <p:spPr>
          <a:xfrm>
            <a:off x="566928" y="3055620"/>
            <a:ext cx="3840480" cy="614172"/>
          </a:xfrm>
          <a:prstGeom prst="rect">
            <a:avLst/>
          </a:prstGeom>
          <a:noFill/>
          <a:ln/>
        </p:spPr>
        <p:txBody>
          <a:bodyPr wrap="square"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RF provides automatic regularization through bootstrap sampling and feature randomization. NNs require external dropout and weight decay.</a:t>
            </a:r>
            <a:endParaRPr lang="en-US" sz="1200" dirty="0"/>
          </a:p>
        </p:txBody>
      </p:sp>
      <p:sp>
        <p:nvSpPr>
          <p:cNvPr id="16" name="Shape 13"/>
          <p:cNvSpPr/>
          <p:nvPr/>
        </p:nvSpPr>
        <p:spPr>
          <a:xfrm>
            <a:off x="438912" y="3797808"/>
            <a:ext cx="64008" cy="906780"/>
          </a:xfrm>
          <a:prstGeom prst="rect">
            <a:avLst/>
          </a:prstGeom>
          <a:solidFill>
            <a:srgbClr val="E87722"/>
          </a:solidFill>
          <a:ln w="12700">
            <a:solidFill>
              <a:srgbClr val="E87722"/>
            </a:solidFill>
            <a:prstDash val="solid"/>
          </a:ln>
        </p:spPr>
      </p:sp>
      <p:sp>
        <p:nvSpPr>
          <p:cNvPr id="17" name="Text 14"/>
          <p:cNvSpPr/>
          <p:nvPr/>
        </p:nvSpPr>
        <p:spPr>
          <a:xfrm>
            <a:off x="566928" y="3797808"/>
            <a:ext cx="3840480" cy="274320"/>
          </a:xfrm>
          <a:prstGeom prst="rect">
            <a:avLst/>
          </a:prstGeom>
          <a:noFill/>
          <a:ln/>
        </p:spPr>
        <p:txBody>
          <a:bodyPr wrap="square" rtlCol="0" anchor="ctr"/>
          <a:lstStyle/>
          <a:p>
            <a:pPr marL="0" indent="0">
              <a:buNone/>
            </a:pPr>
            <a:r>
              <a:rPr lang="en-US" sz="1300" b="1" dirty="0">
                <a:solidFill>
                  <a:srgbClr val="1F3864"/>
                </a:solidFill>
                <a:latin typeface="Times New Roman" pitchFamily="34" charset="0"/>
                <a:ea typeface="Times New Roman" pitchFamily="34" charset="-122"/>
                <a:cs typeface="Times New Roman" pitchFamily="34" charset="-120"/>
              </a:rPr>
              <a:t>Small Dataset Adaptability</a:t>
            </a:r>
            <a:endParaRPr lang="en-US" sz="1300" dirty="0"/>
          </a:p>
        </p:txBody>
      </p:sp>
      <p:sp>
        <p:nvSpPr>
          <p:cNvPr id="18" name="Text 15"/>
          <p:cNvSpPr/>
          <p:nvPr/>
        </p:nvSpPr>
        <p:spPr>
          <a:xfrm>
            <a:off x="566928" y="4090416"/>
            <a:ext cx="3840480" cy="614172"/>
          </a:xfrm>
          <a:prstGeom prst="rect">
            <a:avLst/>
          </a:prstGeom>
          <a:noFill/>
          <a:ln/>
        </p:spPr>
        <p:txBody>
          <a:bodyPr wrap="square" rtlCol="0" anchor="ctr"/>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Neural Networks require n &gt; 1000 samples. RF's bagging technique works optimally on small medical datasets.</a:t>
            </a:r>
            <a:endParaRPr lang="en-US" sz="1200" dirty="0"/>
          </a:p>
        </p:txBody>
      </p:sp>
      <p:sp>
        <p:nvSpPr>
          <p:cNvPr id="19" name="Shape 16"/>
          <p:cNvSpPr/>
          <p:nvPr/>
        </p:nvSpPr>
        <p:spPr>
          <a:xfrm>
            <a:off x="4663440" y="1325880"/>
            <a:ext cx="4114800" cy="3451860"/>
          </a:xfrm>
          <a:prstGeom prst="rect">
            <a:avLst/>
          </a:prstGeom>
          <a:solidFill>
            <a:srgbClr val="F9F9F9"/>
          </a:solidFill>
          <a:ln w="12700">
            <a:solidFill>
              <a:srgbClr val="CCCCCC"/>
            </a:solidFill>
            <a:prstDash val="solid"/>
          </a:ln>
        </p:spPr>
      </p:sp>
      <p:sp>
        <p:nvSpPr>
          <p:cNvPr id="20" name="Shape 17"/>
          <p:cNvSpPr/>
          <p:nvPr/>
        </p:nvSpPr>
        <p:spPr>
          <a:xfrm>
            <a:off x="4663440" y="1325880"/>
            <a:ext cx="4114800" cy="347472"/>
          </a:xfrm>
          <a:prstGeom prst="rect">
            <a:avLst/>
          </a:prstGeom>
          <a:solidFill>
            <a:srgbClr val="1F3864"/>
          </a:solidFill>
          <a:ln w="12700">
            <a:solidFill>
              <a:srgbClr val="1F3864"/>
            </a:solidFill>
            <a:prstDash val="solid"/>
          </a:ln>
        </p:spPr>
      </p:sp>
      <p:sp>
        <p:nvSpPr>
          <p:cNvPr id="21" name="Text 18"/>
          <p:cNvSpPr/>
          <p:nvPr/>
        </p:nvSpPr>
        <p:spPr>
          <a:xfrm>
            <a:off x="4663440" y="1325880"/>
            <a:ext cx="4114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Performance Comparison</a:t>
            </a:r>
            <a:endParaRPr lang="en-US" sz="1400" dirty="0"/>
          </a:p>
        </p:txBody>
      </p:sp>
      <p:sp>
        <p:nvSpPr>
          <p:cNvPr id="22" name="Text 19"/>
          <p:cNvSpPr/>
          <p:nvPr/>
        </p:nvSpPr>
        <p:spPr>
          <a:xfrm>
            <a:off x="4773168" y="1746504"/>
            <a:ext cx="3895344" cy="256032"/>
          </a:xfrm>
          <a:prstGeom prst="rect">
            <a:avLst/>
          </a:prstGeom>
          <a:noFill/>
          <a:ln/>
        </p:spPr>
        <p:txBody>
          <a:bodyPr wrap="square" rtlCol="0" anchor="ctr"/>
          <a:lstStyle/>
          <a:p>
            <a:pPr marL="0" indent="0">
              <a:buNone/>
            </a:pPr>
            <a:r>
              <a:rPr lang="en-US" sz="1300" b="1" dirty="0">
                <a:solidFill>
                  <a:srgbClr val="1F3864"/>
                </a:solidFill>
                <a:latin typeface="Times New Roman" pitchFamily="34" charset="0"/>
                <a:ea typeface="Times New Roman" pitchFamily="34" charset="-122"/>
                <a:cs typeface="Times New Roman" pitchFamily="34" charset="-120"/>
              </a:rPr>
              <a:t>CKD Dataset (400 samples)</a:t>
            </a:r>
            <a:endParaRPr lang="en-US" sz="1300" dirty="0"/>
          </a:p>
        </p:txBody>
      </p:sp>
      <p:sp>
        <p:nvSpPr>
          <p:cNvPr id="23" name="Shape 20"/>
          <p:cNvSpPr/>
          <p:nvPr/>
        </p:nvSpPr>
        <p:spPr>
          <a:xfrm>
            <a:off x="4773168" y="2057400"/>
            <a:ext cx="1856232" cy="1076706"/>
          </a:xfrm>
          <a:prstGeom prst="rect">
            <a:avLst/>
          </a:prstGeom>
          <a:solidFill>
            <a:srgbClr val="BBDEFB"/>
          </a:solidFill>
          <a:ln w="12700">
            <a:solidFill>
              <a:srgbClr val="90CAF9"/>
            </a:solidFill>
            <a:prstDash val="solid"/>
          </a:ln>
        </p:spPr>
      </p:sp>
      <p:sp>
        <p:nvSpPr>
          <p:cNvPr id="24" name="Text 21"/>
          <p:cNvSpPr/>
          <p:nvPr/>
        </p:nvSpPr>
        <p:spPr>
          <a:xfrm>
            <a:off x="4773168" y="2057400"/>
            <a:ext cx="1856232" cy="1076706"/>
          </a:xfrm>
          <a:prstGeom prst="rect">
            <a:avLst/>
          </a:prstGeom>
          <a:noFill/>
          <a:ln/>
        </p:spPr>
        <p:txBody>
          <a:bodyPr wrap="square" lIns="0" tIns="0" rIns="0" bIns="0" rtlCol="0" anchor="ctr"/>
          <a:lstStyle/>
          <a:p>
            <a:pPr marL="0" indent="0" algn="ctr">
              <a:buNone/>
            </a:pPr>
            <a:r>
              <a:rPr lang="en-US" sz="1400" b="1" dirty="0">
                <a:solidFill>
                  <a:srgbClr val="1565C0"/>
                </a:solidFill>
                <a:latin typeface="Times New Roman" pitchFamily="34" charset="0"/>
                <a:ea typeface="Times New Roman" pitchFamily="34" charset="-122"/>
                <a:cs typeface="Times New Roman" pitchFamily="34" charset="-120"/>
              </a:rPr>
              <a:t>Neural Net</a:t>
            </a:r>
            <a:endParaRPr lang="en-US" sz="1400" dirty="0"/>
          </a:p>
          <a:p>
            <a:pPr marL="0" indent="0" algn="ctr">
              <a:buNone/>
            </a:pPr>
            <a:r>
              <a:rPr lang="en-US" sz="1400" b="1" dirty="0">
                <a:solidFill>
                  <a:srgbClr val="1565C0"/>
                </a:solidFill>
                <a:latin typeface="Times New Roman" pitchFamily="34" charset="0"/>
                <a:cs typeface="Times New Roman" pitchFamily="34" charset="-120"/>
              </a:rPr>
              <a:t>0.980</a:t>
            </a:r>
            <a:endParaRPr lang="en-US" sz="1400" dirty="0"/>
          </a:p>
        </p:txBody>
      </p:sp>
      <p:sp>
        <p:nvSpPr>
          <p:cNvPr id="25" name="Shape 22"/>
          <p:cNvSpPr/>
          <p:nvPr/>
        </p:nvSpPr>
        <p:spPr>
          <a:xfrm>
            <a:off x="6702552" y="2057400"/>
            <a:ext cx="1856232" cy="1076706"/>
          </a:xfrm>
          <a:prstGeom prst="rect">
            <a:avLst/>
          </a:prstGeom>
          <a:solidFill>
            <a:srgbClr val="E8F5E9"/>
          </a:solidFill>
          <a:ln w="12700">
            <a:solidFill>
              <a:srgbClr val="E87722"/>
            </a:solidFill>
            <a:prstDash val="solid"/>
          </a:ln>
        </p:spPr>
      </p:sp>
      <p:sp>
        <p:nvSpPr>
          <p:cNvPr id="26" name="Text 23"/>
          <p:cNvSpPr/>
          <p:nvPr/>
        </p:nvSpPr>
        <p:spPr>
          <a:xfrm>
            <a:off x="6702552" y="2057400"/>
            <a:ext cx="1856232" cy="1076706"/>
          </a:xfrm>
          <a:prstGeom prst="rect">
            <a:avLst/>
          </a:prstGeom>
          <a:noFill/>
          <a:ln/>
        </p:spPr>
        <p:txBody>
          <a:bodyPr wrap="square" lIns="0" tIns="0" rIns="0" bIns="0" rtlCol="0" anchor="ctr"/>
          <a:lstStyle/>
          <a:p>
            <a:pPr marL="0" indent="0" algn="ctr">
              <a:buNone/>
            </a:pPr>
            <a:r>
              <a:rPr lang="en-US" sz="1400" b="1" dirty="0">
                <a:solidFill>
                  <a:srgbClr val="E87722"/>
                </a:solidFill>
                <a:latin typeface="Times New Roman" pitchFamily="34" charset="0"/>
                <a:ea typeface="Times New Roman" pitchFamily="34" charset="-122"/>
                <a:cs typeface="Times New Roman" pitchFamily="34" charset="-120"/>
              </a:rPr>
              <a:t>Random Forest</a:t>
            </a:r>
            <a:endParaRPr lang="en-US" sz="1400" dirty="0"/>
          </a:p>
          <a:p>
            <a:pPr marL="0" indent="0" algn="ctr">
              <a:buNone/>
            </a:pPr>
            <a:r>
              <a:rPr lang="en-US" sz="1400" b="1" dirty="0">
                <a:solidFill>
                  <a:srgbClr val="E87722"/>
                </a:solidFill>
                <a:latin typeface="Times New Roman" pitchFamily="34" charset="0"/>
                <a:cs typeface="Times New Roman" pitchFamily="34" charset="-120"/>
              </a:rPr>
              <a:t>0.999</a:t>
            </a:r>
            <a:endParaRPr lang="en-US" sz="1400" dirty="0"/>
          </a:p>
        </p:txBody>
      </p:sp>
      <p:sp>
        <p:nvSpPr>
          <p:cNvPr id="27" name="Text 24"/>
          <p:cNvSpPr/>
          <p:nvPr/>
        </p:nvSpPr>
        <p:spPr>
          <a:xfrm>
            <a:off x="4773168" y="3298698"/>
            <a:ext cx="3895344" cy="256032"/>
          </a:xfrm>
          <a:prstGeom prst="rect">
            <a:avLst/>
          </a:prstGeom>
          <a:noFill/>
          <a:ln/>
        </p:spPr>
        <p:txBody>
          <a:bodyPr wrap="square" rtlCol="0" anchor="ctr"/>
          <a:lstStyle/>
          <a:p>
            <a:pPr marL="0" indent="0">
              <a:buNone/>
            </a:pPr>
            <a:r>
              <a:rPr lang="en-US" sz="1300" b="1" dirty="0">
                <a:solidFill>
                  <a:srgbClr val="1F3864"/>
                </a:solidFill>
                <a:latin typeface="Times New Roman" pitchFamily="34" charset="0"/>
                <a:ea typeface="Times New Roman" pitchFamily="34" charset="-122"/>
                <a:cs typeface="Times New Roman" pitchFamily="34" charset="-120"/>
              </a:rPr>
              <a:t>Diabetes Dataset (768 samples)</a:t>
            </a:r>
            <a:endParaRPr lang="en-US" sz="1300" dirty="0"/>
          </a:p>
        </p:txBody>
      </p:sp>
      <p:sp>
        <p:nvSpPr>
          <p:cNvPr id="28" name="Shape 25"/>
          <p:cNvSpPr/>
          <p:nvPr/>
        </p:nvSpPr>
        <p:spPr>
          <a:xfrm>
            <a:off x="4773168" y="3609594"/>
            <a:ext cx="1856232" cy="1076706"/>
          </a:xfrm>
          <a:prstGeom prst="rect">
            <a:avLst/>
          </a:prstGeom>
          <a:solidFill>
            <a:srgbClr val="BBDEFB"/>
          </a:solidFill>
          <a:ln w="12700">
            <a:solidFill>
              <a:srgbClr val="90CAF9"/>
            </a:solidFill>
            <a:prstDash val="solid"/>
          </a:ln>
        </p:spPr>
      </p:sp>
      <p:sp>
        <p:nvSpPr>
          <p:cNvPr id="29" name="Text 26"/>
          <p:cNvSpPr/>
          <p:nvPr/>
        </p:nvSpPr>
        <p:spPr>
          <a:xfrm>
            <a:off x="4773168" y="3609594"/>
            <a:ext cx="1856232" cy="1076706"/>
          </a:xfrm>
          <a:prstGeom prst="rect">
            <a:avLst/>
          </a:prstGeom>
          <a:noFill/>
          <a:ln/>
        </p:spPr>
        <p:txBody>
          <a:bodyPr wrap="square" lIns="0" tIns="0" rIns="0" bIns="0" rtlCol="0" anchor="ctr"/>
          <a:lstStyle/>
          <a:p>
            <a:pPr marL="0" indent="0" algn="ctr">
              <a:buNone/>
            </a:pPr>
            <a:r>
              <a:rPr lang="en-US" sz="1400" b="1" dirty="0">
                <a:solidFill>
                  <a:srgbClr val="1565C0"/>
                </a:solidFill>
                <a:latin typeface="Times New Roman" pitchFamily="34" charset="0"/>
                <a:ea typeface="Times New Roman" pitchFamily="34" charset="-122"/>
                <a:cs typeface="Times New Roman" pitchFamily="34" charset="-120"/>
              </a:rPr>
              <a:t>Neural Net</a:t>
            </a:r>
            <a:endParaRPr lang="en-US" sz="1400" dirty="0"/>
          </a:p>
          <a:p>
            <a:pPr marL="0" indent="0" algn="ctr">
              <a:buNone/>
            </a:pPr>
            <a:r>
              <a:rPr lang="en-US" sz="1400" b="1" dirty="0">
                <a:solidFill>
                  <a:srgbClr val="1565C0"/>
                </a:solidFill>
                <a:latin typeface="Times New Roman" pitchFamily="34" charset="0"/>
                <a:cs typeface="Times New Roman" pitchFamily="34" charset="-120"/>
              </a:rPr>
              <a:t>0.776</a:t>
            </a:r>
            <a:endParaRPr lang="en-US" sz="1400" dirty="0"/>
          </a:p>
        </p:txBody>
      </p:sp>
      <p:sp>
        <p:nvSpPr>
          <p:cNvPr id="30" name="Shape 27"/>
          <p:cNvSpPr/>
          <p:nvPr/>
        </p:nvSpPr>
        <p:spPr>
          <a:xfrm>
            <a:off x="6702552" y="3609594"/>
            <a:ext cx="1856232" cy="1076706"/>
          </a:xfrm>
          <a:prstGeom prst="rect">
            <a:avLst/>
          </a:prstGeom>
          <a:solidFill>
            <a:srgbClr val="E8F5E9"/>
          </a:solidFill>
          <a:ln w="12700">
            <a:solidFill>
              <a:srgbClr val="E87722"/>
            </a:solidFill>
            <a:prstDash val="solid"/>
          </a:ln>
        </p:spPr>
      </p:sp>
      <p:sp>
        <p:nvSpPr>
          <p:cNvPr id="31" name="Text 28"/>
          <p:cNvSpPr/>
          <p:nvPr/>
        </p:nvSpPr>
        <p:spPr>
          <a:xfrm>
            <a:off x="6702552" y="3609594"/>
            <a:ext cx="1856232" cy="1076706"/>
          </a:xfrm>
          <a:prstGeom prst="rect">
            <a:avLst/>
          </a:prstGeom>
          <a:noFill/>
          <a:ln/>
        </p:spPr>
        <p:txBody>
          <a:bodyPr wrap="square" lIns="0" tIns="0" rIns="0" bIns="0" rtlCol="0" anchor="ctr"/>
          <a:lstStyle/>
          <a:p>
            <a:pPr marL="0" indent="0" algn="ctr">
              <a:buNone/>
            </a:pPr>
            <a:r>
              <a:rPr lang="en-US" sz="1400" b="1" dirty="0">
                <a:solidFill>
                  <a:srgbClr val="E87722"/>
                </a:solidFill>
                <a:latin typeface="Times New Roman" pitchFamily="34" charset="0"/>
                <a:ea typeface="Times New Roman" pitchFamily="34" charset="-122"/>
                <a:cs typeface="Times New Roman" pitchFamily="34" charset="-120"/>
              </a:rPr>
              <a:t>Random Forest</a:t>
            </a:r>
            <a:endParaRPr lang="en-US" sz="1400" dirty="0"/>
          </a:p>
          <a:p>
            <a:pPr marL="0" indent="0" algn="ctr">
              <a:buNone/>
            </a:pPr>
            <a:r>
              <a:rPr lang="en-US" sz="1400" b="1" dirty="0">
                <a:solidFill>
                  <a:srgbClr val="E87722"/>
                </a:solidFill>
                <a:latin typeface="Times New Roman" pitchFamily="34" charset="0"/>
                <a:cs typeface="Times New Roman" pitchFamily="34" charset="-120"/>
              </a:rPr>
              <a:t>0.822</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144000" cy="5143500"/>
          <a:chOff x="0" y="0"/>
          <a:chExt cx="9144000" cy="5143500"/>
        </a:xfrm>
      </p:grpSpPr>
      <p:sp>
        <p:nvSpPr>
          <p:cNvPr id="100" name="Footer"/>
          <p:cNvSpPr>
            <a:spLocks noGrp="1"/>
          </p:cNvSpPr>
          <p:nvPr/>
        </p:nvSpPr>
        <p:spPr>
          <a:xfrm>
            <a:off x="0" y="4846560"/>
            <a:ext cx="9144000" cy="296640"/>
          </a:xfrm>
          <a:prstGeom prst="rect">
            <a:avLst/>
          </a:prstGeom>
          <a:solidFill>
            <a:srgbClr val="E87722"/>
          </a:solidFill>
          <a:ln>
            <a:noFill/>
          </a:ln>
        </p:spPr>
        <p:txBody>
          <a:bodyPr/>
          <a:lstStyle/>
          <a:p>
            <a:endParaRPr lang="en-US" dirty="0"/>
          </a:p>
        </p:txBody>
      </p:sp>
      <p:sp>
        <p:nvSpPr>
          <p:cNvPr id="101" name="Title"/>
          <p:cNvSpPr/>
          <p:nvPr/>
        </p:nvSpPr>
        <p:spPr>
          <a:xfrm>
            <a:off x="365760" y="657720"/>
            <a:ext cx="8412480" cy="365760"/>
          </a:xfrm>
          <a:prstGeom prst="rect">
            <a:avLst/>
          </a:prstGeom>
          <a:noFill/>
          <a:ln>
            <a:noFill/>
          </a:ln>
        </p:spPr>
        <p:txBody>
          <a:bodyPr wrap="square" lIns="0" tIns="0" rIns="0" bIns="0" rtlCol="0" anchor="ctr"/>
          <a:lstStyle/>
          <a:p>
            <a:pPr marL="0" indent="0" algn="r">
              <a:buNone/>
            </a:pPr>
            <a:r>
              <a:rPr lang="en-US" sz="2400" dirty="0">
                <a:solidFill>
                  <a:srgbClr val="1F3864"/>
                </a:solidFill>
                <a:latin typeface="Calibri" pitchFamily="34" charset="0"/>
              </a:rPr>
              <a:t>End-to-End Inference: Flask REST API Summary</a:t>
            </a:r>
          </a:p>
        </p:txBody>
      </p:sp>
      <p:sp>
        <p:nvSpPr>
          <p:cNvPr id="102" name="TitleLine"/>
          <p:cNvSpPr/>
          <p:nvPr/>
        </p:nvSpPr>
        <p:spPr>
          <a:xfrm>
            <a:off x="365760" y="1069848"/>
            <a:ext cx="8412480" cy="18288"/>
          </a:xfrm>
          <a:prstGeom prst="rect">
            <a:avLst/>
          </a:prstGeom>
          <a:solidFill>
            <a:srgbClr val="E87722"/>
          </a:solidFill>
          <a:ln>
            <a:noFill/>
          </a:ln>
        </p:spPr>
        <p:txBody>
          <a:bodyPr/>
          <a:lstStyle/>
          <a:p>
            <a:endParaRPr lang="en-US" dirty="0"/>
          </a:p>
        </p:txBody>
      </p:sp>
      <p:sp>
        <p:nvSpPr>
          <p:cNvPr id="103" name="Subtitle"/>
          <p:cNvSpPr/>
          <p:nvPr/>
        </p:nvSpPr>
        <p:spPr>
          <a:xfrm>
            <a:off x="182880" y="1135380"/>
            <a:ext cx="8778240" cy="457200"/>
          </a:xfrm>
          <a:prstGeom prst="rect">
            <a:avLst/>
          </a:prstGeom>
          <a:solidFill>
            <a:srgbClr val="1F3864"/>
          </a:solidFill>
          <a:ln>
            <a:noFill/>
          </a:ln>
        </p:spPr>
        <p:txBody>
          <a:bodyPr wrap="square" lIns="91440" tIns="91440" rIns="91440" bIns="91440" rtlCol="0" anchor="ctr"/>
          <a:lstStyle/>
          <a:p>
            <a:pPr marL="0" indent="0" algn="ctr">
              <a:buNone/>
            </a:pPr>
            <a:r>
              <a:rPr lang="en-US" sz="1100" b="1" dirty="0">
                <a:solidFill>
                  <a:srgbClr val="FFFFFF"/>
                </a:solidFill>
                <a:latin typeface="Calibri" pitchFamily="34" charset="0"/>
              </a:rPr>
              <a:t>POST /predict/full  —  Single patient input traverses 3 models in sequence  —  clinical decision returned in &lt;50ms</a:t>
            </a:r>
          </a:p>
        </p:txBody>
      </p:sp>
      <p:sp>
        <p:nvSpPr>
          <p:cNvPr id="104" name="PageNum"/>
          <p:cNvSpPr/>
          <p:nvPr/>
        </p:nvSpPr>
        <p:spPr>
          <a:xfrm>
            <a:off x="8686080" y="4883760"/>
            <a:ext cx="347472" cy="238368"/>
          </a:xfrm>
          <a:prstGeom prst="rect">
            <a:avLst/>
          </a:prstGeom>
          <a:noFill/>
          <a:ln>
            <a:noFill/>
          </a:ln>
        </p:spPr>
        <p:txBody>
          <a:bodyPr wrap="square" lIns="0" tIns="0" rIns="0" bIns="0" rtlCol="0" anchor="ctr"/>
          <a:lstStyle/>
          <a:p>
            <a:pPr marL="0" indent="0" algn="r">
              <a:buNone/>
            </a:pPr>
            <a:r>
              <a:rPr lang="en-US" sz="1000" b="1" dirty="0">
                <a:solidFill>
                  <a:srgbClr val="FFFFFF"/>
                </a:solidFill>
                <a:latin typeface="Calibri" pitchFamily="34" charset="0"/>
              </a:rPr>
              <a:t>37</a:t>
            </a:r>
          </a:p>
        </p:txBody>
      </p:sp>
      <p:sp>
        <p:nvSpPr>
          <p:cNvPr id="200" name="Box0"/>
          <p:cNvSpPr/>
          <p:nvPr/>
        </p:nvSpPr>
        <p:spPr>
          <a:xfrm>
            <a:off x="182880" y="1611060"/>
            <a:ext cx="2926079" cy="3200400"/>
          </a:xfrm>
          <a:prstGeom prst="rect">
            <a:avLst/>
          </a:prstGeom>
          <a:solidFill>
            <a:srgbClr val="F0F4FF"/>
          </a:solidFill>
          <a:ln w="12700">
            <a:solidFill>
              <a:srgbClr val="1F3864"/>
            </a:solidFill>
          </a:ln>
        </p:spPr>
        <p:txBody>
          <a:bodyPr/>
          <a:lstStyle/>
          <a:p>
            <a:endParaRPr lang="en-US" dirty="0"/>
          </a:p>
        </p:txBody>
      </p:sp>
      <p:sp>
        <p:nvSpPr>
          <p:cNvPr id="201" name="Hdr0"/>
          <p:cNvSpPr/>
          <p:nvPr/>
        </p:nvSpPr>
        <p:spPr>
          <a:xfrm>
            <a:off x="274320" y="1655220"/>
            <a:ext cx="2816351" cy="274320"/>
          </a:xfrm>
          <a:prstGeom prst="rect">
            <a:avLst/>
          </a:prstGeom>
          <a:noFill/>
          <a:ln>
            <a:noFill/>
          </a:ln>
        </p:spPr>
        <p:txBody>
          <a:bodyPr wrap="square" lIns="0" tIns="0" rIns="0" bIns="0" rtlCol="0" anchor="ctr"/>
          <a:lstStyle/>
          <a:p>
            <a:pPr marL="0" indent="0">
              <a:buNone/>
            </a:pPr>
            <a:r>
              <a:rPr lang="en-US" sz="1300" b="1" dirty="0">
                <a:solidFill>
                  <a:srgbClr val="1F3864"/>
                </a:solidFill>
                <a:latin typeface="Times New Roman" pitchFamily="34" charset="0"/>
              </a:rPr>
              <a:t>Step 1: Diabetes Assessment</a:t>
            </a:r>
          </a:p>
        </p:txBody>
      </p:sp>
      <p:sp>
        <p:nvSpPr>
          <p:cNvPr id="202" name="Body0"/>
          <p:cNvSpPr/>
          <p:nvPr/>
        </p:nvSpPr>
        <p:spPr>
          <a:xfrm>
            <a:off x="274320" y="1955220"/>
            <a:ext cx="2816351" cy="2800000"/>
          </a:xfrm>
          <a:prstGeom prst="rect">
            <a:avLst/>
          </a:prstGeom>
          <a:noFill/>
          <a:ln>
            <a:noFill/>
          </a:ln>
        </p:spPr>
        <p:txBody>
          <a:bodyPr wrap="square" lIns="91440" tIns="45720" rIns="91440" bIns="45720" rtlCol="0" anchor="t"/>
          <a:lstStyle/>
          <a:p>
            <a:pPr marL="0" indent="0">
              <a:buNone/>
            </a:pPr>
            <a:r>
              <a:rPr lang="en-US" sz="1000" dirty="0">
                <a:solidFill>
                  <a:srgbClr val="3D3D3D"/>
                </a:solidFill>
                <a:latin typeface="Times New Roman" pitchFamily="34" charset="0"/>
              </a:rPr>
              <a:t>Model: Gradient Boosting RF</a:t>
            </a:r>
          </a:p>
          <a:p>
            <a:pPr marL="0" indent="0">
              <a:buNone/>
            </a:pPr>
            <a:r>
              <a:rPr lang="en-US" sz="1000" dirty="0">
                <a:solidFill>
                  <a:srgbClr val="3D3D3D"/>
                </a:solidFill>
                <a:latin typeface="Times New Roman" pitchFamily="34" charset="0"/>
              </a:rPr>
              <a:t>Input: 8 features</a:t>
            </a:r>
          </a:p>
          <a:p>
            <a:pPr marL="0" indent="0">
              <a:buNone/>
            </a:pPr>
            <a:r>
              <a:rPr lang="en-US" sz="1000" dirty="0">
                <a:solidFill>
                  <a:srgbClr val="3D3D3D"/>
                </a:solidFill>
                <a:latin typeface="Times New Roman" pitchFamily="34" charset="0"/>
              </a:rPr>
              <a:t>  Glucose, BMI, Age, BloodPressure,</a:t>
            </a:r>
          </a:p>
          <a:p>
            <a:pPr marL="0" indent="0">
              <a:buNone/>
            </a:pPr>
            <a:r>
              <a:rPr lang="en-US" sz="1000" dirty="0">
                <a:solidFill>
                  <a:srgbClr val="3D3D3D"/>
                </a:solidFill>
                <a:latin typeface="Times New Roman" pitchFamily="34" charset="0"/>
              </a:rPr>
              <a:t>  Pregnancies, Insulin, DPF,</a:t>
            </a:r>
          </a:p>
          <a:p>
            <a:pPr marL="0" indent="0">
              <a:buNone/>
            </a:pPr>
            <a:r>
              <a:rPr lang="en-US" sz="1000" dirty="0">
                <a:solidFill>
                  <a:srgbClr val="3D3D3D"/>
                </a:solidFill>
                <a:latin typeface="Times New Roman" pitchFamily="34" charset="0"/>
              </a:rPr>
              <a:t>  SkinThickness</a:t>
            </a:r>
          </a:p>
          <a:p>
            <a:pPr marL="0" indent="0">
              <a:buNone/>
            </a:pPr>
            <a:r>
              <a:rPr lang="en-US" sz="1000" dirty="0">
                <a:solidFill>
                  <a:srgbClr val="3D3D3D"/>
                </a:solidFill>
                <a:latin typeface="Times New Roman" pitchFamily="34" charset="0"/>
              </a:rPr>
              <a:t>Preprocessing:</a:t>
            </a:r>
          </a:p>
          <a:p>
            <a:pPr marL="0" indent="0">
              <a:buNone/>
            </a:pPr>
            <a:r>
              <a:rPr lang="en-US" sz="1000" dirty="0">
                <a:solidFill>
                  <a:srgbClr val="3D3D3D"/>
                </a:solidFill>
                <a:latin typeface="Times New Roman" pitchFamily="34" charset="0"/>
              </a:rPr>
              <a:t>  1. Median impute (saved imputer)</a:t>
            </a:r>
          </a:p>
          <a:p>
            <a:pPr marL="0" indent="0">
              <a:buNone/>
            </a:pPr>
            <a:r>
              <a:rPr lang="en-US" sz="1000" dirty="0">
                <a:solidFill>
                  <a:srgbClr val="3D3D3D"/>
                </a:solidFill>
                <a:latin typeface="Times New Roman" pitchFamily="34" charset="0"/>
              </a:rPr>
              <a:t>  2. StandardScaler (saved scaler)</a:t>
            </a:r>
          </a:p>
          <a:p>
            <a:pPr marL="0" indent="0">
              <a:buNone/>
            </a:pPr>
            <a:r>
              <a:rPr lang="en-US" sz="1000" dirty="0">
                <a:solidFill>
                  <a:srgbClr val="3D3D3D"/>
                </a:solidFill>
                <a:latin typeface="Times New Roman" pitchFamily="34" charset="0"/>
              </a:rPr>
              <a:t>Output:</a:t>
            </a:r>
          </a:p>
          <a:p>
            <a:pPr marL="0" indent="0">
              <a:buNone/>
            </a:pPr>
            <a:r>
              <a:rPr lang="en-US" sz="1000" dirty="0">
                <a:solidFill>
                  <a:srgbClr val="3D3D3D"/>
                </a:solidFill>
                <a:latin typeface="Times New Roman" pitchFamily="34" charset="0"/>
              </a:rPr>
              <a:t>  probability ∈ [0,1]</a:t>
            </a:r>
          </a:p>
          <a:p>
            <a:pPr marL="0" indent="0">
              <a:buNone/>
            </a:pPr>
            <a:r>
              <a:rPr lang="en-US" sz="1000" dirty="0">
                <a:solidFill>
                  <a:srgbClr val="3D3D3D"/>
                </a:solidFill>
                <a:latin typeface="Times New Roman" pitchFamily="34" charset="0"/>
              </a:rPr>
              <a:t>  verdict: POSITIVE / NEGATIVE</a:t>
            </a:r>
          </a:p>
          <a:p>
            <a:pPr marL="0" indent="0">
              <a:buNone/>
            </a:pPr>
            <a:r>
              <a:rPr lang="en-US" sz="1000" dirty="0">
                <a:solidFill>
                  <a:srgbClr val="3D3D3D"/>
                </a:solidFill>
                <a:latin typeface="Times New Roman" pitchFamily="34" charset="0"/>
              </a:rPr>
              <a:t>  risk_level: HIGH/MEDIUM/LOW/MINIMAL</a:t>
            </a:r>
          </a:p>
          <a:p>
            <a:pPr marL="0" indent="0">
              <a:buNone/>
            </a:pPr>
            <a:r>
              <a:rPr lang="en-US" sz="1000" dirty="0">
                <a:solidFill>
                  <a:srgbClr val="3D3D3D"/>
                </a:solidFill>
                <a:latin typeface="Times New Roman" pitchFamily="34" charset="0"/>
              </a:rPr>
              <a:t>  threshold: Youden’s J = 0.432</a:t>
            </a:r>
          </a:p>
          <a:p>
            <a:pPr marL="0" indent="0">
              <a:buNone/>
            </a:pPr>
            <a:r>
              <a:rPr lang="en-US" sz="1000" dirty="0">
                <a:solidFill>
                  <a:srgbClr val="3D3D3D"/>
                </a:solidFill>
                <a:latin typeface="Times New Roman" pitchFamily="34" charset="0"/>
              </a:rPr>
              <a:t>Example: Glucose=148 → 74.3% risk</a:t>
            </a:r>
          </a:p>
          <a:p>
            <a:endParaRPr lang="en-US" dirty="0"/>
          </a:p>
        </p:txBody>
      </p:sp>
      <p:sp>
        <p:nvSpPr>
          <p:cNvPr id="210" name="Box1"/>
          <p:cNvSpPr/>
          <p:nvPr/>
        </p:nvSpPr>
        <p:spPr>
          <a:xfrm>
            <a:off x="3108960" y="1611060"/>
            <a:ext cx="2926079" cy="3200400"/>
          </a:xfrm>
          <a:prstGeom prst="rect">
            <a:avLst/>
          </a:prstGeom>
          <a:solidFill>
            <a:srgbClr val="FFF8F0"/>
          </a:solidFill>
          <a:ln w="12700">
            <a:solidFill>
              <a:srgbClr val="E87722"/>
            </a:solidFill>
          </a:ln>
        </p:spPr>
        <p:txBody>
          <a:bodyPr/>
          <a:lstStyle/>
          <a:p>
            <a:endParaRPr lang="en-US" dirty="0"/>
          </a:p>
        </p:txBody>
      </p:sp>
      <p:sp>
        <p:nvSpPr>
          <p:cNvPr id="211" name="Hdr1"/>
          <p:cNvSpPr/>
          <p:nvPr/>
        </p:nvSpPr>
        <p:spPr>
          <a:xfrm>
            <a:off x="3200400" y="1655220"/>
            <a:ext cx="2816351" cy="274320"/>
          </a:xfrm>
          <a:prstGeom prst="rect">
            <a:avLst/>
          </a:prstGeom>
          <a:noFill/>
          <a:ln>
            <a:noFill/>
          </a:ln>
        </p:spPr>
        <p:txBody>
          <a:bodyPr wrap="square" lIns="0" tIns="0" rIns="0" bIns="0" rtlCol="0" anchor="ctr"/>
          <a:lstStyle/>
          <a:p>
            <a:pPr marL="0" indent="0">
              <a:buNone/>
            </a:pPr>
            <a:r>
              <a:rPr lang="en-US" sz="1300" b="1" dirty="0">
                <a:solidFill>
                  <a:srgbClr val="E87722"/>
                </a:solidFill>
                <a:latin typeface="Times New Roman" pitchFamily="34" charset="0"/>
              </a:rPr>
              <a:t>Step 2: Bridge Escalation</a:t>
            </a:r>
          </a:p>
        </p:txBody>
      </p:sp>
      <p:sp>
        <p:nvSpPr>
          <p:cNvPr id="212" name="Body1"/>
          <p:cNvSpPr/>
          <p:nvPr/>
        </p:nvSpPr>
        <p:spPr>
          <a:xfrm>
            <a:off x="3200400" y="1955220"/>
            <a:ext cx="2816351" cy="2800000"/>
          </a:xfrm>
          <a:prstGeom prst="rect">
            <a:avLst/>
          </a:prstGeom>
          <a:noFill/>
          <a:ln>
            <a:noFill/>
          </a:ln>
        </p:spPr>
        <p:txBody>
          <a:bodyPr wrap="square" lIns="91440" tIns="45720" rIns="91440" bIns="45720" rtlCol="0" anchor="t"/>
          <a:lstStyle/>
          <a:p>
            <a:pPr marL="0" indent="0">
              <a:buNone/>
            </a:pPr>
            <a:r>
              <a:rPr lang="en-US" sz="1000" dirty="0">
                <a:solidFill>
                  <a:srgbClr val="3D3D3D"/>
                </a:solidFill>
                <a:latin typeface="Times New Roman" pitchFamily="34" charset="0"/>
              </a:rPr>
              <a:t>Model: Bridge RF (200 trees)</a:t>
            </a:r>
          </a:p>
          <a:p>
            <a:pPr marL="0" indent="0">
              <a:buNone/>
            </a:pPr>
            <a:r>
              <a:rPr lang="en-US" sz="1000" dirty="0">
                <a:solidFill>
                  <a:srgbClr val="3D3D3D"/>
                </a:solidFill>
                <a:latin typeface="Times New Roman" pitchFamily="34" charset="0"/>
              </a:rPr>
              <a:t>Input: 7 auto-discovered features</a:t>
            </a:r>
          </a:p>
          <a:p>
            <a:pPr marL="0" indent="0">
              <a:buNone/>
            </a:pPr>
            <a:r>
              <a:rPr lang="en-US" sz="1000" dirty="0">
                <a:solidFill>
                  <a:srgbClr val="3D3D3D"/>
                </a:solidFill>
                <a:latin typeface="Times New Roman" pitchFamily="34" charset="0"/>
              </a:rPr>
              <a:t>  Age, BMI, BloodPressure,</a:t>
            </a:r>
          </a:p>
          <a:p>
            <a:pPr marL="0" indent="0">
              <a:buNone/>
            </a:pPr>
            <a:r>
              <a:rPr lang="en-US" sz="1000" dirty="0">
                <a:solidFill>
                  <a:srgbClr val="3D3D3D"/>
                </a:solidFill>
                <a:latin typeface="Times New Roman" pitchFamily="34" charset="0"/>
              </a:rPr>
              <a:t>  DiabetesPedigreeFunction,</a:t>
            </a:r>
          </a:p>
          <a:p>
            <a:pPr marL="0" indent="0">
              <a:buNone/>
            </a:pPr>
            <a:r>
              <a:rPr lang="en-US" sz="1000" dirty="0">
                <a:solidFill>
                  <a:srgbClr val="3D3D3D"/>
                </a:solidFill>
                <a:latin typeface="Times New Roman" pitchFamily="34" charset="0"/>
              </a:rPr>
              <a:t>  Glucose, Insulin, Pregnancies</a:t>
            </a:r>
          </a:p>
          <a:p>
            <a:pPr marL="0" indent="0">
              <a:buNone/>
            </a:pPr>
            <a:r>
              <a:rPr lang="en-US" sz="1000" dirty="0">
                <a:solidFill>
                  <a:srgbClr val="3D3D3D"/>
                </a:solidFill>
                <a:latin typeface="Times New Roman" pitchFamily="34" charset="0"/>
              </a:rPr>
              <a:t>Preprocessing:</a:t>
            </a:r>
          </a:p>
          <a:p>
            <a:pPr marL="0" indent="0">
              <a:buNone/>
            </a:pPr>
            <a:r>
              <a:rPr lang="en-US" sz="1000" dirty="0">
                <a:solidFill>
                  <a:srgbClr val="3D3D3D"/>
                </a:solidFill>
                <a:latin typeface="Times New Roman" pitchFamily="34" charset="0"/>
              </a:rPr>
              <a:t>  1. Bridge-specific median imputer</a:t>
            </a:r>
          </a:p>
          <a:p>
            <a:pPr marL="0" indent="0">
              <a:buNone/>
            </a:pPr>
            <a:r>
              <a:rPr lang="en-US" sz="1000" dirty="0">
                <a:solidFill>
                  <a:srgbClr val="3D3D3D"/>
                </a:solidFill>
                <a:latin typeface="Times New Roman" pitchFamily="34" charset="0"/>
              </a:rPr>
              <a:t>  2. Bridge-specific StandardScaler</a:t>
            </a:r>
          </a:p>
          <a:p>
            <a:pPr marL="0" indent="0">
              <a:buNone/>
            </a:pPr>
            <a:r>
              <a:rPr lang="en-US" sz="1000" dirty="0">
                <a:solidFill>
                  <a:srgbClr val="3D3D3D"/>
                </a:solidFill>
                <a:latin typeface="Times New Roman" pitchFamily="34" charset="0"/>
              </a:rPr>
              <a:t>Output:</a:t>
            </a:r>
          </a:p>
          <a:p>
            <a:pPr marL="0" indent="0">
              <a:buNone/>
            </a:pPr>
            <a:r>
              <a:rPr lang="en-US" sz="1000" dirty="0">
                <a:solidFill>
                  <a:srgbClr val="3D3D3D"/>
                </a:solidFill>
                <a:latin typeface="Times New Roman" pitchFamily="34" charset="0"/>
              </a:rPr>
              <a:t>  probability ∈ [0,1]</a:t>
            </a:r>
          </a:p>
          <a:p>
            <a:pPr marL="0" indent="0">
              <a:buNone/>
            </a:pPr>
            <a:r>
              <a:rPr lang="en-US" sz="1000" dirty="0">
                <a:solidFill>
                  <a:srgbClr val="3D3D3D"/>
                </a:solidFill>
                <a:latin typeface="Times New Roman" pitchFamily="34" charset="0"/>
              </a:rPr>
              <a:t>  verdict: ESCALATE / MONITOR</a:t>
            </a:r>
          </a:p>
          <a:p>
            <a:pPr marL="0" indent="0">
              <a:buNone/>
            </a:pPr>
            <a:r>
              <a:rPr lang="en-US" sz="1000" dirty="0">
                <a:solidFill>
                  <a:srgbClr val="3D3D3D"/>
                </a:solidFill>
                <a:latin typeface="Times New Roman" pitchFamily="34" charset="0"/>
              </a:rPr>
              <a:t>  6 threshold modes selectable</a:t>
            </a:r>
          </a:p>
          <a:p>
            <a:pPr marL="0" indent="0">
              <a:buNone/>
            </a:pPr>
            <a:r>
              <a:rPr lang="en-US" sz="1000" dirty="0">
                <a:solidFill>
                  <a:srgbClr val="3D3D3D"/>
                </a:solidFill>
                <a:latin typeface="Times New Roman" pitchFamily="34" charset="0"/>
              </a:rPr>
              <a:t>  bridge_features_used returned</a:t>
            </a:r>
          </a:p>
          <a:p>
            <a:pPr marL="0" indent="0">
              <a:buNone/>
            </a:pPr>
            <a:r>
              <a:rPr lang="en-US" sz="1000" dirty="0">
                <a:solidFill>
                  <a:srgbClr val="3D3D3D"/>
                </a:solidFill>
                <a:latin typeface="Times New Roman" pitchFamily="34" charset="0"/>
              </a:rPr>
              <a:t>Example: prob=0.74 → ESCALATE</a:t>
            </a:r>
          </a:p>
          <a:p>
            <a:pPr marL="0" indent="0">
              <a:buNone/>
            </a:pPr>
            <a:r>
              <a:rPr lang="en-US" sz="1000" dirty="0">
                <a:solidFill>
                  <a:srgbClr val="3D3D3D"/>
                </a:solidFill>
                <a:latin typeface="Times New Roman" pitchFamily="34" charset="0"/>
              </a:rPr>
              <a:t>  (above Youden thr=0.610)</a:t>
            </a:r>
          </a:p>
          <a:p>
            <a:endParaRPr lang="en-US" dirty="0"/>
          </a:p>
        </p:txBody>
      </p:sp>
      <p:sp>
        <p:nvSpPr>
          <p:cNvPr id="220" name="Box2"/>
          <p:cNvSpPr/>
          <p:nvPr/>
        </p:nvSpPr>
        <p:spPr>
          <a:xfrm>
            <a:off x="6035040" y="1611060"/>
            <a:ext cx="2926079" cy="3200400"/>
          </a:xfrm>
          <a:prstGeom prst="rect">
            <a:avLst/>
          </a:prstGeom>
          <a:solidFill>
            <a:srgbClr val="F0FFF0"/>
          </a:solidFill>
          <a:ln w="12700">
            <a:solidFill>
              <a:srgbClr val="1F7A1F"/>
            </a:solidFill>
          </a:ln>
        </p:spPr>
        <p:txBody>
          <a:bodyPr/>
          <a:lstStyle/>
          <a:p>
            <a:endParaRPr lang="en-US" dirty="0"/>
          </a:p>
        </p:txBody>
      </p:sp>
      <p:sp>
        <p:nvSpPr>
          <p:cNvPr id="221" name="Hdr2"/>
          <p:cNvSpPr/>
          <p:nvPr/>
        </p:nvSpPr>
        <p:spPr>
          <a:xfrm>
            <a:off x="6126479" y="1655220"/>
            <a:ext cx="2816351" cy="274320"/>
          </a:xfrm>
          <a:prstGeom prst="rect">
            <a:avLst/>
          </a:prstGeom>
          <a:noFill/>
          <a:ln>
            <a:noFill/>
          </a:ln>
        </p:spPr>
        <p:txBody>
          <a:bodyPr wrap="square" lIns="0" tIns="0" rIns="0" bIns="0" rtlCol="0" anchor="ctr"/>
          <a:lstStyle/>
          <a:p>
            <a:pPr marL="0" indent="0">
              <a:buNone/>
            </a:pPr>
            <a:r>
              <a:rPr lang="en-US" sz="1300" b="1" dirty="0">
                <a:solidFill>
                  <a:srgbClr val="1F7A1F"/>
                </a:solidFill>
                <a:latin typeface="Times New Roman" pitchFamily="34" charset="0"/>
              </a:rPr>
              <a:t>Step 3: CKD Assessment + Decision</a:t>
            </a:r>
          </a:p>
        </p:txBody>
      </p:sp>
      <p:sp>
        <p:nvSpPr>
          <p:cNvPr id="222" name="Body2"/>
          <p:cNvSpPr/>
          <p:nvPr/>
        </p:nvSpPr>
        <p:spPr>
          <a:xfrm>
            <a:off x="6126479" y="1955220"/>
            <a:ext cx="2816351" cy="2800000"/>
          </a:xfrm>
          <a:prstGeom prst="rect">
            <a:avLst/>
          </a:prstGeom>
          <a:noFill/>
          <a:ln>
            <a:noFill/>
          </a:ln>
        </p:spPr>
        <p:txBody>
          <a:bodyPr wrap="square" lIns="91440" tIns="45720" rIns="91440" bIns="45720" rtlCol="0" anchor="t"/>
          <a:lstStyle/>
          <a:p>
            <a:pPr marL="0" indent="0">
              <a:buNone/>
            </a:pPr>
            <a:r>
              <a:rPr lang="en-US" sz="1000" dirty="0">
                <a:solidFill>
                  <a:srgbClr val="3D3D3D"/>
                </a:solidFill>
                <a:latin typeface="Times New Roman" pitchFamily="34" charset="0"/>
              </a:rPr>
              <a:t>Model: Logistic Regression (AUC=1.00)</a:t>
            </a:r>
          </a:p>
          <a:p>
            <a:pPr marL="0" indent="0">
              <a:buNone/>
            </a:pPr>
            <a:r>
              <a:rPr lang="en-US" sz="1000" dirty="0">
                <a:solidFill>
                  <a:srgbClr val="3D3D3D"/>
                </a:solidFill>
                <a:latin typeface="Times New Roman" pitchFamily="34" charset="0"/>
              </a:rPr>
              <a:t>Input: 24 CKD features (encoded)</a:t>
            </a:r>
          </a:p>
          <a:p>
            <a:pPr marL="0" indent="0">
              <a:buNone/>
            </a:pPr>
            <a:r>
              <a:rPr lang="en-US" sz="1000" dirty="0">
                <a:solidFill>
                  <a:srgbClr val="3D3D3D"/>
                </a:solidFill>
                <a:latin typeface="Times New Roman" pitchFamily="34" charset="0"/>
              </a:rPr>
              <a:t>  Binary: htn, dm, cad, ane, pe,</a:t>
            </a:r>
          </a:p>
          <a:p>
            <a:pPr marL="0" indent="0">
              <a:buNone/>
            </a:pPr>
            <a:r>
              <a:rPr lang="en-US" sz="1000" dirty="0">
                <a:solidFill>
                  <a:srgbClr val="3D3D3D"/>
                </a:solidFill>
                <a:latin typeface="Times New Roman" pitchFamily="34" charset="0"/>
              </a:rPr>
              <a:t>          appet, rbc, pc, pcc, ba</a:t>
            </a:r>
          </a:p>
          <a:p>
            <a:pPr marL="0" indent="0">
              <a:buNone/>
            </a:pPr>
            <a:r>
              <a:rPr lang="en-US" sz="1000" dirty="0">
                <a:solidFill>
                  <a:srgbClr val="3D3D3D"/>
                </a:solidFill>
                <a:latin typeface="Times New Roman" pitchFamily="34" charset="0"/>
              </a:rPr>
              <a:t>  Numeric: age, bp, hemo, sc, bgr,</a:t>
            </a:r>
          </a:p>
          <a:p>
            <a:pPr marL="0" indent="0">
              <a:buNone/>
            </a:pPr>
            <a:r>
              <a:rPr lang="en-US" sz="1000" dirty="0">
                <a:solidFill>
                  <a:srgbClr val="3D3D3D"/>
                </a:solidFill>
                <a:latin typeface="Times New Roman" pitchFamily="34" charset="0"/>
              </a:rPr>
              <a:t>           bu, pcv, rc, sod, pot...</a:t>
            </a:r>
          </a:p>
          <a:p>
            <a:pPr marL="0" indent="0">
              <a:buNone/>
            </a:pPr>
            <a:r>
              <a:rPr lang="en-US" sz="1000" dirty="0">
                <a:solidFill>
                  <a:srgbClr val="3D3D3D"/>
                </a:solidFill>
                <a:latin typeface="Times New Roman" pitchFamily="34" charset="0"/>
              </a:rPr>
              <a:t>Binary encoding via saved ckd_binary_map</a:t>
            </a:r>
          </a:p>
          <a:p>
            <a:pPr marL="0" indent="0">
              <a:buNone/>
            </a:pPr>
            <a:r>
              <a:rPr lang="en-US" sz="1000" dirty="0">
                <a:solidFill>
                  <a:srgbClr val="3D3D3D"/>
                </a:solidFill>
                <a:latin typeface="Times New Roman" pitchFamily="34" charset="0"/>
              </a:rPr>
              <a:t>Output:</a:t>
            </a:r>
          </a:p>
          <a:p>
            <a:pPr marL="0" indent="0">
              <a:buNone/>
            </a:pPr>
            <a:r>
              <a:rPr lang="en-US" sz="1000" dirty="0">
                <a:solidFill>
                  <a:srgbClr val="3D3D3D"/>
                </a:solidFill>
                <a:latin typeface="Times New Roman" pitchFamily="34" charset="0"/>
              </a:rPr>
              <a:t>  probability ∈ [0,1]</a:t>
            </a:r>
          </a:p>
          <a:p>
            <a:pPr marL="0" indent="0">
              <a:buNone/>
            </a:pPr>
            <a:r>
              <a:rPr lang="en-US" sz="1000" dirty="0">
                <a:solidFill>
                  <a:srgbClr val="3D3D3D"/>
                </a:solidFill>
                <a:latin typeface="Times New Roman" pitchFamily="34" charset="0"/>
              </a:rPr>
              <a:t>  verdict: POSITIVE / NEGATIVE</a:t>
            </a:r>
          </a:p>
          <a:p>
            <a:pPr marL="0" indent="0">
              <a:buNone/>
            </a:pPr>
            <a:r>
              <a:rPr lang="en-US" sz="1000" dirty="0">
                <a:solidFill>
                  <a:srgbClr val="3D3D3D"/>
                </a:solidFill>
                <a:latin typeface="Times New Roman" pitchFamily="34" charset="0"/>
              </a:rPr>
              <a:t>  risk_level with color code</a:t>
            </a:r>
          </a:p>
          <a:p>
            <a:pPr marL="0" indent="0">
              <a:buNone/>
            </a:pPr>
            <a:r>
              <a:rPr lang="en-US" sz="1000" dirty="0">
                <a:solidFill>
                  <a:srgbClr val="3D3D3D"/>
                </a:solidFill>
                <a:latin typeface="Times New Roman" pitchFamily="34" charset="0"/>
              </a:rPr>
              <a:t>Example: hemo=12.4, sc=1.4 → 91.7%</a:t>
            </a:r>
          </a:p>
          <a:p>
            <a:pPr marL="0" indent="0">
              <a:buNone/>
            </a:pPr>
            <a:endParaRPr lang="en-US" sz="1000" dirty="0">
              <a:solidFill>
                <a:srgbClr val="3D3D3D"/>
              </a:solidFill>
              <a:latin typeface="Times New Roman" pitchFamily="34" charset="0"/>
            </a:endParaRPr>
          </a:p>
          <a:p>
            <a:pPr marL="0" indent="0">
              <a:buNone/>
            </a:pPr>
            <a:r>
              <a:rPr lang="en-US" sz="1000" dirty="0">
                <a:solidFill>
                  <a:srgbClr val="3D3D3D"/>
                </a:solidFill>
                <a:latin typeface="Times New Roman" pitchFamily="34" charset="0"/>
              </a:rPr>
              <a:t>Clinical decision logic:</a:t>
            </a:r>
          </a:p>
          <a:p>
            <a:pPr marL="0" indent="0">
              <a:buNone/>
            </a:pPr>
            <a:r>
              <a:rPr lang="en-US" sz="1000" dirty="0">
                <a:solidFill>
                  <a:srgbClr val="3D3D3D"/>
                </a:solidFill>
                <a:latin typeface="Times New Roman" pitchFamily="34" charset="0"/>
              </a:rPr>
              <a:t>  CKD ≥50% → URGENT screening</a:t>
            </a:r>
          </a:p>
          <a:p>
            <a:pPr marL="0" indent="0">
              <a:buNone/>
            </a:pPr>
            <a:r>
              <a:rPr lang="en-US" sz="1000" dirty="0">
                <a:solidFill>
                  <a:srgbClr val="3D3D3D"/>
                </a:solidFill>
                <a:latin typeface="Times New Roman" pitchFamily="34" charset="0"/>
              </a:rPr>
              <a:t>  Bridge≥thr → ESCALATE</a:t>
            </a:r>
          </a:p>
          <a:p>
            <a:pPr marL="0" indent="0">
              <a:buNone/>
            </a:pPr>
            <a:r>
              <a:rPr lang="en-US" sz="1000" dirty="0">
                <a:solidFill>
                  <a:srgbClr val="3D3D3D"/>
                </a:solidFill>
                <a:latin typeface="Times New Roman" pitchFamily="34" charset="0"/>
              </a:rPr>
              <a:t>  DM≥50% → MONITOR periodically</a:t>
            </a:r>
          </a:p>
          <a:p>
            <a:pPr marL="0" indent="0">
              <a:buNone/>
            </a:pPr>
            <a:r>
              <a:rPr lang="en-US" sz="1000" dirty="0">
                <a:solidFill>
                  <a:srgbClr val="3D3D3D"/>
                </a:solidFill>
                <a:latin typeface="Times New Roman" pitchFamily="34" charset="0"/>
              </a:rPr>
              <a:t>  else → ROUTINE follow-up</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9" name="Shape 6"/>
          <p:cNvSpPr/>
          <p:nvPr/>
        </p:nvSpPr>
        <p:spPr>
          <a:xfrm>
            <a:off x="5989320" y="1636913"/>
            <a:ext cx="2788920" cy="329184"/>
          </a:xfrm>
          <a:prstGeom prst="rect">
            <a:avLst/>
          </a:prstGeom>
          <a:solidFill>
            <a:srgbClr val="1F3864"/>
          </a:solidFill>
          <a:ln w="12700">
            <a:solidFill>
              <a:srgbClr val="1F3864"/>
            </a:solidFill>
            <a:prstDash val="solid"/>
          </a:ln>
        </p:spPr>
      </p:sp>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Conclusion</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24</a:t>
            </a:r>
            <a:endParaRPr lang="en-US" sz="1400" dirty="0"/>
          </a:p>
        </p:txBody>
      </p:sp>
      <p:sp>
        <p:nvSpPr>
          <p:cNvPr id="7" name="Text 4"/>
          <p:cNvSpPr/>
          <p:nvPr/>
        </p:nvSpPr>
        <p:spPr>
          <a:xfrm>
            <a:off x="365760" y="1325880"/>
            <a:ext cx="8412480" cy="502920"/>
          </a:xfrm>
          <a:prstGeom prst="rect">
            <a:avLst/>
          </a:prstGeom>
          <a:noFill/>
          <a:ln/>
        </p:spPr>
        <p:txBody>
          <a:bodyPr wrap="square" rtlCol="0" anchor="ctr"/>
          <a:lstStyle/>
          <a:p>
            <a:r>
              <a:rPr lang="en-US" sz="1600" i="1" dirty="0">
                <a:solidFill>
                  <a:srgbClr val="3D3D3D"/>
                </a:solidFill>
                <a:latin typeface="Times New Roman" pitchFamily="34" charset="0"/>
                <a:ea typeface="Times New Roman" pitchFamily="34" charset="-122"/>
                <a:cs typeface="Times New Roman" pitchFamily="34" charset="-120"/>
              </a:rPr>
              <a:t>Random Forest emerges as the optimal model for small medical datasets, achieving 0.999 AUC on CKD and 0.822 AUC on Diabetes. We began with a clinical safety problem: Silent Killer diseases detected too late. We answer it with a Zero-Hardcoding pipeline.</a:t>
            </a:r>
          </a:p>
          <a:p>
            <a:pPr marL="0" indent="0">
              <a:buNone/>
            </a:pPr>
            <a:endParaRPr lang="en-US" sz="1600" dirty="0"/>
          </a:p>
        </p:txBody>
      </p:sp>
      <p:grpSp>
        <p:nvGrpSpPr>
          <p:cNvPr id="32" name="Group 31">
            <a:extLst>
              <a:ext uri="{FF2B5EF4-FFF2-40B4-BE49-F238E27FC236}">
                <a16:creationId xmlns:a16="http://schemas.microsoft.com/office/drawing/2014/main" id="{93E5B2B3-7AE7-A0B5-8404-D42B505C5CDA}"/>
              </a:ext>
            </a:extLst>
          </p:cNvPr>
          <p:cNvGrpSpPr/>
          <p:nvPr/>
        </p:nvGrpSpPr>
        <p:grpSpPr>
          <a:xfrm>
            <a:off x="5989320" y="1641348"/>
            <a:ext cx="2788920" cy="1149096"/>
            <a:chOff x="5989320" y="1641348"/>
            <a:chExt cx="2788920" cy="1513332"/>
          </a:xfrm>
        </p:grpSpPr>
        <p:sp>
          <p:nvSpPr>
            <p:cNvPr id="8" name="Shape 5"/>
            <p:cNvSpPr/>
            <p:nvPr/>
          </p:nvSpPr>
          <p:spPr>
            <a:xfrm>
              <a:off x="5989320" y="1641348"/>
              <a:ext cx="2788920" cy="1513332"/>
            </a:xfrm>
            <a:prstGeom prst="rect">
              <a:avLst/>
            </a:prstGeom>
            <a:solidFill>
              <a:srgbClr val="F5F8FF"/>
            </a:solidFill>
            <a:ln w="12700">
              <a:solidFill>
                <a:srgbClr val="1F3864"/>
              </a:solidFill>
              <a:prstDash val="solid"/>
            </a:ln>
          </p:spPr>
        </p:sp>
        <p:sp>
          <p:nvSpPr>
            <p:cNvPr id="10" name="Text 7"/>
            <p:cNvSpPr/>
            <p:nvPr/>
          </p:nvSpPr>
          <p:spPr>
            <a:xfrm>
              <a:off x="5989320" y="1641348"/>
              <a:ext cx="2788920" cy="272400"/>
            </a:xfrm>
            <a:prstGeom prst="rect">
              <a:avLst/>
            </a:prstGeom>
            <a:noFill/>
            <a:ln/>
          </p:spPr>
          <p:txBody>
            <a:bodyPr wrap="square" lIns="0" tIns="0" rIns="0" bIns="0" rtlCol="0" anchor="ctr"/>
            <a:lstStyle/>
            <a:p>
              <a:pPr marL="0" indent="0" algn="ctr">
                <a:buNone/>
              </a:pPr>
              <a:r>
                <a:rPr lang="en-US" sz="1300" b="1" dirty="0">
                  <a:solidFill>
                    <a:schemeClr val="accent1">
                      <a:lumMod val="50000"/>
                    </a:schemeClr>
                  </a:solidFill>
                  <a:latin typeface="Times New Roman" pitchFamily="34" charset="0"/>
                  <a:ea typeface="Times New Roman" pitchFamily="34" charset="-122"/>
                  <a:cs typeface="Times New Roman" pitchFamily="34" charset="-120"/>
                </a:rPr>
                <a:t>Performance Summary</a:t>
              </a:r>
              <a:endParaRPr lang="en-US" sz="1300" dirty="0">
                <a:solidFill>
                  <a:schemeClr val="accent1">
                    <a:lumMod val="50000"/>
                  </a:schemeClr>
                </a:solidFill>
              </a:endParaRPr>
            </a:p>
          </p:txBody>
        </p:sp>
        <p:sp>
          <p:nvSpPr>
            <p:cNvPr id="11" name="Text 8"/>
            <p:cNvSpPr/>
            <p:nvPr/>
          </p:nvSpPr>
          <p:spPr>
            <a:xfrm>
              <a:off x="5989320" y="1959148"/>
              <a:ext cx="2788920" cy="416166"/>
            </a:xfrm>
            <a:prstGeom prst="rect">
              <a:avLst/>
            </a:prstGeom>
            <a:noFill/>
            <a:ln/>
          </p:spPr>
          <p:txBody>
            <a:bodyPr wrap="square" lIns="0" tIns="0" rIns="0" bIns="0" rtlCol="0" anchor="ctr"/>
            <a:lstStyle/>
            <a:p>
              <a:pPr marL="0" indent="0" algn="ctr">
                <a:buNone/>
              </a:pPr>
              <a:r>
                <a:rPr lang="en-US" sz="2400" dirty="0"/>
                <a:t>0.999</a:t>
              </a:r>
            </a:p>
          </p:txBody>
        </p:sp>
        <p:sp>
          <p:nvSpPr>
            <p:cNvPr id="12" name="Text 9"/>
            <p:cNvSpPr/>
            <p:nvPr/>
          </p:nvSpPr>
          <p:spPr>
            <a:xfrm>
              <a:off x="5989320" y="2382881"/>
              <a:ext cx="2788920" cy="189167"/>
            </a:xfrm>
            <a:prstGeom prst="rect">
              <a:avLst/>
            </a:prstGeom>
            <a:noFill/>
            <a:ln/>
          </p:spPr>
          <p:txBody>
            <a:bodyPr wrap="square" lIns="0" tIns="0" rIns="0" bIns="0" rtlCol="0" anchor="ctr"/>
            <a:lstStyle/>
            <a:p>
              <a:pPr marL="0" indent="0" algn="ctr">
                <a:buNone/>
              </a:pPr>
              <a:r>
                <a:rPr lang="en-US" sz="1300" dirty="0">
                  <a:solidFill>
                    <a:srgbClr val="3D3D3D"/>
                  </a:solidFill>
                  <a:latin typeface="Times New Roman" pitchFamily="34" charset="0"/>
                  <a:ea typeface="Times New Roman" pitchFamily="34" charset="-122"/>
                  <a:cs typeface="Times New Roman" pitchFamily="34" charset="-120"/>
                </a:rPr>
                <a:t>CKD</a:t>
              </a:r>
              <a:endParaRPr lang="en-US" sz="1300" dirty="0"/>
            </a:p>
          </p:txBody>
        </p:sp>
        <p:sp>
          <p:nvSpPr>
            <p:cNvPr id="13" name="Text 10"/>
            <p:cNvSpPr/>
            <p:nvPr/>
          </p:nvSpPr>
          <p:spPr>
            <a:xfrm>
              <a:off x="5989320" y="2594747"/>
              <a:ext cx="2788920" cy="317800"/>
            </a:xfrm>
            <a:prstGeom prst="rect">
              <a:avLst/>
            </a:prstGeom>
            <a:noFill/>
            <a:ln/>
          </p:spPr>
          <p:txBody>
            <a:bodyPr wrap="square" lIns="0" tIns="0" rIns="0" bIns="0" rtlCol="0" anchor="ctr"/>
            <a:lstStyle/>
            <a:p>
              <a:pPr marL="0" indent="0" algn="ctr">
                <a:buNone/>
              </a:pPr>
              <a:r>
                <a:rPr lang="en-US" dirty="0"/>
                <a:t>0.822</a:t>
              </a:r>
            </a:p>
          </p:txBody>
        </p:sp>
        <p:sp>
          <p:nvSpPr>
            <p:cNvPr id="14" name="Text 11"/>
            <p:cNvSpPr/>
            <p:nvPr/>
          </p:nvSpPr>
          <p:spPr>
            <a:xfrm>
              <a:off x="5989320" y="2927680"/>
              <a:ext cx="2788920" cy="181600"/>
            </a:xfrm>
            <a:prstGeom prst="rect">
              <a:avLst/>
            </a:prstGeom>
            <a:noFill/>
            <a:ln/>
          </p:spPr>
          <p:txBody>
            <a:bodyPr wrap="square" lIns="0" tIns="0" rIns="0" bIns="0" rtlCol="0" anchor="ctr"/>
            <a:lstStyle/>
            <a:p>
              <a:pPr marL="0" indent="0" algn="ctr">
                <a:buNone/>
              </a:pPr>
              <a:r>
                <a:rPr lang="en-US" sz="1200" dirty="0">
                  <a:solidFill>
                    <a:srgbClr val="3D3D3D"/>
                  </a:solidFill>
                  <a:latin typeface="Times New Roman" pitchFamily="34" charset="0"/>
                  <a:ea typeface="Times New Roman" pitchFamily="34" charset="-122"/>
                  <a:cs typeface="Times New Roman" pitchFamily="34" charset="-120"/>
                </a:rPr>
                <a:t>Diabetes</a:t>
              </a:r>
              <a:endParaRPr lang="en-US" sz="1200" dirty="0"/>
            </a:p>
          </p:txBody>
        </p:sp>
      </p:grpSp>
      <p:grpSp>
        <p:nvGrpSpPr>
          <p:cNvPr id="33" name="Group 32">
            <a:extLst>
              <a:ext uri="{FF2B5EF4-FFF2-40B4-BE49-F238E27FC236}">
                <a16:creationId xmlns:a16="http://schemas.microsoft.com/office/drawing/2014/main" id="{0979D7EC-6808-056B-8569-A31EC43E3AA0}"/>
              </a:ext>
            </a:extLst>
          </p:cNvPr>
          <p:cNvGrpSpPr/>
          <p:nvPr/>
        </p:nvGrpSpPr>
        <p:grpSpPr>
          <a:xfrm>
            <a:off x="5989320" y="2824917"/>
            <a:ext cx="2788920" cy="1952823"/>
            <a:chOff x="5989320" y="3264408"/>
            <a:chExt cx="2788920" cy="1513332"/>
          </a:xfrm>
        </p:grpSpPr>
        <p:sp>
          <p:nvSpPr>
            <p:cNvPr id="15" name="Shape 12"/>
            <p:cNvSpPr/>
            <p:nvPr/>
          </p:nvSpPr>
          <p:spPr>
            <a:xfrm>
              <a:off x="5989320" y="3264408"/>
              <a:ext cx="2788920" cy="1513332"/>
            </a:xfrm>
            <a:prstGeom prst="rect">
              <a:avLst/>
            </a:prstGeom>
            <a:solidFill>
              <a:srgbClr val="FFF4EC"/>
            </a:solidFill>
            <a:ln w="12700">
              <a:solidFill>
                <a:srgbClr val="E87722"/>
              </a:solidFill>
              <a:prstDash val="solid"/>
            </a:ln>
          </p:spPr>
        </p:sp>
        <p:sp>
          <p:nvSpPr>
            <p:cNvPr id="16" name="Shape 13"/>
            <p:cNvSpPr/>
            <p:nvPr/>
          </p:nvSpPr>
          <p:spPr>
            <a:xfrm>
              <a:off x="5989320" y="3264408"/>
              <a:ext cx="2788920" cy="329184"/>
            </a:xfrm>
            <a:prstGeom prst="rect">
              <a:avLst/>
            </a:prstGeom>
            <a:solidFill>
              <a:srgbClr val="E87722"/>
            </a:solidFill>
            <a:ln w="12700">
              <a:solidFill>
                <a:srgbClr val="E87722"/>
              </a:solidFill>
              <a:prstDash val="solid"/>
            </a:ln>
          </p:spPr>
        </p:sp>
        <p:sp>
          <p:nvSpPr>
            <p:cNvPr id="17" name="Text 14"/>
            <p:cNvSpPr/>
            <p:nvPr/>
          </p:nvSpPr>
          <p:spPr>
            <a:xfrm>
              <a:off x="5989320" y="3264408"/>
              <a:ext cx="278892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Future Work</a:t>
              </a:r>
              <a:endParaRPr lang="en-US" sz="1300" dirty="0"/>
            </a:p>
          </p:txBody>
        </p:sp>
        <p:sp>
          <p:nvSpPr>
            <p:cNvPr id="18" name="Text 15"/>
            <p:cNvSpPr/>
            <p:nvPr/>
          </p:nvSpPr>
          <p:spPr>
            <a:xfrm>
              <a:off x="6099048" y="3666744"/>
              <a:ext cx="2569464" cy="1037844"/>
            </a:xfrm>
            <a:prstGeom prst="rect">
              <a:avLst/>
            </a:prstGeom>
            <a:noFill/>
            <a:ln/>
          </p:spPr>
          <p:txBody>
            <a:bodyPr wrap="square" rtlCol="0" anchor="ctr"/>
            <a:lstStyle/>
            <a:p>
              <a:pPr marL="171450" indent="-171450">
                <a:buFont typeface="Arial" panose="020B0604020202020204" pitchFamily="34" charset="0"/>
                <a:buChar char="•"/>
              </a:pPr>
              <a:r>
                <a:rPr lang="en-US" sz="1050" dirty="0">
                  <a:solidFill>
                    <a:srgbClr val="3D3D3D"/>
                  </a:solidFill>
                  <a:latin typeface="Times New Roman" pitchFamily="34" charset="0"/>
                  <a:ea typeface="Times New Roman" pitchFamily="34" charset="-122"/>
                  <a:cs typeface="Times New Roman" pitchFamily="34" charset="-120"/>
                </a:rPr>
                <a:t>Multimodal data fusion incorporating imaging, genomics, and clinical notes to enhance diagnostic accuracy and clinical utility.</a:t>
              </a:r>
            </a:p>
            <a:p>
              <a:pPr marL="171450" indent="-171450">
                <a:buFont typeface="Arial" panose="020B0604020202020204" pitchFamily="34" charset="0"/>
                <a:buChar char="•"/>
              </a:pPr>
              <a:r>
                <a:rPr lang="en-US" sz="1050" dirty="0">
                  <a:solidFill>
                    <a:srgbClr val="3D3D3D"/>
                  </a:solidFill>
                  <a:latin typeface="Times New Roman" pitchFamily="34" charset="0"/>
                  <a:ea typeface="Times New Roman" pitchFamily="34" charset="-122"/>
                  <a:cs typeface="Times New Roman" pitchFamily="34" charset="-120"/>
                </a:rPr>
                <a:t>Expand the ML pipeline to cover other major chronic disease clusters defined by the WHO/IHME, such as Cardiovascular Diseases (CVD) and Respiratory conditions.</a:t>
              </a:r>
              <a:endParaRPr lang="en-US" sz="1050" dirty="0"/>
            </a:p>
          </p:txBody>
        </p:sp>
      </p:grpSp>
      <p:sp>
        <p:nvSpPr>
          <p:cNvPr id="19" name="Text 16"/>
          <p:cNvSpPr/>
          <p:nvPr/>
        </p:nvSpPr>
        <p:spPr>
          <a:xfrm>
            <a:off x="365760" y="2132499"/>
            <a:ext cx="5440680" cy="292608"/>
          </a:xfrm>
          <a:prstGeom prst="rect">
            <a:avLst/>
          </a:prstGeom>
          <a:noFill/>
          <a:ln/>
        </p:spPr>
        <p:txBody>
          <a:bodyPr wrap="square" rtlCol="0" anchor="ctr"/>
          <a:lstStyle/>
          <a:p>
            <a:pPr marL="0" indent="0">
              <a:buNone/>
            </a:pPr>
            <a:r>
              <a:rPr lang="en-US" sz="1600" b="1" dirty="0">
                <a:solidFill>
                  <a:srgbClr val="1F3864"/>
                </a:solidFill>
                <a:latin typeface="Times New Roman" pitchFamily="34" charset="0"/>
                <a:ea typeface="Times New Roman" pitchFamily="34" charset="-122"/>
                <a:cs typeface="Times New Roman" pitchFamily="34" charset="-120"/>
              </a:rPr>
              <a:t>Key Achievements</a:t>
            </a:r>
            <a:endParaRPr lang="en-US" sz="1600" dirty="0"/>
          </a:p>
        </p:txBody>
      </p:sp>
      <p:sp>
        <p:nvSpPr>
          <p:cNvPr id="20" name="Shape 17"/>
          <p:cNvSpPr/>
          <p:nvPr/>
        </p:nvSpPr>
        <p:spPr>
          <a:xfrm>
            <a:off x="365760" y="2507403"/>
            <a:ext cx="347472" cy="347472"/>
          </a:xfrm>
          <a:prstGeom prst="ellipse">
            <a:avLst/>
          </a:prstGeom>
          <a:solidFill>
            <a:srgbClr val="E87722"/>
          </a:solidFill>
          <a:ln w="12700">
            <a:solidFill>
              <a:srgbClr val="E87722"/>
            </a:solidFill>
            <a:prstDash val="solid"/>
          </a:ln>
        </p:spPr>
      </p:sp>
      <p:sp>
        <p:nvSpPr>
          <p:cNvPr id="21" name="Text 18"/>
          <p:cNvSpPr/>
          <p:nvPr/>
        </p:nvSpPr>
        <p:spPr>
          <a:xfrm>
            <a:off x="365760" y="2507403"/>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1</a:t>
            </a:r>
            <a:endParaRPr lang="en-US" sz="1500" dirty="0"/>
          </a:p>
        </p:txBody>
      </p:sp>
      <p:sp>
        <p:nvSpPr>
          <p:cNvPr id="22" name="Text 19"/>
          <p:cNvSpPr/>
          <p:nvPr/>
        </p:nvSpPr>
        <p:spPr>
          <a:xfrm>
            <a:off x="786384" y="2507403"/>
            <a:ext cx="5029200" cy="274320"/>
          </a:xfrm>
          <a:prstGeom prst="rect">
            <a:avLst/>
          </a:prstGeom>
          <a:noFill/>
          <a:ln/>
        </p:spPr>
        <p:txBody>
          <a:bodyPr wrap="square" rtlCol="0" anchor="ctr"/>
          <a:lstStyle/>
          <a:p>
            <a:pPr marL="0" indent="0">
              <a:buNone/>
            </a:pPr>
            <a:r>
              <a:rPr lang="en-US" sz="1400" b="1" dirty="0">
                <a:solidFill>
                  <a:srgbClr val="1F3864"/>
                </a:solidFill>
                <a:latin typeface="Times New Roman" pitchFamily="34" charset="0"/>
                <a:ea typeface="Times New Roman" pitchFamily="34" charset="-122"/>
                <a:cs typeface="Times New Roman" pitchFamily="34" charset="-120"/>
              </a:rPr>
              <a:t>Stratified 10-Fold Cross-Validation</a:t>
            </a:r>
            <a:endParaRPr lang="en-US" sz="1400" dirty="0"/>
          </a:p>
        </p:txBody>
      </p:sp>
      <p:sp>
        <p:nvSpPr>
          <p:cNvPr id="23" name="Text 20"/>
          <p:cNvSpPr/>
          <p:nvPr/>
        </p:nvSpPr>
        <p:spPr>
          <a:xfrm>
            <a:off x="786384" y="2809155"/>
            <a:ext cx="5029200" cy="413004"/>
          </a:xfrm>
          <a:prstGeom prst="rect">
            <a:avLst/>
          </a:prstGeom>
          <a:noFill/>
          <a:ln/>
        </p:spPr>
        <p:txBody>
          <a:bodyPr wrap="square" rtlCol="0" anchor="ctr"/>
          <a:lstStyle/>
          <a:p>
            <a:pPr marL="0" indent="0">
              <a:buNone/>
            </a:pPr>
            <a:r>
              <a:rPr lang="en-US" sz="1300" dirty="0">
                <a:solidFill>
                  <a:srgbClr val="3D3D3D"/>
                </a:solidFill>
                <a:latin typeface="Times New Roman" pitchFamily="34" charset="0"/>
                <a:ea typeface="Times New Roman" pitchFamily="34" charset="-122"/>
                <a:cs typeface="Times New Roman" pitchFamily="34" charset="-120"/>
              </a:rPr>
              <a:t>Ensures robust statistical performance and prevents overfitting</a:t>
            </a:r>
            <a:endParaRPr lang="en-US" sz="1300" dirty="0"/>
          </a:p>
        </p:txBody>
      </p:sp>
      <p:sp>
        <p:nvSpPr>
          <p:cNvPr id="24" name="Shape 21"/>
          <p:cNvSpPr/>
          <p:nvPr/>
        </p:nvSpPr>
        <p:spPr>
          <a:xfrm>
            <a:off x="365760" y="3331887"/>
            <a:ext cx="347472" cy="347472"/>
          </a:xfrm>
          <a:prstGeom prst="ellipse">
            <a:avLst/>
          </a:prstGeom>
          <a:solidFill>
            <a:srgbClr val="E87722"/>
          </a:solidFill>
          <a:ln w="12700">
            <a:solidFill>
              <a:srgbClr val="E87722"/>
            </a:solidFill>
            <a:prstDash val="solid"/>
          </a:ln>
        </p:spPr>
      </p:sp>
      <p:sp>
        <p:nvSpPr>
          <p:cNvPr id="25" name="Text 22"/>
          <p:cNvSpPr/>
          <p:nvPr/>
        </p:nvSpPr>
        <p:spPr>
          <a:xfrm>
            <a:off x="365760" y="3331887"/>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2</a:t>
            </a:r>
            <a:endParaRPr lang="en-US" sz="1500" dirty="0"/>
          </a:p>
        </p:txBody>
      </p:sp>
      <p:sp>
        <p:nvSpPr>
          <p:cNvPr id="26" name="Text 23"/>
          <p:cNvSpPr/>
          <p:nvPr/>
        </p:nvSpPr>
        <p:spPr>
          <a:xfrm>
            <a:off x="786384" y="3331887"/>
            <a:ext cx="5029200" cy="274320"/>
          </a:xfrm>
          <a:prstGeom prst="rect">
            <a:avLst/>
          </a:prstGeom>
          <a:noFill/>
          <a:ln/>
        </p:spPr>
        <p:txBody>
          <a:bodyPr wrap="square" rtlCol="0" anchor="ctr"/>
          <a:lstStyle/>
          <a:p>
            <a:pPr marL="0" indent="0">
              <a:buNone/>
            </a:pPr>
            <a:r>
              <a:rPr lang="en-US" sz="1400" b="1" dirty="0">
                <a:solidFill>
                  <a:srgbClr val="1F3864"/>
                </a:solidFill>
                <a:latin typeface="Times New Roman" pitchFamily="34" charset="0"/>
                <a:ea typeface="Times New Roman" pitchFamily="34" charset="-122"/>
                <a:cs typeface="Times New Roman" pitchFamily="34" charset="-120"/>
              </a:rPr>
              <a:t>SMOTE Integration</a:t>
            </a:r>
            <a:endParaRPr lang="en-US" sz="1400" dirty="0"/>
          </a:p>
        </p:txBody>
      </p:sp>
      <p:sp>
        <p:nvSpPr>
          <p:cNvPr id="27" name="Text 24"/>
          <p:cNvSpPr/>
          <p:nvPr/>
        </p:nvSpPr>
        <p:spPr>
          <a:xfrm>
            <a:off x="786384" y="3633639"/>
            <a:ext cx="5029200" cy="413004"/>
          </a:xfrm>
          <a:prstGeom prst="rect">
            <a:avLst/>
          </a:prstGeom>
          <a:noFill/>
          <a:ln/>
        </p:spPr>
        <p:txBody>
          <a:bodyPr wrap="square" rtlCol="0" anchor="ctr"/>
          <a:lstStyle/>
          <a:p>
            <a:pPr marL="0" indent="0">
              <a:buNone/>
            </a:pPr>
            <a:r>
              <a:rPr lang="en-US" sz="1300" dirty="0">
                <a:solidFill>
                  <a:srgbClr val="3D3D3D"/>
                </a:solidFill>
                <a:latin typeface="Times New Roman" pitchFamily="34" charset="0"/>
                <a:ea typeface="Times New Roman" pitchFamily="34" charset="-122"/>
                <a:cs typeface="Times New Roman" pitchFamily="34" charset="-120"/>
              </a:rPr>
              <a:t>Successfully handles class imbalance in medical datasets</a:t>
            </a:r>
            <a:endParaRPr lang="en-US" sz="1300" dirty="0"/>
          </a:p>
        </p:txBody>
      </p:sp>
      <p:sp>
        <p:nvSpPr>
          <p:cNvPr id="28" name="Shape 25"/>
          <p:cNvSpPr/>
          <p:nvPr/>
        </p:nvSpPr>
        <p:spPr>
          <a:xfrm>
            <a:off x="365760" y="4148876"/>
            <a:ext cx="347472" cy="347472"/>
          </a:xfrm>
          <a:prstGeom prst="ellipse">
            <a:avLst/>
          </a:prstGeom>
          <a:solidFill>
            <a:srgbClr val="E87722"/>
          </a:solidFill>
          <a:ln w="12700">
            <a:solidFill>
              <a:srgbClr val="E87722"/>
            </a:solidFill>
            <a:prstDash val="solid"/>
          </a:ln>
        </p:spPr>
      </p:sp>
      <p:sp>
        <p:nvSpPr>
          <p:cNvPr id="29" name="Text 26"/>
          <p:cNvSpPr/>
          <p:nvPr/>
        </p:nvSpPr>
        <p:spPr>
          <a:xfrm>
            <a:off x="365760" y="4156371"/>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3</a:t>
            </a:r>
            <a:endParaRPr lang="en-US" sz="1500" dirty="0"/>
          </a:p>
        </p:txBody>
      </p:sp>
      <p:sp>
        <p:nvSpPr>
          <p:cNvPr id="30" name="Text 27"/>
          <p:cNvSpPr/>
          <p:nvPr/>
        </p:nvSpPr>
        <p:spPr>
          <a:xfrm>
            <a:off x="786384" y="4156371"/>
            <a:ext cx="5029200" cy="274320"/>
          </a:xfrm>
          <a:prstGeom prst="rect">
            <a:avLst/>
          </a:prstGeom>
          <a:noFill/>
          <a:ln/>
        </p:spPr>
        <p:txBody>
          <a:bodyPr wrap="square" rtlCol="0" anchor="ctr"/>
          <a:lstStyle/>
          <a:p>
            <a:pPr marL="0" indent="0">
              <a:buNone/>
            </a:pPr>
            <a:r>
              <a:rPr lang="en-US" sz="1400" b="1" dirty="0">
                <a:solidFill>
                  <a:srgbClr val="1F3864"/>
                </a:solidFill>
                <a:latin typeface="Times New Roman" pitchFamily="34" charset="0"/>
                <a:ea typeface="Times New Roman" pitchFamily="34" charset="-122"/>
                <a:cs typeface="Times New Roman" pitchFamily="34" charset="-120"/>
              </a:rPr>
              <a:t>SHAP Explainability</a:t>
            </a:r>
            <a:endParaRPr lang="en-US" sz="1400" dirty="0"/>
          </a:p>
        </p:txBody>
      </p:sp>
      <p:sp>
        <p:nvSpPr>
          <p:cNvPr id="31" name="Text 28"/>
          <p:cNvSpPr/>
          <p:nvPr/>
        </p:nvSpPr>
        <p:spPr>
          <a:xfrm>
            <a:off x="786384" y="4458123"/>
            <a:ext cx="5029200" cy="413004"/>
          </a:xfrm>
          <a:prstGeom prst="rect">
            <a:avLst/>
          </a:prstGeom>
          <a:noFill/>
          <a:ln/>
        </p:spPr>
        <p:txBody>
          <a:bodyPr wrap="square" rtlCol="0" anchor="ctr"/>
          <a:lstStyle/>
          <a:p>
            <a:pPr marL="0" indent="0">
              <a:buNone/>
            </a:pPr>
            <a:r>
              <a:rPr lang="en-US" sz="1300" dirty="0">
                <a:solidFill>
                  <a:srgbClr val="3D3D3D"/>
                </a:solidFill>
                <a:latin typeface="Times New Roman" pitchFamily="34" charset="0"/>
                <a:ea typeface="Times New Roman" pitchFamily="34" charset="-122"/>
                <a:cs typeface="Times New Roman" pitchFamily="34" charset="-120"/>
              </a:rPr>
              <a:t>Provides clinical trust through feature importance visualization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8120" y="91440"/>
            <a:ext cx="1143000" cy="475488"/>
          </a:xfrm>
          <a:prstGeom prst="rect">
            <a:avLst/>
          </a:prstGeom>
        </p:spPr>
      </p:pic>
      <p:sp>
        <p:nvSpPr>
          <p:cNvPr id="3" name="Text 0"/>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References</a:t>
            </a:r>
            <a:endParaRPr lang="en-US" sz="2600" dirty="0"/>
          </a:p>
        </p:txBody>
      </p:sp>
      <p:sp>
        <p:nvSpPr>
          <p:cNvPr id="4" name="Shape 1"/>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p:cNvSpPr/>
          <p:nvPr/>
        </p:nvSpPr>
        <p:spPr>
          <a:xfrm>
            <a:off x="0" y="4850892"/>
            <a:ext cx="9144000" cy="292608"/>
          </a:xfrm>
          <a:prstGeom prst="rect">
            <a:avLst/>
          </a:prstGeom>
          <a:solidFill>
            <a:srgbClr val="E87722"/>
          </a:solidFill>
          <a:ln w="12700">
            <a:solidFill>
              <a:srgbClr val="E87722"/>
            </a:solidFill>
            <a:prstDash val="solid"/>
          </a:ln>
        </p:spPr>
      </p:sp>
      <p:sp>
        <p:nvSpPr>
          <p:cNvPr id="6" name="Text 3"/>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25</a:t>
            </a:r>
            <a:endParaRPr lang="en-US" sz="1400" dirty="0"/>
          </a:p>
        </p:txBody>
      </p:sp>
      <p:sp>
        <p:nvSpPr>
          <p:cNvPr id="7" name="Shape 4"/>
          <p:cNvSpPr/>
          <p:nvPr/>
        </p:nvSpPr>
        <p:spPr>
          <a:xfrm>
            <a:off x="365760" y="1325880"/>
            <a:ext cx="4114800" cy="644652"/>
          </a:xfrm>
          <a:prstGeom prst="rect">
            <a:avLst/>
          </a:prstGeom>
          <a:solidFill>
            <a:srgbClr val="F5F8FF"/>
          </a:solidFill>
          <a:ln w="12700">
            <a:solidFill>
              <a:srgbClr val="E0E0E0"/>
            </a:solidFill>
            <a:prstDash val="solid"/>
          </a:ln>
        </p:spPr>
      </p:sp>
      <p:sp>
        <p:nvSpPr>
          <p:cNvPr id="8" name="Shape 5"/>
          <p:cNvSpPr/>
          <p:nvPr/>
        </p:nvSpPr>
        <p:spPr>
          <a:xfrm>
            <a:off x="365760" y="1325880"/>
            <a:ext cx="54864" cy="644652"/>
          </a:xfrm>
          <a:prstGeom prst="rect">
            <a:avLst/>
          </a:prstGeom>
          <a:solidFill>
            <a:srgbClr val="E87722"/>
          </a:solidFill>
          <a:ln w="12700">
            <a:solidFill>
              <a:srgbClr val="E87722"/>
            </a:solidFill>
            <a:prstDash val="solid"/>
          </a:ln>
        </p:spPr>
      </p:sp>
      <p:sp>
        <p:nvSpPr>
          <p:cNvPr id="9" name="Text 6"/>
          <p:cNvSpPr/>
          <p:nvPr/>
        </p:nvSpPr>
        <p:spPr>
          <a:xfrm>
            <a:off x="475488" y="1362456"/>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1. Naz S, et al. The early prediction of chronic diseases through diverse ML algorithms. IEEE Access. 2024;12:11004–11015.</a:t>
            </a:r>
            <a:endParaRPr lang="en-US" sz="1200" dirty="0"/>
          </a:p>
        </p:txBody>
      </p:sp>
      <p:sp>
        <p:nvSpPr>
          <p:cNvPr id="10" name="Shape 7"/>
          <p:cNvSpPr/>
          <p:nvPr/>
        </p:nvSpPr>
        <p:spPr>
          <a:xfrm>
            <a:off x="365760" y="2016252"/>
            <a:ext cx="4114800" cy="644652"/>
          </a:xfrm>
          <a:prstGeom prst="rect">
            <a:avLst/>
          </a:prstGeom>
          <a:solidFill>
            <a:srgbClr val="FFFFFF"/>
          </a:solidFill>
          <a:ln w="12700">
            <a:solidFill>
              <a:srgbClr val="E0E0E0"/>
            </a:solidFill>
            <a:prstDash val="solid"/>
          </a:ln>
        </p:spPr>
      </p:sp>
      <p:sp>
        <p:nvSpPr>
          <p:cNvPr id="11" name="Shape 8"/>
          <p:cNvSpPr/>
          <p:nvPr/>
        </p:nvSpPr>
        <p:spPr>
          <a:xfrm>
            <a:off x="365760" y="2016252"/>
            <a:ext cx="54864" cy="644652"/>
          </a:xfrm>
          <a:prstGeom prst="rect">
            <a:avLst/>
          </a:prstGeom>
          <a:solidFill>
            <a:srgbClr val="E87722"/>
          </a:solidFill>
          <a:ln w="12700">
            <a:solidFill>
              <a:srgbClr val="E87722"/>
            </a:solidFill>
            <a:prstDash val="solid"/>
          </a:ln>
        </p:spPr>
      </p:sp>
      <p:sp>
        <p:nvSpPr>
          <p:cNvPr id="12" name="Text 9"/>
          <p:cNvSpPr/>
          <p:nvPr/>
        </p:nvSpPr>
        <p:spPr>
          <a:xfrm>
            <a:off x="475488" y="2052828"/>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2. Delpino FM, et al. Machine learning for predicting chronic diseases: A systematic review. Public Health. 2022;205:15–25.</a:t>
            </a:r>
            <a:endParaRPr lang="en-US" sz="1200" dirty="0"/>
          </a:p>
        </p:txBody>
      </p:sp>
      <p:sp>
        <p:nvSpPr>
          <p:cNvPr id="13" name="Shape 10"/>
          <p:cNvSpPr/>
          <p:nvPr/>
        </p:nvSpPr>
        <p:spPr>
          <a:xfrm>
            <a:off x="365760" y="2706624"/>
            <a:ext cx="4114800" cy="644652"/>
          </a:xfrm>
          <a:prstGeom prst="rect">
            <a:avLst/>
          </a:prstGeom>
          <a:solidFill>
            <a:srgbClr val="F5F8FF"/>
          </a:solidFill>
          <a:ln w="12700">
            <a:solidFill>
              <a:srgbClr val="E0E0E0"/>
            </a:solidFill>
            <a:prstDash val="solid"/>
          </a:ln>
        </p:spPr>
      </p:sp>
      <p:sp>
        <p:nvSpPr>
          <p:cNvPr id="14" name="Shape 11"/>
          <p:cNvSpPr/>
          <p:nvPr/>
        </p:nvSpPr>
        <p:spPr>
          <a:xfrm>
            <a:off x="365760" y="2706624"/>
            <a:ext cx="54864" cy="644652"/>
          </a:xfrm>
          <a:prstGeom prst="rect">
            <a:avLst/>
          </a:prstGeom>
          <a:solidFill>
            <a:srgbClr val="E87722"/>
          </a:solidFill>
          <a:ln w="12700">
            <a:solidFill>
              <a:srgbClr val="E87722"/>
            </a:solidFill>
            <a:prstDash val="solid"/>
          </a:ln>
        </p:spPr>
      </p:sp>
      <p:sp>
        <p:nvSpPr>
          <p:cNvPr id="15" name="Text 12"/>
          <p:cNvSpPr/>
          <p:nvPr/>
        </p:nvSpPr>
        <p:spPr>
          <a:xfrm>
            <a:off x="475488" y="2743200"/>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3. Abbas Q, et al. Explainable AI in clinical decision support systems. PMC Med Inform. 2025;14(1):102–115.</a:t>
            </a:r>
            <a:endParaRPr lang="en-US" sz="1200" dirty="0"/>
          </a:p>
        </p:txBody>
      </p:sp>
      <p:sp>
        <p:nvSpPr>
          <p:cNvPr id="16" name="Shape 13"/>
          <p:cNvSpPr/>
          <p:nvPr/>
        </p:nvSpPr>
        <p:spPr>
          <a:xfrm>
            <a:off x="365760" y="3396996"/>
            <a:ext cx="4114800" cy="644652"/>
          </a:xfrm>
          <a:prstGeom prst="rect">
            <a:avLst/>
          </a:prstGeom>
          <a:solidFill>
            <a:srgbClr val="FFFFFF"/>
          </a:solidFill>
          <a:ln w="12700">
            <a:solidFill>
              <a:srgbClr val="E0E0E0"/>
            </a:solidFill>
            <a:prstDash val="solid"/>
          </a:ln>
        </p:spPr>
      </p:sp>
      <p:sp>
        <p:nvSpPr>
          <p:cNvPr id="17" name="Shape 14"/>
          <p:cNvSpPr/>
          <p:nvPr/>
        </p:nvSpPr>
        <p:spPr>
          <a:xfrm>
            <a:off x="365760" y="3396996"/>
            <a:ext cx="54864" cy="644652"/>
          </a:xfrm>
          <a:prstGeom prst="rect">
            <a:avLst/>
          </a:prstGeom>
          <a:solidFill>
            <a:srgbClr val="E87722"/>
          </a:solidFill>
          <a:ln w="12700">
            <a:solidFill>
              <a:srgbClr val="E87722"/>
            </a:solidFill>
            <a:prstDash val="solid"/>
          </a:ln>
        </p:spPr>
      </p:sp>
      <p:sp>
        <p:nvSpPr>
          <p:cNvPr id="18" name="Text 15"/>
          <p:cNvSpPr/>
          <p:nvPr/>
        </p:nvSpPr>
        <p:spPr>
          <a:xfrm>
            <a:off x="475488" y="3433572"/>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4. Jung Y, et al. Evaluating XAI impact on clinical trust. Int J Med Inform. 2025;105943.</a:t>
            </a:r>
            <a:endParaRPr lang="en-US" sz="1200" dirty="0"/>
          </a:p>
        </p:txBody>
      </p:sp>
      <p:sp>
        <p:nvSpPr>
          <p:cNvPr id="19" name="Shape 16"/>
          <p:cNvSpPr/>
          <p:nvPr/>
        </p:nvSpPr>
        <p:spPr>
          <a:xfrm>
            <a:off x="365760" y="4087368"/>
            <a:ext cx="4114800" cy="644652"/>
          </a:xfrm>
          <a:prstGeom prst="rect">
            <a:avLst/>
          </a:prstGeom>
          <a:solidFill>
            <a:srgbClr val="F5F8FF"/>
          </a:solidFill>
          <a:ln w="12700">
            <a:solidFill>
              <a:srgbClr val="E0E0E0"/>
            </a:solidFill>
            <a:prstDash val="solid"/>
          </a:ln>
        </p:spPr>
      </p:sp>
      <p:sp>
        <p:nvSpPr>
          <p:cNvPr id="20" name="Shape 17"/>
          <p:cNvSpPr/>
          <p:nvPr/>
        </p:nvSpPr>
        <p:spPr>
          <a:xfrm>
            <a:off x="365760" y="4087368"/>
            <a:ext cx="54864" cy="644652"/>
          </a:xfrm>
          <a:prstGeom prst="rect">
            <a:avLst/>
          </a:prstGeom>
          <a:solidFill>
            <a:srgbClr val="E87722"/>
          </a:solidFill>
          <a:ln w="12700">
            <a:solidFill>
              <a:srgbClr val="E87722"/>
            </a:solidFill>
            <a:prstDash val="solid"/>
          </a:ln>
        </p:spPr>
      </p:sp>
      <p:sp>
        <p:nvSpPr>
          <p:cNvPr id="21" name="Text 18"/>
          <p:cNvSpPr/>
          <p:nvPr/>
        </p:nvSpPr>
        <p:spPr>
          <a:xfrm>
            <a:off x="475488" y="4123944"/>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5. Nikolaou N. Multimodal data fusion in precision oncology. Nat Commun. 2025;16:142.</a:t>
            </a:r>
            <a:endParaRPr lang="en-US" sz="1200" dirty="0"/>
          </a:p>
        </p:txBody>
      </p:sp>
      <p:sp>
        <p:nvSpPr>
          <p:cNvPr id="22" name="Shape 19"/>
          <p:cNvSpPr/>
          <p:nvPr/>
        </p:nvSpPr>
        <p:spPr>
          <a:xfrm>
            <a:off x="4663440" y="1325880"/>
            <a:ext cx="4114800" cy="644652"/>
          </a:xfrm>
          <a:prstGeom prst="rect">
            <a:avLst/>
          </a:prstGeom>
          <a:solidFill>
            <a:srgbClr val="F5F8FF"/>
          </a:solidFill>
          <a:ln w="12700">
            <a:solidFill>
              <a:srgbClr val="E0E0E0"/>
            </a:solidFill>
            <a:prstDash val="solid"/>
          </a:ln>
        </p:spPr>
      </p:sp>
      <p:sp>
        <p:nvSpPr>
          <p:cNvPr id="23" name="Shape 20"/>
          <p:cNvSpPr/>
          <p:nvPr/>
        </p:nvSpPr>
        <p:spPr>
          <a:xfrm>
            <a:off x="4663440" y="1325880"/>
            <a:ext cx="54864" cy="644652"/>
          </a:xfrm>
          <a:prstGeom prst="rect">
            <a:avLst/>
          </a:prstGeom>
          <a:solidFill>
            <a:srgbClr val="E87722"/>
          </a:solidFill>
          <a:ln w="12700">
            <a:solidFill>
              <a:srgbClr val="E87722"/>
            </a:solidFill>
            <a:prstDash val="solid"/>
          </a:ln>
        </p:spPr>
      </p:sp>
      <p:sp>
        <p:nvSpPr>
          <p:cNvPr id="24" name="Text 21"/>
          <p:cNvSpPr/>
          <p:nvPr/>
        </p:nvSpPr>
        <p:spPr>
          <a:xfrm>
            <a:off x="4773168" y="1362456"/>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6. Kumar A, et al. Review of fusion aspects in medical diagnosis. Diagnostics. 2024.</a:t>
            </a:r>
            <a:endParaRPr lang="en-US" sz="1200" dirty="0"/>
          </a:p>
        </p:txBody>
      </p:sp>
      <p:sp>
        <p:nvSpPr>
          <p:cNvPr id="25" name="Shape 22"/>
          <p:cNvSpPr/>
          <p:nvPr/>
        </p:nvSpPr>
        <p:spPr>
          <a:xfrm>
            <a:off x="4663440" y="2016252"/>
            <a:ext cx="4114800" cy="644652"/>
          </a:xfrm>
          <a:prstGeom prst="rect">
            <a:avLst/>
          </a:prstGeom>
          <a:solidFill>
            <a:srgbClr val="FFFFFF"/>
          </a:solidFill>
          <a:ln w="12700">
            <a:solidFill>
              <a:srgbClr val="E0E0E0"/>
            </a:solidFill>
            <a:prstDash val="solid"/>
          </a:ln>
        </p:spPr>
      </p:sp>
      <p:sp>
        <p:nvSpPr>
          <p:cNvPr id="26" name="Shape 23"/>
          <p:cNvSpPr/>
          <p:nvPr/>
        </p:nvSpPr>
        <p:spPr>
          <a:xfrm>
            <a:off x="4663440" y="2016252"/>
            <a:ext cx="54864" cy="644652"/>
          </a:xfrm>
          <a:prstGeom prst="rect">
            <a:avLst/>
          </a:prstGeom>
          <a:solidFill>
            <a:srgbClr val="E87722"/>
          </a:solidFill>
          <a:ln w="12700">
            <a:solidFill>
              <a:srgbClr val="E87722"/>
            </a:solidFill>
            <a:prstDash val="solid"/>
          </a:ln>
        </p:spPr>
      </p:sp>
      <p:sp>
        <p:nvSpPr>
          <p:cNvPr id="27" name="Text 24"/>
          <p:cNvSpPr/>
          <p:nvPr/>
        </p:nvSpPr>
        <p:spPr>
          <a:xfrm>
            <a:off x="4773168" y="2052828"/>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7. Mahmud M, et al. Early detection of CKD using Gradient Boosting. IEEE Xplore. 2024.</a:t>
            </a:r>
            <a:endParaRPr lang="en-US" sz="1200" dirty="0"/>
          </a:p>
        </p:txBody>
      </p:sp>
      <p:sp>
        <p:nvSpPr>
          <p:cNvPr id="28" name="Shape 25"/>
          <p:cNvSpPr/>
          <p:nvPr/>
        </p:nvSpPr>
        <p:spPr>
          <a:xfrm>
            <a:off x="4663440" y="2706624"/>
            <a:ext cx="4114800" cy="644652"/>
          </a:xfrm>
          <a:prstGeom prst="rect">
            <a:avLst/>
          </a:prstGeom>
          <a:solidFill>
            <a:srgbClr val="F5F8FF"/>
          </a:solidFill>
          <a:ln w="12700">
            <a:solidFill>
              <a:srgbClr val="E0E0E0"/>
            </a:solidFill>
            <a:prstDash val="solid"/>
          </a:ln>
        </p:spPr>
      </p:sp>
      <p:sp>
        <p:nvSpPr>
          <p:cNvPr id="29" name="Shape 26"/>
          <p:cNvSpPr/>
          <p:nvPr/>
        </p:nvSpPr>
        <p:spPr>
          <a:xfrm>
            <a:off x="4663440" y="2706624"/>
            <a:ext cx="54864" cy="644652"/>
          </a:xfrm>
          <a:prstGeom prst="rect">
            <a:avLst/>
          </a:prstGeom>
          <a:solidFill>
            <a:srgbClr val="E87722"/>
          </a:solidFill>
          <a:ln w="12700">
            <a:solidFill>
              <a:srgbClr val="E87722"/>
            </a:solidFill>
            <a:prstDash val="solid"/>
          </a:ln>
        </p:spPr>
      </p:sp>
      <p:sp>
        <p:nvSpPr>
          <p:cNvPr id="30" name="Text 27"/>
          <p:cNvSpPr/>
          <p:nvPr/>
        </p:nvSpPr>
        <p:spPr>
          <a:xfrm>
            <a:off x="4773168" y="2743200"/>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8. Polat H, et al. Feature selection for CKD diagnosis. Med Hypotheses. 2017;103:68–75.</a:t>
            </a:r>
            <a:endParaRPr lang="en-US" sz="1200" dirty="0"/>
          </a:p>
        </p:txBody>
      </p:sp>
      <p:sp>
        <p:nvSpPr>
          <p:cNvPr id="31" name="Shape 28"/>
          <p:cNvSpPr/>
          <p:nvPr/>
        </p:nvSpPr>
        <p:spPr>
          <a:xfrm>
            <a:off x="4663440" y="3396996"/>
            <a:ext cx="4114800" cy="644652"/>
          </a:xfrm>
          <a:prstGeom prst="rect">
            <a:avLst/>
          </a:prstGeom>
          <a:solidFill>
            <a:srgbClr val="FFFFFF"/>
          </a:solidFill>
          <a:ln w="12700">
            <a:solidFill>
              <a:srgbClr val="E0E0E0"/>
            </a:solidFill>
            <a:prstDash val="solid"/>
          </a:ln>
        </p:spPr>
      </p:sp>
      <p:sp>
        <p:nvSpPr>
          <p:cNvPr id="32" name="Shape 29"/>
          <p:cNvSpPr/>
          <p:nvPr/>
        </p:nvSpPr>
        <p:spPr>
          <a:xfrm>
            <a:off x="4663440" y="3396996"/>
            <a:ext cx="54864" cy="644652"/>
          </a:xfrm>
          <a:prstGeom prst="rect">
            <a:avLst/>
          </a:prstGeom>
          <a:solidFill>
            <a:srgbClr val="E87722"/>
          </a:solidFill>
          <a:ln w="12700">
            <a:solidFill>
              <a:srgbClr val="E87722"/>
            </a:solidFill>
            <a:prstDash val="solid"/>
          </a:ln>
        </p:spPr>
      </p:sp>
      <p:sp>
        <p:nvSpPr>
          <p:cNvPr id="33" name="Text 30"/>
          <p:cNvSpPr/>
          <p:nvPr/>
        </p:nvSpPr>
        <p:spPr>
          <a:xfrm>
            <a:off x="4773168" y="3433572"/>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9. Lundberg SM, Lee SI. A unified approach to model interpretation. NeurIPS. 2017.</a:t>
            </a:r>
            <a:endParaRPr lang="en-US" sz="1200" dirty="0"/>
          </a:p>
        </p:txBody>
      </p:sp>
      <p:sp>
        <p:nvSpPr>
          <p:cNvPr id="34" name="Shape 31"/>
          <p:cNvSpPr/>
          <p:nvPr/>
        </p:nvSpPr>
        <p:spPr>
          <a:xfrm>
            <a:off x="4663440" y="4087368"/>
            <a:ext cx="4114800" cy="644652"/>
          </a:xfrm>
          <a:prstGeom prst="rect">
            <a:avLst/>
          </a:prstGeom>
          <a:solidFill>
            <a:srgbClr val="F5F8FF"/>
          </a:solidFill>
          <a:ln w="12700">
            <a:solidFill>
              <a:srgbClr val="E0E0E0"/>
            </a:solidFill>
            <a:prstDash val="solid"/>
          </a:ln>
        </p:spPr>
      </p:sp>
      <p:sp>
        <p:nvSpPr>
          <p:cNvPr id="35" name="Shape 32"/>
          <p:cNvSpPr/>
          <p:nvPr/>
        </p:nvSpPr>
        <p:spPr>
          <a:xfrm>
            <a:off x="4663440" y="4087368"/>
            <a:ext cx="54864" cy="644652"/>
          </a:xfrm>
          <a:prstGeom prst="rect">
            <a:avLst/>
          </a:prstGeom>
          <a:solidFill>
            <a:srgbClr val="E87722"/>
          </a:solidFill>
          <a:ln w="12700">
            <a:solidFill>
              <a:srgbClr val="E87722"/>
            </a:solidFill>
            <a:prstDash val="solid"/>
          </a:ln>
        </p:spPr>
      </p:sp>
      <p:sp>
        <p:nvSpPr>
          <p:cNvPr id="36" name="Text 33"/>
          <p:cNvSpPr/>
          <p:nvPr/>
        </p:nvSpPr>
        <p:spPr>
          <a:xfrm>
            <a:off x="4773168" y="4123944"/>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10. Chawla NV, et al. SMOTE: Synthetic minority over-sampling. J Artif Intell Res. 2002;16:321–357.</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79D3260-014B-379E-B208-3860CC4924E8}"/>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2D50480-1056-1E83-0A6A-8B7E84F534A5}"/>
              </a:ext>
            </a:extLst>
          </p:cNvPr>
          <p:cNvPicPr>
            <a:picLocks noChangeAspect="1"/>
          </p:cNvPicPr>
          <p:nvPr/>
        </p:nvPicPr>
        <p:blipFill>
          <a:blip r:embed="rId3"/>
          <a:stretch>
            <a:fillRect/>
          </a:stretch>
        </p:blipFill>
        <p:spPr>
          <a:xfrm>
            <a:off x="7818120" y="91440"/>
            <a:ext cx="1143000" cy="475488"/>
          </a:xfrm>
          <a:prstGeom prst="rect">
            <a:avLst/>
          </a:prstGeom>
        </p:spPr>
      </p:pic>
      <p:sp>
        <p:nvSpPr>
          <p:cNvPr id="3" name="Text 0">
            <a:extLst>
              <a:ext uri="{FF2B5EF4-FFF2-40B4-BE49-F238E27FC236}">
                <a16:creationId xmlns:a16="http://schemas.microsoft.com/office/drawing/2014/main" id="{E4FDBBEF-A6BD-3161-83D9-E4B13C899F38}"/>
              </a:ext>
            </a:extLst>
          </p:cNvPr>
          <p:cNvSpPr/>
          <p:nvPr/>
        </p:nvSpPr>
        <p:spPr>
          <a:xfrm>
            <a:off x="365760" y="658368"/>
            <a:ext cx="8412480" cy="365760"/>
          </a:xfrm>
          <a:prstGeom prst="rect">
            <a:avLst/>
          </a:prstGeom>
          <a:noFill/>
          <a:ln/>
        </p:spPr>
        <p:txBody>
          <a:bodyPr wrap="square" lIns="0" tIns="0" rIns="0" bIns="0" rtlCol="0" anchor="ctr"/>
          <a:lstStyle/>
          <a:p>
            <a:pPr marL="0" indent="0" algn="r">
              <a:buNone/>
            </a:pPr>
            <a:r>
              <a:rPr lang="en-US" sz="2600" dirty="0">
                <a:solidFill>
                  <a:srgbClr val="3D3D3D"/>
                </a:solidFill>
                <a:latin typeface="Times New Roman" pitchFamily="34" charset="0"/>
                <a:ea typeface="Times New Roman" pitchFamily="34" charset="-122"/>
                <a:cs typeface="Times New Roman" pitchFamily="34" charset="-120"/>
              </a:rPr>
              <a:t>References</a:t>
            </a:r>
            <a:endParaRPr lang="en-US" sz="2600" dirty="0"/>
          </a:p>
        </p:txBody>
      </p:sp>
      <p:sp>
        <p:nvSpPr>
          <p:cNvPr id="4" name="Shape 1">
            <a:extLst>
              <a:ext uri="{FF2B5EF4-FFF2-40B4-BE49-F238E27FC236}">
                <a16:creationId xmlns:a16="http://schemas.microsoft.com/office/drawing/2014/main" id="{C340F68D-7ED6-B0E5-6546-6765FB2A6D18}"/>
              </a:ext>
            </a:extLst>
          </p:cNvPr>
          <p:cNvSpPr/>
          <p:nvPr/>
        </p:nvSpPr>
        <p:spPr>
          <a:xfrm>
            <a:off x="365760" y="1069848"/>
            <a:ext cx="8412480" cy="20117"/>
          </a:xfrm>
          <a:prstGeom prst="rect">
            <a:avLst/>
          </a:prstGeom>
          <a:solidFill>
            <a:srgbClr val="3D3D3D"/>
          </a:solidFill>
          <a:ln w="12700">
            <a:solidFill>
              <a:srgbClr val="3D3D3D"/>
            </a:solidFill>
            <a:prstDash val="solid"/>
          </a:ln>
        </p:spPr>
      </p:sp>
      <p:sp>
        <p:nvSpPr>
          <p:cNvPr id="5" name="Shape 2">
            <a:extLst>
              <a:ext uri="{FF2B5EF4-FFF2-40B4-BE49-F238E27FC236}">
                <a16:creationId xmlns:a16="http://schemas.microsoft.com/office/drawing/2014/main" id="{81100E7D-81BD-CD5E-818D-31C7D4D0B625}"/>
              </a:ext>
            </a:extLst>
          </p:cNvPr>
          <p:cNvSpPr/>
          <p:nvPr/>
        </p:nvSpPr>
        <p:spPr>
          <a:xfrm>
            <a:off x="0" y="4850892"/>
            <a:ext cx="9144000" cy="292608"/>
          </a:xfrm>
          <a:prstGeom prst="rect">
            <a:avLst/>
          </a:prstGeom>
          <a:solidFill>
            <a:srgbClr val="E87722"/>
          </a:solidFill>
          <a:ln w="12700">
            <a:solidFill>
              <a:srgbClr val="E87722"/>
            </a:solidFill>
            <a:prstDash val="solid"/>
          </a:ln>
        </p:spPr>
      </p:sp>
      <p:sp>
        <p:nvSpPr>
          <p:cNvPr id="6" name="Text 3">
            <a:extLst>
              <a:ext uri="{FF2B5EF4-FFF2-40B4-BE49-F238E27FC236}">
                <a16:creationId xmlns:a16="http://schemas.microsoft.com/office/drawing/2014/main" id="{D415708E-C549-43EB-440E-A1239C266887}"/>
              </a:ext>
            </a:extLst>
          </p:cNvPr>
          <p:cNvSpPr/>
          <p:nvPr/>
        </p:nvSpPr>
        <p:spPr>
          <a:xfrm>
            <a:off x="8686800" y="4887468"/>
            <a:ext cx="347472" cy="237744"/>
          </a:xfrm>
          <a:prstGeom prst="rect">
            <a:avLst/>
          </a:prstGeom>
          <a:noFill/>
          <a:ln/>
        </p:spPr>
        <p:txBody>
          <a:bodyPr wrap="square" lIns="0" tIns="0" rIns="0" bIns="0" rtlCol="0" anchor="ctr"/>
          <a:lstStyle/>
          <a:p>
            <a:pPr marL="0" indent="0" algn="r">
              <a:buNone/>
            </a:pPr>
            <a:r>
              <a:rPr lang="en-US" sz="1400" dirty="0">
                <a:solidFill>
                  <a:srgbClr val="FFFFFF"/>
                </a:solidFill>
                <a:latin typeface="Times New Roman" pitchFamily="34" charset="0"/>
                <a:cs typeface="Times New Roman" pitchFamily="34" charset="-120"/>
              </a:rPr>
              <a:t>26</a:t>
            </a:r>
            <a:endParaRPr lang="en-US" sz="1400" dirty="0"/>
          </a:p>
        </p:txBody>
      </p:sp>
      <p:sp>
        <p:nvSpPr>
          <p:cNvPr id="7" name="Shape 4">
            <a:extLst>
              <a:ext uri="{FF2B5EF4-FFF2-40B4-BE49-F238E27FC236}">
                <a16:creationId xmlns:a16="http://schemas.microsoft.com/office/drawing/2014/main" id="{C782FEAA-573A-25D3-D838-FDEBAB98FFEB}"/>
              </a:ext>
            </a:extLst>
          </p:cNvPr>
          <p:cNvSpPr/>
          <p:nvPr/>
        </p:nvSpPr>
        <p:spPr>
          <a:xfrm>
            <a:off x="365760" y="1325880"/>
            <a:ext cx="4114800" cy="644652"/>
          </a:xfrm>
          <a:prstGeom prst="rect">
            <a:avLst/>
          </a:prstGeom>
          <a:solidFill>
            <a:srgbClr val="F5F8FF"/>
          </a:solidFill>
          <a:ln w="12700">
            <a:solidFill>
              <a:srgbClr val="E0E0E0"/>
            </a:solidFill>
            <a:prstDash val="solid"/>
          </a:ln>
        </p:spPr>
      </p:sp>
      <p:sp>
        <p:nvSpPr>
          <p:cNvPr id="8" name="Shape 5">
            <a:extLst>
              <a:ext uri="{FF2B5EF4-FFF2-40B4-BE49-F238E27FC236}">
                <a16:creationId xmlns:a16="http://schemas.microsoft.com/office/drawing/2014/main" id="{C7790236-7B7A-0B05-D5EE-29856265F2C2}"/>
              </a:ext>
            </a:extLst>
          </p:cNvPr>
          <p:cNvSpPr/>
          <p:nvPr/>
        </p:nvSpPr>
        <p:spPr>
          <a:xfrm>
            <a:off x="365760" y="1325880"/>
            <a:ext cx="54864" cy="644652"/>
          </a:xfrm>
          <a:prstGeom prst="rect">
            <a:avLst/>
          </a:prstGeom>
          <a:solidFill>
            <a:srgbClr val="E87722"/>
          </a:solidFill>
          <a:ln w="12700">
            <a:solidFill>
              <a:srgbClr val="E87722"/>
            </a:solidFill>
            <a:prstDash val="solid"/>
          </a:ln>
        </p:spPr>
      </p:sp>
      <p:sp>
        <p:nvSpPr>
          <p:cNvPr id="9" name="Text 6">
            <a:extLst>
              <a:ext uri="{FF2B5EF4-FFF2-40B4-BE49-F238E27FC236}">
                <a16:creationId xmlns:a16="http://schemas.microsoft.com/office/drawing/2014/main" id="{43D84CA3-3F6B-A263-F027-BF5DAD3E0732}"/>
              </a:ext>
            </a:extLst>
          </p:cNvPr>
          <p:cNvSpPr/>
          <p:nvPr/>
        </p:nvSpPr>
        <p:spPr>
          <a:xfrm>
            <a:off x="475488" y="1362456"/>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11. </a:t>
            </a:r>
            <a:r>
              <a:rPr lang="en-US" sz="1200" dirty="0" err="1">
                <a:solidFill>
                  <a:srgbClr val="3D3D3D"/>
                </a:solidFill>
                <a:latin typeface="Times New Roman" pitchFamily="34" charset="0"/>
                <a:ea typeface="Times New Roman" pitchFamily="34" charset="-122"/>
                <a:cs typeface="Times New Roman" pitchFamily="34" charset="-120"/>
              </a:rPr>
              <a:t>Kavakiotis</a:t>
            </a:r>
            <a:r>
              <a:rPr lang="en-US" sz="1200" dirty="0">
                <a:solidFill>
                  <a:srgbClr val="3D3D3D"/>
                </a:solidFill>
                <a:latin typeface="Times New Roman" pitchFamily="34" charset="0"/>
                <a:ea typeface="Times New Roman" pitchFamily="34" charset="-122"/>
                <a:cs typeface="Times New Roman" pitchFamily="34" charset="-120"/>
              </a:rPr>
              <a:t> I, et al. Machine Learning and Data Mining Methods in Diabetes Research. </a:t>
            </a:r>
            <a:r>
              <a:rPr lang="en-US" sz="1200" dirty="0" err="1">
                <a:solidFill>
                  <a:srgbClr val="3D3D3D"/>
                </a:solidFill>
                <a:latin typeface="Times New Roman" pitchFamily="34" charset="0"/>
                <a:ea typeface="Times New Roman" pitchFamily="34" charset="-122"/>
                <a:cs typeface="Times New Roman" pitchFamily="34" charset="-120"/>
              </a:rPr>
              <a:t>Comput</a:t>
            </a:r>
            <a:r>
              <a:rPr lang="en-US" sz="1200" dirty="0">
                <a:solidFill>
                  <a:srgbClr val="3D3D3D"/>
                </a:solidFill>
                <a:latin typeface="Times New Roman" pitchFamily="34" charset="0"/>
                <a:ea typeface="Times New Roman" pitchFamily="34" charset="-122"/>
                <a:cs typeface="Times New Roman" pitchFamily="34" charset="-120"/>
              </a:rPr>
              <a:t> Struct </a:t>
            </a:r>
            <a:r>
              <a:rPr lang="en-US" sz="1200" dirty="0" err="1">
                <a:solidFill>
                  <a:srgbClr val="3D3D3D"/>
                </a:solidFill>
                <a:latin typeface="Times New Roman" pitchFamily="34" charset="0"/>
                <a:ea typeface="Times New Roman" pitchFamily="34" charset="-122"/>
                <a:cs typeface="Times New Roman" pitchFamily="34" charset="-120"/>
              </a:rPr>
              <a:t>Biotechnol</a:t>
            </a:r>
            <a:r>
              <a:rPr lang="en-US" sz="1200" dirty="0">
                <a:solidFill>
                  <a:srgbClr val="3D3D3D"/>
                </a:solidFill>
                <a:latin typeface="Times New Roman" pitchFamily="34" charset="0"/>
                <a:ea typeface="Times New Roman" pitchFamily="34" charset="-122"/>
                <a:cs typeface="Times New Roman" pitchFamily="34" charset="-120"/>
              </a:rPr>
              <a:t> J. 2017.</a:t>
            </a:r>
            <a:endParaRPr lang="en-US" sz="1200" dirty="0"/>
          </a:p>
        </p:txBody>
      </p:sp>
      <p:sp>
        <p:nvSpPr>
          <p:cNvPr id="10" name="Shape 7">
            <a:extLst>
              <a:ext uri="{FF2B5EF4-FFF2-40B4-BE49-F238E27FC236}">
                <a16:creationId xmlns:a16="http://schemas.microsoft.com/office/drawing/2014/main" id="{DC4DC9FD-B233-2EA4-24B7-EF1C74468D9A}"/>
              </a:ext>
            </a:extLst>
          </p:cNvPr>
          <p:cNvSpPr/>
          <p:nvPr/>
        </p:nvSpPr>
        <p:spPr>
          <a:xfrm>
            <a:off x="365760" y="2016252"/>
            <a:ext cx="4114800" cy="644652"/>
          </a:xfrm>
          <a:prstGeom prst="rect">
            <a:avLst/>
          </a:prstGeom>
          <a:solidFill>
            <a:srgbClr val="FFFFFF"/>
          </a:solidFill>
          <a:ln w="12700">
            <a:solidFill>
              <a:srgbClr val="E0E0E0"/>
            </a:solidFill>
            <a:prstDash val="solid"/>
          </a:ln>
        </p:spPr>
      </p:sp>
      <p:sp>
        <p:nvSpPr>
          <p:cNvPr id="11" name="Shape 8">
            <a:extLst>
              <a:ext uri="{FF2B5EF4-FFF2-40B4-BE49-F238E27FC236}">
                <a16:creationId xmlns:a16="http://schemas.microsoft.com/office/drawing/2014/main" id="{7C68BBD7-3B48-E6B5-8160-B4A532F4DE5C}"/>
              </a:ext>
            </a:extLst>
          </p:cNvPr>
          <p:cNvSpPr/>
          <p:nvPr/>
        </p:nvSpPr>
        <p:spPr>
          <a:xfrm>
            <a:off x="365760" y="2016252"/>
            <a:ext cx="54864" cy="644652"/>
          </a:xfrm>
          <a:prstGeom prst="rect">
            <a:avLst/>
          </a:prstGeom>
          <a:solidFill>
            <a:srgbClr val="E87722"/>
          </a:solidFill>
          <a:ln w="12700">
            <a:solidFill>
              <a:srgbClr val="E87722"/>
            </a:solidFill>
            <a:prstDash val="solid"/>
          </a:ln>
        </p:spPr>
      </p:sp>
      <p:sp>
        <p:nvSpPr>
          <p:cNvPr id="12" name="Text 9">
            <a:extLst>
              <a:ext uri="{FF2B5EF4-FFF2-40B4-BE49-F238E27FC236}">
                <a16:creationId xmlns:a16="http://schemas.microsoft.com/office/drawing/2014/main" id="{11B585D9-0AE3-A803-1412-8DEC6BBA6A32}"/>
              </a:ext>
            </a:extLst>
          </p:cNvPr>
          <p:cNvSpPr/>
          <p:nvPr/>
        </p:nvSpPr>
        <p:spPr>
          <a:xfrm>
            <a:off x="475488" y="2052828"/>
            <a:ext cx="3950208" cy="562356"/>
          </a:xfrm>
          <a:prstGeom prst="rect">
            <a:avLst/>
          </a:prstGeom>
          <a:noFill/>
          <a:ln/>
        </p:spPr>
        <p:txBody>
          <a:bodyPr wrap="square" rtlCol="0" anchor="t"/>
          <a:lstStyle/>
          <a:p>
            <a:pPr marL="0" indent="0">
              <a:buNone/>
            </a:pPr>
            <a:r>
              <a:rPr lang="en-US" sz="1200" dirty="0">
                <a:solidFill>
                  <a:srgbClr val="3D3D3D"/>
                </a:solidFill>
                <a:latin typeface="Times New Roman" pitchFamily="34" charset="0"/>
                <a:ea typeface="Times New Roman" pitchFamily="34" charset="-122"/>
                <a:cs typeface="Times New Roman" pitchFamily="34" charset="-120"/>
              </a:rPr>
              <a:t>12. </a:t>
            </a:r>
            <a:r>
              <a:rPr lang="en-US" sz="1200" dirty="0" err="1">
                <a:solidFill>
                  <a:srgbClr val="3D3D3D"/>
                </a:solidFill>
                <a:latin typeface="Times New Roman" pitchFamily="34" charset="0"/>
                <a:ea typeface="Times New Roman" pitchFamily="34" charset="-122"/>
                <a:cs typeface="Times New Roman" pitchFamily="34" charset="-120"/>
              </a:rPr>
              <a:t>Maniruzzaman</a:t>
            </a:r>
            <a:r>
              <a:rPr lang="en-US" sz="1200" dirty="0">
                <a:solidFill>
                  <a:srgbClr val="3D3D3D"/>
                </a:solidFill>
                <a:latin typeface="Times New Roman" pitchFamily="34" charset="0"/>
                <a:ea typeface="Times New Roman" pitchFamily="34" charset="-122"/>
                <a:cs typeface="Times New Roman" pitchFamily="34" charset="-120"/>
              </a:rPr>
              <a:t> M, et al. Accurate Risk Prediction of Type 2 Diabetes using Machine Learning. J Med Syst. 2018.</a:t>
            </a:r>
            <a:endParaRPr lang="en-US" sz="1200" dirty="0"/>
          </a:p>
        </p:txBody>
      </p:sp>
      <p:sp>
        <p:nvSpPr>
          <p:cNvPr id="16" name="Shape 7">
            <a:extLst>
              <a:ext uri="{FF2B5EF4-FFF2-40B4-BE49-F238E27FC236}">
                <a16:creationId xmlns:a16="http://schemas.microsoft.com/office/drawing/2014/main" id="{E2B2E999-FF11-9E4E-23D1-5E83DDF37166}"/>
              </a:ext>
            </a:extLst>
          </p:cNvPr>
          <p:cNvSpPr/>
          <p:nvPr/>
        </p:nvSpPr>
        <p:spPr>
          <a:xfrm>
            <a:off x="365760" y="2708673"/>
            <a:ext cx="4114800" cy="644652"/>
          </a:xfrm>
          <a:prstGeom prst="rect">
            <a:avLst/>
          </a:prstGeom>
          <a:solidFill>
            <a:srgbClr val="FFFFFF"/>
          </a:solidFill>
          <a:ln w="12700">
            <a:solidFill>
              <a:srgbClr val="E0E0E0"/>
            </a:solidFill>
            <a:prstDash val="solid"/>
          </a:ln>
        </p:spPr>
      </p:sp>
      <p:sp>
        <p:nvSpPr>
          <p:cNvPr id="17" name="Shape 8">
            <a:extLst>
              <a:ext uri="{FF2B5EF4-FFF2-40B4-BE49-F238E27FC236}">
                <a16:creationId xmlns:a16="http://schemas.microsoft.com/office/drawing/2014/main" id="{71AD1A99-0528-852E-BEB0-ECAFD4306A83}"/>
              </a:ext>
            </a:extLst>
          </p:cNvPr>
          <p:cNvSpPr/>
          <p:nvPr/>
        </p:nvSpPr>
        <p:spPr>
          <a:xfrm>
            <a:off x="365760" y="2708673"/>
            <a:ext cx="54864" cy="644652"/>
          </a:xfrm>
          <a:prstGeom prst="rect">
            <a:avLst/>
          </a:prstGeom>
          <a:solidFill>
            <a:srgbClr val="E87722"/>
          </a:solidFill>
          <a:ln w="12700">
            <a:solidFill>
              <a:srgbClr val="E87722"/>
            </a:solidFill>
            <a:prstDash val="solid"/>
          </a:ln>
        </p:spPr>
      </p:sp>
      <p:sp>
        <p:nvSpPr>
          <p:cNvPr id="18" name="Text 9">
            <a:extLst>
              <a:ext uri="{FF2B5EF4-FFF2-40B4-BE49-F238E27FC236}">
                <a16:creationId xmlns:a16="http://schemas.microsoft.com/office/drawing/2014/main" id="{A3AC8FB1-2C1A-FC46-73C6-84ED425C0B75}"/>
              </a:ext>
            </a:extLst>
          </p:cNvPr>
          <p:cNvSpPr/>
          <p:nvPr/>
        </p:nvSpPr>
        <p:spPr>
          <a:xfrm>
            <a:off x="475488" y="2745249"/>
            <a:ext cx="3950208" cy="562356"/>
          </a:xfrm>
          <a:prstGeom prst="rect">
            <a:avLst/>
          </a:prstGeom>
          <a:noFill/>
          <a:ln/>
        </p:spPr>
        <p:txBody>
          <a:bodyPr wrap="square" rtlCol="0" anchor="t"/>
          <a:lstStyle/>
          <a:p>
            <a:r>
              <a:rPr lang="en-US" sz="1200" dirty="0">
                <a:solidFill>
                  <a:srgbClr val="3D3D3D"/>
                </a:solidFill>
                <a:latin typeface="Times New Roman" pitchFamily="34" charset="0"/>
                <a:ea typeface="Times New Roman" pitchFamily="34" charset="-122"/>
                <a:cs typeface="Times New Roman" pitchFamily="34" charset="-120"/>
              </a:rPr>
              <a:t>13. Zhang et al., ML for CKD prediction from diabetes records — Computers in Biology and Medicine, 2022.</a:t>
            </a:r>
            <a:endParaRPr lang="en-US" sz="1200" dirty="0"/>
          </a:p>
        </p:txBody>
      </p:sp>
    </p:spTree>
    <p:extLst>
      <p:ext uri="{BB962C8B-B14F-4D97-AF65-F5344CB8AC3E}">
        <p14:creationId xmlns:p14="http://schemas.microsoft.com/office/powerpoint/2010/main" val="23725980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1199</TotalTime>
  <Words>3848</Words>
  <Application>Microsoft Office PowerPoint</Application>
  <PresentationFormat>On-screen Show (16:9)</PresentationFormat>
  <Paragraphs>481</Paragraphs>
  <Slides>30</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Consolas</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Robust and Explainable Early Detection of Chronic Diseases</dc:title>
  <dc:subject>PptxGenJS Presentation</dc:subject>
  <dc:creator>PptxGenJS</dc:creator>
  <cp:lastModifiedBy>Shankara Narayana Rao K</cp:lastModifiedBy>
  <cp:revision>56</cp:revision>
  <dcterms:created xsi:type="dcterms:W3CDTF">2026-03-18T07:23:44Z</dcterms:created>
  <dcterms:modified xsi:type="dcterms:W3CDTF">2026-04-16T06:54:04Z</dcterms:modified>
</cp:coreProperties>
</file>