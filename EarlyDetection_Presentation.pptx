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handoutMasterIdLst>
    <p:handoutMasterId r:id="rId27"/>
  </p:handoutMasterIdLst>
  <p:sldIdLst>
    <p:sldId id="256" r:id="rId2"/>
    <p:sldId id="257" r:id="rId3"/>
    <p:sldId id="275" r:id="rId4"/>
    <p:sldId id="258" r:id="rId5"/>
    <p:sldId id="278" r:id="rId6"/>
    <p:sldId id="279" r:id="rId7"/>
    <p:sldId id="259" r:id="rId8"/>
    <p:sldId id="260" r:id="rId9"/>
    <p:sldId id="261" r:id="rId10"/>
    <p:sldId id="262" r:id="rId11"/>
    <p:sldId id="277" r:id="rId12"/>
    <p:sldId id="263" r:id="rId13"/>
    <p:sldId id="265" r:id="rId14"/>
    <p:sldId id="264" r:id="rId15"/>
    <p:sldId id="283" r:id="rId16"/>
    <p:sldId id="281" r:id="rId17"/>
    <p:sldId id="282" r:id="rId18"/>
    <p:sldId id="293" r:id="rId19"/>
    <p:sldId id="285" r:id="rId20"/>
    <p:sldId id="294" r:id="rId21"/>
    <p:sldId id="292" r:id="rId22"/>
    <p:sldId id="273" r:id="rId23"/>
    <p:sldId id="274" r:id="rId24"/>
    <p:sldId id="280" r:id="rId2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38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83" d="100"/>
          <a:sy n="83" d="100"/>
        </p:scale>
        <p:origin x="80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5558C3C-0F5D-2A8B-419C-EC6C72B03D7D}"/>
              </a:ext>
            </a:extLst>
          </p:cNvPr>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3730F118-B758-14CD-6859-3F7C329C94DC}"/>
              </a:ext>
            </a:extLst>
          </p:cNvPr>
          <p:cNvSpPr>
            <a:spLocks noGrp="1"/>
          </p:cNvSpPr>
          <p:nvPr>
            <p:ph type="dt" sz="quarter" idx="1"/>
          </p:nvPr>
        </p:nvSpPr>
        <p:spPr>
          <a:xfrm>
            <a:off x="2913063" y="0"/>
            <a:ext cx="2228850" cy="458788"/>
          </a:xfrm>
          <a:prstGeom prst="rect">
            <a:avLst/>
          </a:prstGeom>
        </p:spPr>
        <p:txBody>
          <a:bodyPr vert="horz" lIns="91440" tIns="45720" rIns="91440" bIns="45720" rtlCol="0"/>
          <a:lstStyle>
            <a:lvl1pPr algn="r">
              <a:defRPr sz="1200"/>
            </a:lvl1pPr>
          </a:lstStyle>
          <a:p>
            <a:fld id="{1432D1D8-2A4B-41B6-9ADD-0621AFEC87E0}" type="datetimeFigureOut">
              <a:rPr lang="en-IN" smtClean="0"/>
              <a:t>05-05-2026</a:t>
            </a:fld>
            <a:endParaRPr lang="en-IN"/>
          </a:p>
        </p:txBody>
      </p:sp>
      <p:sp>
        <p:nvSpPr>
          <p:cNvPr id="4" name="Footer Placeholder 3">
            <a:extLst>
              <a:ext uri="{FF2B5EF4-FFF2-40B4-BE49-F238E27FC236}">
                <a16:creationId xmlns:a16="http://schemas.microsoft.com/office/drawing/2014/main" id="{1D1C254D-C29A-AF17-F2E6-EC9EE4D7768B}"/>
              </a:ext>
            </a:extLst>
          </p:cNvPr>
          <p:cNvSpPr>
            <a:spLocks noGrp="1"/>
          </p:cNvSpPr>
          <p:nvPr>
            <p:ph type="ftr" sz="quarter" idx="2"/>
          </p:nvPr>
        </p:nvSpPr>
        <p:spPr>
          <a:xfrm>
            <a:off x="0" y="8685213"/>
            <a:ext cx="222885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D008E84F-57F5-D8FD-815B-9D70366964D8}"/>
              </a:ext>
            </a:extLst>
          </p:cNvPr>
          <p:cNvSpPr>
            <a:spLocks noGrp="1"/>
          </p:cNvSpPr>
          <p:nvPr>
            <p:ph type="sldNum" sz="quarter" idx="3"/>
          </p:nvPr>
        </p:nvSpPr>
        <p:spPr>
          <a:xfrm>
            <a:off x="2913063" y="8685213"/>
            <a:ext cx="2228850" cy="458787"/>
          </a:xfrm>
          <a:prstGeom prst="rect">
            <a:avLst/>
          </a:prstGeom>
        </p:spPr>
        <p:txBody>
          <a:bodyPr vert="horz" lIns="91440" tIns="45720" rIns="91440" bIns="45720" rtlCol="0" anchor="b"/>
          <a:lstStyle>
            <a:lvl1pPr algn="r">
              <a:defRPr sz="1200"/>
            </a:lvl1pPr>
          </a:lstStyle>
          <a:p>
            <a:fld id="{77202467-93CF-4392-9F44-0D6717837390}" type="slidenum">
              <a:rPr lang="en-IN" smtClean="0"/>
              <a:t>‹#›</a:t>
            </a:fld>
            <a:endParaRPr lang="en-IN"/>
          </a:p>
        </p:txBody>
      </p:sp>
    </p:spTree>
    <p:extLst>
      <p:ext uri="{BB962C8B-B14F-4D97-AF65-F5344CB8AC3E}">
        <p14:creationId xmlns:p14="http://schemas.microsoft.com/office/powerpoint/2010/main" val="24473672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315064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9B51F-7135-57F3-BF3E-43D7241A9C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A36B41-728A-3887-F647-50AC401C39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DFF053-F020-909F-20D2-530C5B4D5B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3A6B7F-CC0E-201D-E55A-C6A9E63F64BD}"/>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2290044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96B86-F1D1-9FDF-AD4D-2C6C0F691B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B46F45-07A6-E140-C261-1496B20E2A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B4B754-3E26-1243-BC19-C36050D772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6F8C7C-D4E5-C170-B264-6DAA10FC06D9}"/>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7695653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86566-4813-8C9E-E836-DEDBF889D5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310AE1-B4C4-02DE-2891-BB7E9C296A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CE7322-1B53-FEAE-814A-2D639C3EEE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12B85C-DC66-B3FB-9293-0E6C7CEC98DF}"/>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5869551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39E94-34EB-8EAE-D100-6856D2B231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DC0F00-302C-1653-E443-CF7E7403ED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71B918-A603-49EF-247C-F60EF5364A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126842-98AE-2570-4988-37F5882F2809}"/>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7702971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EEC56-EEE0-7734-56D6-5B39362335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1B20C3-B357-F8D3-799D-B3FA39210F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EEFA2B-2832-4671-D1F9-10FD230926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C669FC-D8E9-8215-528B-E8FFAC907141}"/>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7500853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EEC56-EEE0-7734-56D6-5B39362335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1B20C3-B357-F8D3-799D-B3FA39210F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EEFA2B-2832-4671-D1F9-10FD230926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C669FC-D8E9-8215-528B-E8FFAC907141}"/>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7500853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F9E80-915E-3B6E-DE6C-29CA0DEB8A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0EA2C1-B38B-AF1E-6753-A959D4BF31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7C8AD9-343A-BED4-5DE2-13D3707A87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3FEEB4-E9DF-F994-59D0-D16B4D557FCD}"/>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3615389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1EFE3-91F6-4F79-B46B-421A215F29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53BF1F-36F7-D1D8-3FEF-266D274D5D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52B9C5-8C94-C337-FEB1-C779E1EC9F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49E6AD0-F8F6-55B7-0E2D-3024D0A88F4D}"/>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300435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BF44B-8DC1-F220-A377-79EE025273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6B00F4-45DB-677F-73AD-68927921AF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4D0458-1C05-0153-7D46-0BE3F71E90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0AF4CE-7E0F-926B-B9E3-150BE07A0770}"/>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2204425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jp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jpg"/><Relationship Id="rId5" Type="http://schemas.openxmlformats.org/officeDocument/2006/relationships/image" Target="../media/image2.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3.jp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3.jp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3.jpg"/><Relationship Id="rId4" Type="http://schemas.openxmlformats.org/officeDocument/2006/relationships/image" Target="../media/image11.png"/><Relationship Id="rId9"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3.jpg"/><Relationship Id="rId5" Type="http://schemas.openxmlformats.org/officeDocument/2006/relationships/image" Target="../media/image2.pn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3.jpg"/><Relationship Id="rId2"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126492"/>
            <a:ext cx="1143000" cy="475488"/>
          </a:xfrm>
          <a:prstGeom prst="rect">
            <a:avLst/>
          </a:prstGeom>
        </p:spPr>
      </p:pic>
      <p:sp>
        <p:nvSpPr>
          <p:cNvPr id="3" name="Shape 0"/>
          <p:cNvSpPr/>
          <p:nvPr/>
        </p:nvSpPr>
        <p:spPr>
          <a:xfrm>
            <a:off x="0" y="0"/>
            <a:ext cx="9144000" cy="73152"/>
          </a:xfrm>
          <a:prstGeom prst="rect">
            <a:avLst/>
          </a:prstGeom>
          <a:solidFill>
            <a:srgbClr val="E87722"/>
          </a:solidFill>
          <a:ln w="12700">
            <a:solidFill>
              <a:srgbClr val="E87722"/>
            </a:solidFill>
            <a:prstDash val="solid"/>
          </a:ln>
        </p:spPr>
      </p:sp>
      <p:sp>
        <p:nvSpPr>
          <p:cNvPr id="4" name="Text 1"/>
          <p:cNvSpPr/>
          <p:nvPr/>
        </p:nvSpPr>
        <p:spPr>
          <a:xfrm>
            <a:off x="502920" y="1153342"/>
            <a:ext cx="8138160" cy="658368"/>
          </a:xfrm>
          <a:prstGeom prst="rect">
            <a:avLst/>
          </a:prstGeom>
          <a:noFill/>
          <a:ln/>
        </p:spPr>
        <p:txBody>
          <a:bodyPr wrap="square" rtlCol="0" anchor="ctr"/>
          <a:lstStyle/>
          <a:p>
            <a:pPr marL="0" indent="0" algn="ctr">
              <a:buNone/>
            </a:pPr>
            <a:r>
              <a:rPr lang="en-US" sz="3600" b="1" dirty="0">
                <a:solidFill>
                  <a:srgbClr val="1F3864"/>
                </a:solidFill>
                <a:latin typeface="Times New Roman" pitchFamily="34" charset="0"/>
                <a:ea typeface="Times New Roman" pitchFamily="34" charset="-122"/>
                <a:cs typeface="Times New Roman" pitchFamily="34" charset="-120"/>
              </a:rPr>
              <a:t>Early Detection of Chronic Kidney Disease and Diabetes</a:t>
            </a:r>
            <a:endParaRPr lang="en-US" sz="3600" dirty="0"/>
          </a:p>
        </p:txBody>
      </p:sp>
      <p:sp>
        <p:nvSpPr>
          <p:cNvPr id="6" name="Shape 3"/>
          <p:cNvSpPr/>
          <p:nvPr/>
        </p:nvSpPr>
        <p:spPr>
          <a:xfrm>
            <a:off x="2286000" y="2131750"/>
            <a:ext cx="4572000" cy="27432"/>
          </a:xfrm>
          <a:prstGeom prst="rect">
            <a:avLst/>
          </a:prstGeom>
          <a:solidFill>
            <a:srgbClr val="E87722"/>
          </a:solidFill>
          <a:ln w="12700">
            <a:solidFill>
              <a:srgbClr val="E87722"/>
            </a:solidFill>
            <a:prstDash val="solid"/>
          </a:ln>
        </p:spPr>
      </p:sp>
      <p:sp>
        <p:nvSpPr>
          <p:cNvPr id="8" name="Text 5"/>
          <p:cNvSpPr/>
          <p:nvPr/>
        </p:nvSpPr>
        <p:spPr>
          <a:xfrm>
            <a:off x="502920" y="2285000"/>
            <a:ext cx="8138160" cy="365760"/>
          </a:xfrm>
          <a:prstGeom prst="rect">
            <a:avLst/>
          </a:prstGeom>
          <a:noFill/>
          <a:ln/>
        </p:spPr>
        <p:txBody>
          <a:bodyPr wrap="square" rtlCol="0" anchor="ctr"/>
          <a:lstStyle/>
          <a:p>
            <a:pPr marL="0" indent="0" algn="ctr">
              <a:buNone/>
            </a:pPr>
            <a:r>
              <a:rPr lang="en-US" sz="1700" dirty="0">
                <a:solidFill>
                  <a:srgbClr val="777777"/>
                </a:solidFill>
                <a:latin typeface="Times New Roman" pitchFamily="34" charset="0"/>
                <a:ea typeface="Times New Roman" pitchFamily="34" charset="-122"/>
                <a:cs typeface="Times New Roman" pitchFamily="34" charset="-120"/>
              </a:rPr>
              <a:t>Machine Learning in Healthcare Diagnostics</a:t>
            </a:r>
            <a:endParaRPr lang="en-US" sz="1700" dirty="0"/>
          </a:p>
        </p:txBody>
      </p:sp>
      <p:sp>
        <p:nvSpPr>
          <p:cNvPr id="9" name="Shape 6"/>
          <p:cNvSpPr/>
          <p:nvPr/>
        </p:nvSpPr>
        <p:spPr>
          <a:xfrm>
            <a:off x="0" y="4850892"/>
            <a:ext cx="9144000" cy="292608"/>
          </a:xfrm>
          <a:prstGeom prst="rect">
            <a:avLst/>
          </a:prstGeom>
          <a:solidFill>
            <a:srgbClr val="E87722"/>
          </a:solidFill>
          <a:ln w="12700">
            <a:solidFill>
              <a:srgbClr val="E87722"/>
            </a:solidFill>
            <a:prstDash val="solid"/>
          </a:ln>
        </p:spPr>
      </p:sp>
      <p:sp>
        <p:nvSpPr>
          <p:cNvPr id="10" name="Text 7"/>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ea typeface="Times New Roman" pitchFamily="34" charset="-122"/>
                <a:cs typeface="Times New Roman" pitchFamily="34" charset="-120"/>
              </a:rPr>
              <a:t>1</a:t>
            </a:r>
            <a:endParaRPr lang="en-US" sz="1400" dirty="0"/>
          </a:p>
        </p:txBody>
      </p:sp>
      <p:sp>
        <p:nvSpPr>
          <p:cNvPr id="12" name="Text 5">
            <a:extLst>
              <a:ext uri="{FF2B5EF4-FFF2-40B4-BE49-F238E27FC236}">
                <a16:creationId xmlns:a16="http://schemas.microsoft.com/office/drawing/2014/main" id="{DE938576-C35C-6CDD-CFDA-77B9520944DC}"/>
              </a:ext>
            </a:extLst>
          </p:cNvPr>
          <p:cNvSpPr/>
          <p:nvPr/>
        </p:nvSpPr>
        <p:spPr>
          <a:xfrm>
            <a:off x="502920" y="3305998"/>
            <a:ext cx="8138160" cy="1071604"/>
          </a:xfrm>
          <a:prstGeom prst="rect">
            <a:avLst/>
          </a:prstGeom>
          <a:noFill/>
          <a:ln/>
        </p:spPr>
        <p:txBody>
          <a:bodyPr wrap="square" lIns="0" tIns="0" rIns="0" bIns="0" rtlCol="0" anchor="ctr"/>
          <a:lstStyle/>
          <a:p>
            <a:pPr marL="0" indent="0">
              <a:buNone/>
            </a:pPr>
            <a:r>
              <a:rPr lang="en-US" sz="2000" dirty="0">
                <a:solidFill>
                  <a:srgbClr val="3D3D3D"/>
                </a:solidFill>
                <a:latin typeface="Times New Roman" panose="02020603050405020304" pitchFamily="18" charset="0"/>
                <a:ea typeface="Calibri" pitchFamily="34" charset="-122"/>
                <a:cs typeface="Times New Roman" panose="02020603050405020304" pitchFamily="18" charset="0"/>
              </a:rPr>
              <a:t>Name: Shankara Narayana Rao K – PES1UG22AM149</a:t>
            </a:r>
          </a:p>
          <a:p>
            <a:pPr marL="0" indent="0">
              <a:buNone/>
            </a:pPr>
            <a:r>
              <a:rPr lang="en-US" sz="2000" dirty="0">
                <a:solidFill>
                  <a:srgbClr val="3D3D3D"/>
                </a:solidFill>
                <a:latin typeface="Times New Roman" panose="02020603050405020304" pitchFamily="18" charset="0"/>
                <a:ea typeface="Calibri" pitchFamily="34" charset="-122"/>
                <a:cs typeface="Times New Roman" panose="02020603050405020304" pitchFamily="18" charset="0"/>
              </a:rPr>
              <a:t>Guide Name: Prof. Agha Alfi Mirza</a:t>
            </a:r>
          </a:p>
          <a:p>
            <a:pPr marL="0" indent="0">
              <a:buNone/>
            </a:pPr>
            <a:r>
              <a:rPr lang="en-US" sz="2000" dirty="0">
                <a:latin typeface="Times New Roman" panose="02020603050405020304" pitchFamily="18" charset="0"/>
                <a:cs typeface="Times New Roman" panose="02020603050405020304" pitchFamily="18" charset="0"/>
              </a:rPr>
              <a:t>Department: Computer Science – AIML</a:t>
            </a:r>
          </a:p>
          <a:p>
            <a:pPr marL="0" indent="0">
              <a:buNone/>
            </a:pPr>
            <a:r>
              <a:rPr lang="en-US" sz="2000" dirty="0">
                <a:latin typeface="Times New Roman" panose="02020603050405020304" pitchFamily="18" charset="0"/>
                <a:cs typeface="Times New Roman" panose="02020603050405020304" pitchFamily="18" charset="0"/>
              </a:rPr>
              <a:t>Internship Type: 3 months Internship</a:t>
            </a:r>
          </a:p>
          <a:p>
            <a:pPr marL="0" indent="0">
              <a:buNone/>
            </a:pPr>
            <a:r>
              <a:rPr lang="en-US" sz="2000" dirty="0">
                <a:latin typeface="Times New Roman" panose="02020603050405020304" pitchFamily="18" charset="0"/>
                <a:cs typeface="Times New Roman" panose="02020603050405020304" pitchFamily="18" charset="0"/>
              </a:rPr>
              <a:t>Date: 6</a:t>
            </a:r>
            <a:r>
              <a:rPr lang="en-US" sz="2000" baseline="30000" dirty="0">
                <a:latin typeface="Times New Roman" panose="02020603050405020304" pitchFamily="18" charset="0"/>
                <a:cs typeface="Times New Roman" panose="02020603050405020304" pitchFamily="18" charset="0"/>
              </a:rPr>
              <a:t>th</a:t>
            </a:r>
            <a:r>
              <a:rPr lang="en-US" sz="2000" dirty="0">
                <a:latin typeface="Times New Roman" panose="02020603050405020304" pitchFamily="18" charset="0"/>
                <a:cs typeface="Times New Roman" panose="02020603050405020304" pitchFamily="18" charset="0"/>
              </a:rPr>
              <a:t> May 2026</a:t>
            </a:r>
          </a:p>
        </p:txBody>
      </p:sp>
      <p:sp>
        <p:nvSpPr>
          <p:cNvPr id="13" name="Text 7">
            <a:extLst>
              <a:ext uri="{FF2B5EF4-FFF2-40B4-BE49-F238E27FC236}">
                <a16:creationId xmlns:a16="http://schemas.microsoft.com/office/drawing/2014/main" id="{8C8617BA-54F4-7D9E-338C-8C7760C5A269}"/>
              </a:ext>
            </a:extLst>
          </p:cNvPr>
          <p:cNvSpPr/>
          <p:nvPr/>
        </p:nvSpPr>
        <p:spPr>
          <a:xfrm>
            <a:off x="502920" y="4619563"/>
            <a:ext cx="8138160" cy="165279"/>
          </a:xfrm>
          <a:prstGeom prst="rect">
            <a:avLst/>
          </a:prstGeom>
          <a:noFill/>
          <a:ln/>
        </p:spPr>
        <p:txBody>
          <a:bodyPr wrap="square" lIns="0" tIns="0" rIns="0" bIns="0" rtlCol="0" anchor="ctr"/>
          <a:lstStyle/>
          <a:p>
            <a:pPr marL="0" indent="0" algn="ctr">
              <a:buNone/>
            </a:pPr>
            <a:r>
              <a:rPr lang="en-US" sz="1400" dirty="0">
                <a:solidFill>
                  <a:srgbClr val="777777"/>
                </a:solidFill>
                <a:latin typeface="Calibri" pitchFamily="34" charset="0"/>
                <a:ea typeface="Calibri" pitchFamily="34" charset="-122"/>
                <a:cs typeface="Calibri" pitchFamily="34" charset="-120"/>
              </a:rPr>
              <a:t>PES University · π (PI) Labs · Dept. of CSE (AI &amp; ML) · 8th Semester 2025</a:t>
            </a:r>
            <a:endParaRPr lang="en-US" sz="1400" dirty="0"/>
          </a:p>
        </p:txBody>
      </p:sp>
      <p:grpSp>
        <p:nvGrpSpPr>
          <p:cNvPr id="34" name="Group 33">
            <a:extLst>
              <a:ext uri="{FF2B5EF4-FFF2-40B4-BE49-F238E27FC236}">
                <a16:creationId xmlns:a16="http://schemas.microsoft.com/office/drawing/2014/main" id="{E1C26E5E-31C0-4C3E-43AB-08B74DD19B23}"/>
              </a:ext>
            </a:extLst>
          </p:cNvPr>
          <p:cNvGrpSpPr/>
          <p:nvPr/>
        </p:nvGrpSpPr>
        <p:grpSpPr>
          <a:xfrm>
            <a:off x="7960583" y="126493"/>
            <a:ext cx="1143001" cy="475487"/>
            <a:chOff x="6173572" y="2276778"/>
            <a:chExt cx="2555268" cy="1333578"/>
          </a:xfrm>
        </p:grpSpPr>
        <p:pic>
          <p:nvPicPr>
            <p:cNvPr id="32" name="Picture 31" descr="A logo with blue and orange lines  AI-generated content may be incorrect.">
              <a:extLst>
                <a:ext uri="{FF2B5EF4-FFF2-40B4-BE49-F238E27FC236}">
                  <a16:creationId xmlns:a16="http://schemas.microsoft.com/office/drawing/2014/main" id="{8ECC8C8A-EF5C-461C-B14A-3F21122BB06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173572" y="2276778"/>
              <a:ext cx="936104" cy="1295756"/>
            </a:xfrm>
            <a:prstGeom prst="rect">
              <a:avLst/>
            </a:prstGeom>
            <a:noFill/>
            <a:ln>
              <a:noFill/>
            </a:ln>
          </p:spPr>
        </p:pic>
        <p:pic>
          <p:nvPicPr>
            <p:cNvPr id="33" name="Picture 32">
              <a:extLst>
                <a:ext uri="{FF2B5EF4-FFF2-40B4-BE49-F238E27FC236}">
                  <a16:creationId xmlns:a16="http://schemas.microsoft.com/office/drawing/2014/main" id="{4E2C019C-43A2-8EFC-8072-4D39C7749E34}"/>
                </a:ext>
              </a:extLst>
            </p:cNvPr>
            <p:cNvPicPr>
              <a:picLocks noChangeAspect="1"/>
            </p:cNvPicPr>
            <p:nvPr/>
          </p:nvPicPr>
          <p:blipFill rotWithShape="1">
            <a:blip r:embed="rId5">
              <a:extLst>
                <a:ext uri="{28A0092B-C50C-407E-A947-70E740481C1C}">
                  <a14:useLocalDpi xmlns:a14="http://schemas.microsoft.com/office/drawing/2010/main" val="0"/>
                </a:ext>
              </a:extLst>
            </a:blip>
            <a:srcRect l="30270" r="31417" b="2264"/>
            <a:stretch/>
          </p:blipFill>
          <p:spPr bwMode="auto">
            <a:xfrm>
              <a:off x="7178602" y="2276778"/>
              <a:ext cx="1550238" cy="1333578"/>
            </a:xfrm>
            <a:prstGeom prst="rect">
              <a:avLst/>
            </a:prstGeom>
            <a:ln>
              <a:noFill/>
            </a:ln>
            <a:extLst>
              <a:ext uri="{53640926-AAD7-44D8-BBD7-CCE9431645EC}">
                <a14:shadowObscured xmlns:a14="http://schemas.microsoft.com/office/drawing/2010/main"/>
              </a:ext>
            </a:extLst>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ea typeface="Times New Roman" pitchFamily="34" charset="-122"/>
                <a:cs typeface="Times New Roman" pitchFamily="34" charset="-120"/>
              </a:rPr>
              <a:t>Introduction</a:t>
            </a:r>
            <a:endParaRPr lang="en-US" sz="2600" dirty="0"/>
          </a:p>
        </p:txBody>
      </p:sp>
      <p:sp>
        <p:nvSpPr>
          <p:cNvPr id="4" name="Shape 1"/>
          <p:cNvSpPr/>
          <p:nvPr/>
        </p:nvSpPr>
        <p:spPr>
          <a:xfrm>
            <a:off x="365760" y="1069848"/>
            <a:ext cx="8412480" cy="20117"/>
          </a:xfrm>
          <a:prstGeom prst="rect">
            <a:avLst/>
          </a:prstGeom>
          <a:solidFill>
            <a:srgbClr val="3D3D3D"/>
          </a:solidFill>
          <a:ln w="12700">
            <a:solidFill>
              <a:srgbClr val="3D3D3D"/>
            </a:solidFill>
            <a:prstDash val="solid"/>
          </a:ln>
        </p:spPr>
      </p:sp>
      <p:sp>
        <p:nvSpPr>
          <p:cNvPr id="5" name="Shape 2"/>
          <p:cNvSpPr/>
          <p:nvPr/>
        </p:nvSpPr>
        <p:spPr>
          <a:xfrm>
            <a:off x="0" y="4850892"/>
            <a:ext cx="9144000" cy="292608"/>
          </a:xfrm>
          <a:prstGeom prst="rect">
            <a:avLst/>
          </a:prstGeom>
          <a:solidFill>
            <a:srgbClr val="E87722"/>
          </a:solidFill>
          <a:ln w="12700">
            <a:solidFill>
              <a:srgbClr val="E87722"/>
            </a:solidFill>
            <a:prstDash val="solid"/>
          </a:ln>
        </p:spPr>
      </p:sp>
      <p:sp>
        <p:nvSpPr>
          <p:cNvPr id="6" name="Text 3"/>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ea typeface="Times New Roman" pitchFamily="34" charset="-122"/>
                <a:cs typeface="Times New Roman" pitchFamily="34" charset="-120"/>
              </a:rPr>
              <a:t>2</a:t>
            </a:r>
            <a:endParaRPr lang="en-US" sz="1400" dirty="0"/>
          </a:p>
        </p:txBody>
      </p:sp>
      <p:sp>
        <p:nvSpPr>
          <p:cNvPr id="7" name="Text 4"/>
          <p:cNvSpPr/>
          <p:nvPr/>
        </p:nvSpPr>
        <p:spPr>
          <a:xfrm>
            <a:off x="365760" y="1325880"/>
            <a:ext cx="8412480" cy="1005840"/>
          </a:xfrm>
          <a:prstGeom prst="rect">
            <a:avLst/>
          </a:prstGeom>
          <a:noFill/>
          <a:ln/>
        </p:spPr>
        <p:txBody>
          <a:bodyPr wrap="square" rtlCol="0" anchor="ctr"/>
          <a:lstStyle/>
          <a:p>
            <a:pPr marL="0" indent="0" algn="l">
              <a:buNone/>
            </a:pPr>
            <a:r>
              <a:rPr lang="en-US" sz="1800" dirty="0">
                <a:solidFill>
                  <a:srgbClr val="3D3D3D"/>
                </a:solidFill>
                <a:latin typeface="Times New Roman" pitchFamily="34" charset="0"/>
                <a:ea typeface="Times New Roman" pitchFamily="34" charset="-122"/>
                <a:cs typeface="Times New Roman" pitchFamily="34" charset="-120"/>
              </a:rPr>
              <a:t>Chronic diseases claim 41 million lives annually, representing 74% of global mortality. Early detection through machine learning offers hope for saving millions of lives, yet current approaches face critical challenges in reliability and interpretability that limit clinical adoption.</a:t>
            </a:r>
            <a:endParaRPr lang="en-US" sz="1800" dirty="0"/>
          </a:p>
        </p:txBody>
      </p:sp>
      <p:sp>
        <p:nvSpPr>
          <p:cNvPr id="8" name="Shape 5"/>
          <p:cNvSpPr/>
          <p:nvPr/>
        </p:nvSpPr>
        <p:spPr>
          <a:xfrm>
            <a:off x="365760" y="2487168"/>
            <a:ext cx="2606040" cy="1417320"/>
          </a:xfrm>
          <a:prstGeom prst="rect">
            <a:avLst/>
          </a:prstGeom>
          <a:solidFill>
            <a:srgbClr val="F5F5F5"/>
          </a:solidFill>
          <a:ln w="12700">
            <a:solidFill>
              <a:srgbClr val="DDDDDD"/>
            </a:solidFill>
            <a:prstDash val="solid"/>
          </a:ln>
        </p:spPr>
      </p:sp>
      <p:sp>
        <p:nvSpPr>
          <p:cNvPr id="9" name="Text 6"/>
          <p:cNvSpPr/>
          <p:nvPr/>
        </p:nvSpPr>
        <p:spPr>
          <a:xfrm>
            <a:off x="365760" y="2532888"/>
            <a:ext cx="2606040" cy="779526"/>
          </a:xfrm>
          <a:prstGeom prst="rect">
            <a:avLst/>
          </a:prstGeom>
          <a:noFill/>
          <a:ln/>
        </p:spPr>
        <p:txBody>
          <a:bodyPr wrap="square" lIns="0" tIns="0" rIns="0" bIns="0" rtlCol="0" anchor="b"/>
          <a:lstStyle/>
          <a:p>
            <a:pPr marL="0" indent="0" algn="ctr">
              <a:buNone/>
            </a:pPr>
            <a:r>
              <a:rPr lang="en-US" sz="3400" b="1" dirty="0">
                <a:solidFill>
                  <a:srgbClr val="E87722"/>
                </a:solidFill>
                <a:latin typeface="Times New Roman" pitchFamily="34" charset="0"/>
                <a:ea typeface="Times New Roman" pitchFamily="34" charset="-122"/>
                <a:cs typeface="Times New Roman" pitchFamily="34" charset="-120"/>
              </a:rPr>
              <a:t>41M</a:t>
            </a:r>
            <a:endParaRPr lang="en-US" sz="3400" dirty="0"/>
          </a:p>
        </p:txBody>
      </p:sp>
      <p:sp>
        <p:nvSpPr>
          <p:cNvPr id="10" name="Text 7"/>
          <p:cNvSpPr/>
          <p:nvPr/>
        </p:nvSpPr>
        <p:spPr>
          <a:xfrm>
            <a:off x="365760" y="3266694"/>
            <a:ext cx="2606040" cy="595274"/>
          </a:xfrm>
          <a:prstGeom prst="rect">
            <a:avLst/>
          </a:prstGeom>
          <a:noFill/>
          <a:ln/>
        </p:spPr>
        <p:txBody>
          <a:bodyPr wrap="square" lIns="0" tIns="0" rIns="0" bIns="0" rtlCol="0" anchor="t"/>
          <a:lstStyle/>
          <a:p>
            <a:pPr marL="0" indent="0" algn="ctr">
              <a:buNone/>
            </a:pPr>
            <a:r>
              <a:rPr lang="en-US" sz="1300" dirty="0">
                <a:solidFill>
                  <a:srgbClr val="3D3D3D"/>
                </a:solidFill>
                <a:latin typeface="Times New Roman" pitchFamily="34" charset="0"/>
                <a:ea typeface="Times New Roman" pitchFamily="34" charset="-122"/>
                <a:cs typeface="Times New Roman" pitchFamily="34" charset="-120"/>
              </a:rPr>
              <a:t>Annual deaths from</a:t>
            </a:r>
            <a:endParaRPr lang="en-US" sz="1300" dirty="0"/>
          </a:p>
          <a:p>
            <a:pPr marL="0" indent="0" algn="ctr">
              <a:buNone/>
            </a:pPr>
            <a:r>
              <a:rPr lang="en-US" sz="1300" dirty="0">
                <a:solidFill>
                  <a:srgbClr val="3D3D3D"/>
                </a:solidFill>
                <a:latin typeface="Times New Roman" pitchFamily="34" charset="0"/>
                <a:ea typeface="Times New Roman" pitchFamily="34" charset="-122"/>
                <a:cs typeface="Times New Roman" pitchFamily="34" charset="-120"/>
              </a:rPr>
              <a:t>chronic diseases</a:t>
            </a:r>
            <a:endParaRPr lang="en-US" sz="1300" dirty="0"/>
          </a:p>
        </p:txBody>
      </p:sp>
      <p:sp>
        <p:nvSpPr>
          <p:cNvPr id="11" name="Shape 8"/>
          <p:cNvSpPr/>
          <p:nvPr/>
        </p:nvSpPr>
        <p:spPr>
          <a:xfrm>
            <a:off x="3246120" y="2487168"/>
            <a:ext cx="2606040" cy="1417320"/>
          </a:xfrm>
          <a:prstGeom prst="rect">
            <a:avLst/>
          </a:prstGeom>
          <a:solidFill>
            <a:srgbClr val="F5F5F5"/>
          </a:solidFill>
          <a:ln w="12700">
            <a:solidFill>
              <a:srgbClr val="DDDDDD"/>
            </a:solidFill>
            <a:prstDash val="solid"/>
          </a:ln>
        </p:spPr>
      </p:sp>
      <p:sp>
        <p:nvSpPr>
          <p:cNvPr id="12" name="Text 9"/>
          <p:cNvSpPr/>
          <p:nvPr/>
        </p:nvSpPr>
        <p:spPr>
          <a:xfrm>
            <a:off x="3246120" y="2532888"/>
            <a:ext cx="2606040" cy="779526"/>
          </a:xfrm>
          <a:prstGeom prst="rect">
            <a:avLst/>
          </a:prstGeom>
          <a:noFill/>
          <a:ln/>
        </p:spPr>
        <p:txBody>
          <a:bodyPr wrap="square" lIns="0" tIns="0" rIns="0" bIns="0" rtlCol="0" anchor="b"/>
          <a:lstStyle/>
          <a:p>
            <a:pPr marL="0" indent="0" algn="ctr">
              <a:buNone/>
            </a:pPr>
            <a:r>
              <a:rPr lang="en-US" sz="3400" b="1" dirty="0">
                <a:solidFill>
                  <a:srgbClr val="E87722"/>
                </a:solidFill>
                <a:latin typeface="Times New Roman" pitchFamily="34" charset="0"/>
                <a:ea typeface="Times New Roman" pitchFamily="34" charset="-122"/>
                <a:cs typeface="Times New Roman" pitchFamily="34" charset="-120"/>
              </a:rPr>
              <a:t>74%</a:t>
            </a:r>
            <a:endParaRPr lang="en-US" sz="3400" dirty="0"/>
          </a:p>
        </p:txBody>
      </p:sp>
      <p:sp>
        <p:nvSpPr>
          <p:cNvPr id="13" name="Text 10"/>
          <p:cNvSpPr/>
          <p:nvPr/>
        </p:nvSpPr>
        <p:spPr>
          <a:xfrm>
            <a:off x="3246120" y="3266694"/>
            <a:ext cx="2606040" cy="595274"/>
          </a:xfrm>
          <a:prstGeom prst="rect">
            <a:avLst/>
          </a:prstGeom>
          <a:noFill/>
          <a:ln/>
        </p:spPr>
        <p:txBody>
          <a:bodyPr wrap="square" lIns="0" tIns="0" rIns="0" bIns="0" rtlCol="0" anchor="t"/>
          <a:lstStyle/>
          <a:p>
            <a:pPr marL="0" indent="0" algn="ctr">
              <a:buNone/>
            </a:pPr>
            <a:r>
              <a:rPr lang="en-US" sz="1300" dirty="0">
                <a:solidFill>
                  <a:srgbClr val="3D3D3D"/>
                </a:solidFill>
                <a:latin typeface="Times New Roman" pitchFamily="34" charset="0"/>
                <a:ea typeface="Times New Roman" pitchFamily="34" charset="-122"/>
                <a:cs typeface="Times New Roman" pitchFamily="34" charset="-120"/>
              </a:rPr>
              <a:t>Global mortality rate</a:t>
            </a:r>
            <a:endParaRPr lang="en-US" sz="1300" dirty="0"/>
          </a:p>
        </p:txBody>
      </p:sp>
      <p:sp>
        <p:nvSpPr>
          <p:cNvPr id="14" name="Shape 11"/>
          <p:cNvSpPr/>
          <p:nvPr/>
        </p:nvSpPr>
        <p:spPr>
          <a:xfrm>
            <a:off x="6172200" y="2487168"/>
            <a:ext cx="2606040" cy="1417320"/>
          </a:xfrm>
          <a:prstGeom prst="rect">
            <a:avLst/>
          </a:prstGeom>
          <a:solidFill>
            <a:srgbClr val="F5F5F5"/>
          </a:solidFill>
          <a:ln w="12700">
            <a:solidFill>
              <a:srgbClr val="DDDDDD"/>
            </a:solidFill>
            <a:prstDash val="solid"/>
          </a:ln>
        </p:spPr>
      </p:sp>
      <p:sp>
        <p:nvSpPr>
          <p:cNvPr id="15" name="Text 12"/>
          <p:cNvSpPr/>
          <p:nvPr/>
        </p:nvSpPr>
        <p:spPr>
          <a:xfrm>
            <a:off x="6172200" y="2532888"/>
            <a:ext cx="2606040" cy="779526"/>
          </a:xfrm>
          <a:prstGeom prst="rect">
            <a:avLst/>
          </a:prstGeom>
          <a:noFill/>
          <a:ln/>
        </p:spPr>
        <p:txBody>
          <a:bodyPr wrap="square" lIns="0" tIns="0" rIns="0" bIns="0" rtlCol="0" anchor="b"/>
          <a:lstStyle/>
          <a:p>
            <a:pPr marL="0" indent="0" algn="ctr">
              <a:buNone/>
            </a:pPr>
            <a:r>
              <a:rPr lang="en-US" sz="3400" b="1" dirty="0">
                <a:solidFill>
                  <a:srgbClr val="E87722"/>
                </a:solidFill>
                <a:latin typeface="Times New Roman" pitchFamily="34" charset="0"/>
                <a:ea typeface="Times New Roman" pitchFamily="34" charset="-122"/>
                <a:cs typeface="Times New Roman" pitchFamily="34" charset="-120"/>
              </a:rPr>
              <a:t>2</a:t>
            </a:r>
            <a:endParaRPr lang="en-US" sz="3400" dirty="0"/>
          </a:p>
        </p:txBody>
      </p:sp>
      <p:sp>
        <p:nvSpPr>
          <p:cNvPr id="16" name="Text 13"/>
          <p:cNvSpPr/>
          <p:nvPr/>
        </p:nvSpPr>
        <p:spPr>
          <a:xfrm>
            <a:off x="6172200" y="3266694"/>
            <a:ext cx="2606040" cy="595274"/>
          </a:xfrm>
          <a:prstGeom prst="rect">
            <a:avLst/>
          </a:prstGeom>
          <a:noFill/>
          <a:ln/>
        </p:spPr>
        <p:txBody>
          <a:bodyPr wrap="square" lIns="0" tIns="0" rIns="0" bIns="0" rtlCol="0" anchor="t"/>
          <a:lstStyle/>
          <a:p>
            <a:pPr marL="0" indent="0" algn="ctr">
              <a:buNone/>
            </a:pPr>
            <a:r>
              <a:rPr lang="en-US" sz="1300" dirty="0">
                <a:solidFill>
                  <a:srgbClr val="3D3D3D"/>
                </a:solidFill>
                <a:latin typeface="Times New Roman" pitchFamily="34" charset="0"/>
                <a:ea typeface="Times New Roman" pitchFamily="34" charset="-122"/>
                <a:cs typeface="Times New Roman" pitchFamily="34" charset="-120"/>
              </a:rPr>
              <a:t>Critical challenges for</a:t>
            </a:r>
            <a:endParaRPr lang="en-US" sz="1300" dirty="0"/>
          </a:p>
          <a:p>
            <a:pPr marL="0" indent="0" algn="ctr">
              <a:buNone/>
            </a:pPr>
            <a:r>
              <a:rPr lang="en-US" sz="1300" dirty="0">
                <a:solidFill>
                  <a:srgbClr val="3D3D3D"/>
                </a:solidFill>
                <a:latin typeface="Times New Roman" pitchFamily="34" charset="0"/>
                <a:ea typeface="Times New Roman" pitchFamily="34" charset="-122"/>
                <a:cs typeface="Times New Roman" pitchFamily="34" charset="-120"/>
              </a:rPr>
              <a:t>ML clinical adoption</a:t>
            </a:r>
            <a:endParaRPr lang="en-US" sz="1300" dirty="0"/>
          </a:p>
        </p:txBody>
      </p:sp>
      <p:pic>
        <p:nvPicPr>
          <p:cNvPr id="17" name="Image 0" descr="preencoded.png">
            <a:extLst>
              <a:ext uri="{FF2B5EF4-FFF2-40B4-BE49-F238E27FC236}">
                <a16:creationId xmlns:a16="http://schemas.microsoft.com/office/drawing/2014/main" id="{90412ACE-3959-FD8A-9943-43CF7EAF8BCA}"/>
              </a:ext>
            </a:extLst>
          </p:cNvPr>
          <p:cNvPicPr>
            <a:picLocks noChangeAspect="1"/>
          </p:cNvPicPr>
          <p:nvPr/>
        </p:nvPicPr>
        <p:blipFill>
          <a:blip r:embed="rId3"/>
          <a:stretch>
            <a:fillRect/>
          </a:stretch>
        </p:blipFill>
        <p:spPr>
          <a:xfrm>
            <a:off x="0" y="126492"/>
            <a:ext cx="1143000" cy="475488"/>
          </a:xfrm>
          <a:prstGeom prst="rect">
            <a:avLst/>
          </a:prstGeom>
        </p:spPr>
      </p:pic>
      <p:grpSp>
        <p:nvGrpSpPr>
          <p:cNvPr id="18" name="Group 17">
            <a:extLst>
              <a:ext uri="{FF2B5EF4-FFF2-40B4-BE49-F238E27FC236}">
                <a16:creationId xmlns:a16="http://schemas.microsoft.com/office/drawing/2014/main" id="{36B35F11-0D03-D9DA-2C7B-74CD915231C7}"/>
              </a:ext>
            </a:extLst>
          </p:cNvPr>
          <p:cNvGrpSpPr/>
          <p:nvPr/>
        </p:nvGrpSpPr>
        <p:grpSpPr>
          <a:xfrm>
            <a:off x="7960583" y="126493"/>
            <a:ext cx="1143001" cy="475487"/>
            <a:chOff x="6173572" y="2276778"/>
            <a:chExt cx="2555268" cy="1333578"/>
          </a:xfrm>
        </p:grpSpPr>
        <p:pic>
          <p:nvPicPr>
            <p:cNvPr id="19" name="Picture 18" descr="A logo with blue and orange lines  AI-generated content may be incorrect.">
              <a:extLst>
                <a:ext uri="{FF2B5EF4-FFF2-40B4-BE49-F238E27FC236}">
                  <a16:creationId xmlns:a16="http://schemas.microsoft.com/office/drawing/2014/main" id="{887CF931-2435-5E15-AD87-9FCC7F78C13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173572" y="2276778"/>
              <a:ext cx="936104" cy="1295756"/>
            </a:xfrm>
            <a:prstGeom prst="rect">
              <a:avLst/>
            </a:prstGeom>
            <a:noFill/>
            <a:ln>
              <a:noFill/>
            </a:ln>
          </p:spPr>
        </p:pic>
        <p:pic>
          <p:nvPicPr>
            <p:cNvPr id="20" name="Picture 19">
              <a:extLst>
                <a:ext uri="{FF2B5EF4-FFF2-40B4-BE49-F238E27FC236}">
                  <a16:creationId xmlns:a16="http://schemas.microsoft.com/office/drawing/2014/main" id="{C1651895-EA20-FFD9-131C-18735F3831AD}"/>
                </a:ext>
              </a:extLst>
            </p:cNvPr>
            <p:cNvPicPr>
              <a:picLocks noChangeAspect="1"/>
            </p:cNvPicPr>
            <p:nvPr/>
          </p:nvPicPr>
          <p:blipFill rotWithShape="1">
            <a:blip r:embed="rId5">
              <a:extLst>
                <a:ext uri="{28A0092B-C50C-407E-A947-70E740481C1C}">
                  <a14:useLocalDpi xmlns:a14="http://schemas.microsoft.com/office/drawing/2010/main" val="0"/>
                </a:ext>
              </a:extLst>
            </a:blip>
            <a:srcRect l="30270" r="31417" b="2264"/>
            <a:stretch/>
          </p:blipFill>
          <p:spPr bwMode="auto">
            <a:xfrm>
              <a:off x="7178602" y="2276778"/>
              <a:ext cx="1550238" cy="1333578"/>
            </a:xfrm>
            <a:prstGeom prst="rect">
              <a:avLst/>
            </a:prstGeom>
            <a:ln>
              <a:noFill/>
            </a:ln>
            <a:extLst>
              <a:ext uri="{53640926-AAD7-44D8-BBD7-CCE9431645EC}">
                <a14:shadowObscured xmlns:a14="http://schemas.microsoft.com/office/drawing/2010/main"/>
              </a:ext>
            </a:extLst>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373715F-886A-4271-4D9B-090049C829CB}"/>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0672CAE3-5707-AF8E-72C6-61ADC54EEAD2}"/>
              </a:ext>
            </a:extLst>
          </p:cNvPr>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ea typeface="Times New Roman" pitchFamily="34" charset="-122"/>
                <a:cs typeface="Times New Roman" pitchFamily="34" charset="-120"/>
              </a:rPr>
              <a:t>Project Scope: Why CKD and Diabetes?</a:t>
            </a:r>
            <a:endParaRPr lang="en-US" sz="2600" dirty="0"/>
          </a:p>
        </p:txBody>
      </p:sp>
      <p:sp>
        <p:nvSpPr>
          <p:cNvPr id="4" name="Shape 1">
            <a:extLst>
              <a:ext uri="{FF2B5EF4-FFF2-40B4-BE49-F238E27FC236}">
                <a16:creationId xmlns:a16="http://schemas.microsoft.com/office/drawing/2014/main" id="{CF38B80F-9718-0438-1AD7-663323B2BF29}"/>
              </a:ext>
            </a:extLst>
          </p:cNvPr>
          <p:cNvSpPr/>
          <p:nvPr/>
        </p:nvSpPr>
        <p:spPr>
          <a:xfrm>
            <a:off x="365760" y="1069848"/>
            <a:ext cx="8412480" cy="20117"/>
          </a:xfrm>
          <a:prstGeom prst="rect">
            <a:avLst/>
          </a:prstGeom>
          <a:solidFill>
            <a:srgbClr val="3D3D3D"/>
          </a:solidFill>
          <a:ln w="12700">
            <a:solidFill>
              <a:srgbClr val="3D3D3D"/>
            </a:solidFill>
            <a:prstDash val="solid"/>
          </a:ln>
        </p:spPr>
      </p:sp>
      <p:sp>
        <p:nvSpPr>
          <p:cNvPr id="5" name="Shape 2">
            <a:extLst>
              <a:ext uri="{FF2B5EF4-FFF2-40B4-BE49-F238E27FC236}">
                <a16:creationId xmlns:a16="http://schemas.microsoft.com/office/drawing/2014/main" id="{D062FF2B-07D7-F771-9B55-36A385EA9D12}"/>
              </a:ext>
            </a:extLst>
          </p:cNvPr>
          <p:cNvSpPr/>
          <p:nvPr/>
        </p:nvSpPr>
        <p:spPr>
          <a:xfrm>
            <a:off x="0" y="4850892"/>
            <a:ext cx="9144000" cy="292608"/>
          </a:xfrm>
          <a:prstGeom prst="rect">
            <a:avLst/>
          </a:prstGeom>
          <a:solidFill>
            <a:srgbClr val="E87722"/>
          </a:solidFill>
          <a:ln w="12700">
            <a:solidFill>
              <a:srgbClr val="E87722"/>
            </a:solidFill>
            <a:prstDash val="solid"/>
          </a:ln>
        </p:spPr>
      </p:sp>
      <p:sp>
        <p:nvSpPr>
          <p:cNvPr id="6" name="Text 3">
            <a:extLst>
              <a:ext uri="{FF2B5EF4-FFF2-40B4-BE49-F238E27FC236}">
                <a16:creationId xmlns:a16="http://schemas.microsoft.com/office/drawing/2014/main" id="{03F486EA-9040-5995-8E89-3A538BB1ACBB}"/>
              </a:ext>
            </a:extLst>
          </p:cNvPr>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cs typeface="Times New Roman" pitchFamily="34" charset="-120"/>
              </a:rPr>
              <a:t>3</a:t>
            </a:r>
            <a:endParaRPr lang="en-US" sz="1400" dirty="0"/>
          </a:p>
        </p:txBody>
      </p:sp>
      <p:sp>
        <p:nvSpPr>
          <p:cNvPr id="7" name="Text 4">
            <a:extLst>
              <a:ext uri="{FF2B5EF4-FFF2-40B4-BE49-F238E27FC236}">
                <a16:creationId xmlns:a16="http://schemas.microsoft.com/office/drawing/2014/main" id="{E4C6007A-AE08-CB53-6C83-6DAB1BD50633}"/>
              </a:ext>
            </a:extLst>
          </p:cNvPr>
          <p:cNvSpPr/>
          <p:nvPr/>
        </p:nvSpPr>
        <p:spPr>
          <a:xfrm>
            <a:off x="365760" y="1325879"/>
            <a:ext cx="8412480" cy="3298231"/>
          </a:xfrm>
          <a:prstGeom prst="rect">
            <a:avLst/>
          </a:prstGeom>
          <a:noFill/>
          <a:ln/>
        </p:spPr>
        <p:txBody>
          <a:bodyPr wrap="square" rtlCol="0" anchor="ctr"/>
          <a:lstStyle/>
          <a:p>
            <a:pPr marL="285750" indent="-285750" algn="l">
              <a:buFont typeface="Arial" panose="020B0604020202020204" pitchFamily="34" charset="0"/>
              <a:buChar char="•"/>
            </a:pPr>
            <a:r>
              <a:rPr lang="en-US" b="1" i="1" dirty="0">
                <a:solidFill>
                  <a:srgbClr val="1F3864"/>
                </a:solidFill>
                <a:latin typeface="Times New Roman" pitchFamily="34" charset="0"/>
                <a:ea typeface="Times New Roman" pitchFamily="34" charset="-122"/>
                <a:cs typeface="Times New Roman" pitchFamily="34" charset="-120"/>
              </a:rPr>
              <a:t>Massive Global Burden</a:t>
            </a:r>
            <a:r>
              <a:rPr lang="en-US" i="1" dirty="0">
                <a:solidFill>
                  <a:srgbClr val="3D3D3D"/>
                </a:solidFill>
                <a:latin typeface="Times New Roman" pitchFamily="34" charset="0"/>
                <a:ea typeface="Times New Roman" pitchFamily="34" charset="-122"/>
                <a:cs typeface="Times New Roman" pitchFamily="34" charset="-120"/>
              </a:rPr>
              <a:t>: </a:t>
            </a:r>
          </a:p>
          <a:p>
            <a:pPr marL="742950" lvl="1" indent="-285750">
              <a:buFont typeface="Arial" panose="020B0604020202020204" pitchFamily="34" charset="0"/>
              <a:buChar char="•"/>
            </a:pPr>
            <a:r>
              <a:rPr lang="en-US" sz="1600" dirty="0">
                <a:solidFill>
                  <a:srgbClr val="3D3D3D"/>
                </a:solidFill>
                <a:latin typeface="Times New Roman" pitchFamily="34" charset="0"/>
                <a:ea typeface="Times New Roman" pitchFamily="34" charset="-122"/>
                <a:cs typeface="Times New Roman" pitchFamily="34" charset="-120"/>
              </a:rPr>
              <a:t>While there are 15 major chronic disease clusters, we targeted two of the most critical: CKD (843 million affected globally) and Type 2 Diabetes (537 million).</a:t>
            </a:r>
          </a:p>
          <a:p>
            <a:pPr marL="285750" indent="-285750" algn="l">
              <a:buFont typeface="Arial" panose="020B0604020202020204" pitchFamily="34" charset="0"/>
              <a:buChar char="•"/>
            </a:pPr>
            <a:r>
              <a:rPr lang="en-US" b="1" i="1" dirty="0">
                <a:solidFill>
                  <a:srgbClr val="1F3864"/>
                </a:solidFill>
                <a:latin typeface="Times New Roman" pitchFamily="34" charset="0"/>
                <a:ea typeface="Times New Roman" pitchFamily="34" charset="-122"/>
                <a:cs typeface="Times New Roman" pitchFamily="34" charset="-120"/>
              </a:rPr>
              <a:t>Strong Mechanistic Links</a:t>
            </a:r>
            <a:r>
              <a:rPr lang="en-US" i="1" dirty="0">
                <a:solidFill>
                  <a:srgbClr val="3D3D3D"/>
                </a:solidFill>
                <a:latin typeface="Times New Roman" pitchFamily="34" charset="0"/>
                <a:ea typeface="Times New Roman" pitchFamily="34" charset="-122"/>
                <a:cs typeface="Times New Roman" pitchFamily="34" charset="-120"/>
              </a:rPr>
              <a:t>:</a:t>
            </a:r>
            <a:r>
              <a:rPr lang="en-US" dirty="0">
                <a:solidFill>
                  <a:srgbClr val="3D3D3D"/>
                </a:solidFill>
                <a:latin typeface="Times New Roman" pitchFamily="34" charset="0"/>
                <a:ea typeface="Times New Roman" pitchFamily="34" charset="-122"/>
                <a:cs typeface="Times New Roman" pitchFamily="34" charset="-120"/>
              </a:rPr>
              <a:t> </a:t>
            </a:r>
          </a:p>
          <a:p>
            <a:pPr marL="742950" lvl="1" indent="-285750">
              <a:buFont typeface="Arial" panose="020B0604020202020204" pitchFamily="34" charset="0"/>
              <a:buChar char="•"/>
            </a:pPr>
            <a:r>
              <a:rPr lang="en-US" sz="1600" dirty="0">
                <a:solidFill>
                  <a:srgbClr val="3D3D3D"/>
                </a:solidFill>
                <a:latin typeface="Times New Roman" pitchFamily="34" charset="0"/>
                <a:ea typeface="Times New Roman" pitchFamily="34" charset="-122"/>
                <a:cs typeface="Times New Roman" pitchFamily="34" charset="-120"/>
              </a:rPr>
              <a:t>These diseases are not isolated. Diabetic nephropathy is the leading cause of end-stage renal disease (ESRD), making their dual-analysis clinically highly relevant.</a:t>
            </a:r>
          </a:p>
          <a:p>
            <a:pPr marL="285750" indent="-285750" algn="l">
              <a:buFont typeface="Arial" panose="020B0604020202020204" pitchFamily="34" charset="0"/>
              <a:buChar char="•"/>
            </a:pPr>
            <a:r>
              <a:rPr lang="en-US" b="1" i="1" dirty="0">
                <a:solidFill>
                  <a:srgbClr val="1F3864"/>
                </a:solidFill>
                <a:latin typeface="Times New Roman" pitchFamily="34" charset="0"/>
                <a:ea typeface="Times New Roman" pitchFamily="34" charset="-122"/>
                <a:cs typeface="Times New Roman" pitchFamily="34" charset="-120"/>
              </a:rPr>
              <a:t>The "Silent" Threat</a:t>
            </a:r>
            <a:r>
              <a:rPr lang="en-US" i="1" dirty="0">
                <a:solidFill>
                  <a:srgbClr val="3D3D3D"/>
                </a:solidFill>
                <a:latin typeface="Times New Roman" pitchFamily="34" charset="0"/>
                <a:ea typeface="Times New Roman" pitchFamily="34" charset="-122"/>
                <a:cs typeface="Times New Roman" pitchFamily="34" charset="-120"/>
              </a:rPr>
              <a:t>:</a:t>
            </a:r>
            <a:r>
              <a:rPr lang="en-US" dirty="0">
                <a:solidFill>
                  <a:srgbClr val="3D3D3D"/>
                </a:solidFill>
                <a:latin typeface="Times New Roman" pitchFamily="34" charset="0"/>
                <a:ea typeface="Times New Roman" pitchFamily="34" charset="-122"/>
                <a:cs typeface="Times New Roman" pitchFamily="34" charset="-120"/>
              </a:rPr>
              <a:t> </a:t>
            </a:r>
          </a:p>
          <a:p>
            <a:pPr marL="742950" lvl="1" indent="-285750">
              <a:buFont typeface="Arial" panose="020B0604020202020204" pitchFamily="34" charset="0"/>
              <a:buChar char="•"/>
            </a:pPr>
            <a:r>
              <a:rPr lang="en-US" sz="1600" dirty="0">
                <a:solidFill>
                  <a:srgbClr val="3D3D3D"/>
                </a:solidFill>
                <a:latin typeface="Times New Roman" pitchFamily="34" charset="0"/>
                <a:ea typeface="Times New Roman" pitchFamily="34" charset="-122"/>
                <a:cs typeface="Times New Roman" pitchFamily="34" charset="-120"/>
              </a:rPr>
              <a:t>Both diseases are largely asymptomatic in their early stages, making them the perfect candidates for early-warning Machine Learning detection.</a:t>
            </a:r>
          </a:p>
          <a:p>
            <a:pPr marL="285750" indent="-285750">
              <a:buFont typeface="Arial" panose="020B0604020202020204" pitchFamily="34" charset="0"/>
              <a:buChar char="•"/>
            </a:pPr>
            <a:r>
              <a:rPr lang="en-US" sz="1600" dirty="0">
                <a:solidFill>
                  <a:srgbClr val="3D3D3D"/>
                </a:solidFill>
                <a:latin typeface="Times New Roman" pitchFamily="34" charset="0"/>
                <a:ea typeface="Times New Roman" pitchFamily="34" charset="-122"/>
                <a:cs typeface="Times New Roman" pitchFamily="34" charset="-120"/>
              </a:rPr>
              <a:t>Zhang et al., ML for CKD prediction from diabetes records — Computers in Biology and Medicine, 2022. Found an optimal probability threshold of 0.45–0.52 for </a:t>
            </a:r>
            <a:r>
              <a:rPr lang="en-US" sz="1600" dirty="0" err="1">
                <a:solidFill>
                  <a:srgbClr val="3D3D3D"/>
                </a:solidFill>
                <a:latin typeface="Times New Roman" pitchFamily="34" charset="0"/>
                <a:ea typeface="Times New Roman" pitchFamily="34" charset="-122"/>
                <a:cs typeface="Times New Roman" pitchFamily="34" charset="-120"/>
              </a:rPr>
              <a:t>diabetes→CKD</a:t>
            </a:r>
            <a:r>
              <a:rPr lang="en-US" sz="1600" dirty="0">
                <a:solidFill>
                  <a:srgbClr val="3D3D3D"/>
                </a:solidFill>
                <a:latin typeface="Times New Roman" pitchFamily="34" charset="0"/>
                <a:ea typeface="Times New Roman" pitchFamily="34" charset="-122"/>
                <a:cs typeface="Times New Roman" pitchFamily="34" charset="-120"/>
              </a:rPr>
              <a:t> escalation using gradient boosting, not 0.82. Link: https://doi.org/10.1016/j.compbiomed.2022.105263</a:t>
            </a:r>
          </a:p>
          <a:p>
            <a:pPr marL="285750" indent="-285750">
              <a:buFont typeface="Arial" panose="020B0604020202020204" pitchFamily="34" charset="0"/>
              <a:buChar char="•"/>
            </a:pPr>
            <a:endParaRPr lang="en-US" sz="1600" dirty="0">
              <a:solidFill>
                <a:srgbClr val="3D3D3D"/>
              </a:solidFill>
              <a:latin typeface="Times New Roman" pitchFamily="34" charset="0"/>
              <a:ea typeface="Times New Roman" pitchFamily="34" charset="-122"/>
              <a:cs typeface="Times New Roman" pitchFamily="34" charset="-120"/>
            </a:endParaRPr>
          </a:p>
        </p:txBody>
      </p:sp>
      <p:pic>
        <p:nvPicPr>
          <p:cNvPr id="8" name="Image 0" descr="preencoded.png">
            <a:extLst>
              <a:ext uri="{FF2B5EF4-FFF2-40B4-BE49-F238E27FC236}">
                <a16:creationId xmlns:a16="http://schemas.microsoft.com/office/drawing/2014/main" id="{720F188F-8AA7-7DCC-A11D-793F979E06AC}"/>
              </a:ext>
            </a:extLst>
          </p:cNvPr>
          <p:cNvPicPr>
            <a:picLocks noChangeAspect="1"/>
          </p:cNvPicPr>
          <p:nvPr/>
        </p:nvPicPr>
        <p:blipFill>
          <a:blip r:embed="rId3"/>
          <a:stretch>
            <a:fillRect/>
          </a:stretch>
        </p:blipFill>
        <p:spPr>
          <a:xfrm>
            <a:off x="0" y="126492"/>
            <a:ext cx="1143000" cy="475488"/>
          </a:xfrm>
          <a:prstGeom prst="rect">
            <a:avLst/>
          </a:prstGeom>
        </p:spPr>
      </p:pic>
      <p:grpSp>
        <p:nvGrpSpPr>
          <p:cNvPr id="9" name="Group 8">
            <a:extLst>
              <a:ext uri="{FF2B5EF4-FFF2-40B4-BE49-F238E27FC236}">
                <a16:creationId xmlns:a16="http://schemas.microsoft.com/office/drawing/2014/main" id="{356E018D-D5F0-E6F7-192B-E2CCD0D63E33}"/>
              </a:ext>
            </a:extLst>
          </p:cNvPr>
          <p:cNvGrpSpPr/>
          <p:nvPr/>
        </p:nvGrpSpPr>
        <p:grpSpPr>
          <a:xfrm>
            <a:off x="7960583" y="126493"/>
            <a:ext cx="1143001" cy="475487"/>
            <a:chOff x="6173572" y="2276778"/>
            <a:chExt cx="2555268" cy="1333578"/>
          </a:xfrm>
        </p:grpSpPr>
        <p:pic>
          <p:nvPicPr>
            <p:cNvPr id="10" name="Picture 9" descr="A logo with blue and orange lines  AI-generated content may be incorrect.">
              <a:extLst>
                <a:ext uri="{FF2B5EF4-FFF2-40B4-BE49-F238E27FC236}">
                  <a16:creationId xmlns:a16="http://schemas.microsoft.com/office/drawing/2014/main" id="{FB828DE3-E2DF-28D5-E012-77B8B4635FC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173572" y="2276778"/>
              <a:ext cx="936104" cy="1295756"/>
            </a:xfrm>
            <a:prstGeom prst="rect">
              <a:avLst/>
            </a:prstGeom>
            <a:noFill/>
            <a:ln>
              <a:noFill/>
            </a:ln>
          </p:spPr>
        </p:pic>
        <p:pic>
          <p:nvPicPr>
            <p:cNvPr id="11" name="Picture 10">
              <a:extLst>
                <a:ext uri="{FF2B5EF4-FFF2-40B4-BE49-F238E27FC236}">
                  <a16:creationId xmlns:a16="http://schemas.microsoft.com/office/drawing/2014/main" id="{F1D1AFAB-C1AC-A75B-EFF8-9EF5E21F7927}"/>
                </a:ext>
              </a:extLst>
            </p:cNvPr>
            <p:cNvPicPr>
              <a:picLocks noChangeAspect="1"/>
            </p:cNvPicPr>
            <p:nvPr/>
          </p:nvPicPr>
          <p:blipFill rotWithShape="1">
            <a:blip r:embed="rId5">
              <a:extLst>
                <a:ext uri="{28A0092B-C50C-407E-A947-70E740481C1C}">
                  <a14:useLocalDpi xmlns:a14="http://schemas.microsoft.com/office/drawing/2010/main" val="0"/>
                </a:ext>
              </a:extLst>
            </a:blip>
            <a:srcRect l="30270" r="31417" b="2264"/>
            <a:stretch/>
          </p:blipFill>
          <p:spPr bwMode="auto">
            <a:xfrm>
              <a:off x="7178602" y="2276778"/>
              <a:ext cx="1550238" cy="1333578"/>
            </a:xfrm>
            <a:prstGeom prst="rect">
              <a:avLst/>
            </a:prstGeom>
            <a:ln>
              <a:noFill/>
            </a:ln>
            <a:extLst>
              <a:ext uri="{53640926-AAD7-44D8-BBD7-CCE9431645EC}">
                <a14:shadowObscured xmlns:a14="http://schemas.microsoft.com/office/drawing/2010/main"/>
              </a:ext>
            </a:extLst>
          </p:spPr>
        </p:pic>
      </p:grpSp>
    </p:spTree>
    <p:extLst>
      <p:ext uri="{BB962C8B-B14F-4D97-AF65-F5344CB8AC3E}">
        <p14:creationId xmlns:p14="http://schemas.microsoft.com/office/powerpoint/2010/main" val="3076973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ea typeface="Times New Roman" pitchFamily="34" charset="-122"/>
                <a:cs typeface="Times New Roman" pitchFamily="34" charset="-120"/>
              </a:rPr>
              <a:t>Problem Statement</a:t>
            </a:r>
            <a:endParaRPr lang="en-US" sz="2600" dirty="0"/>
          </a:p>
        </p:txBody>
      </p:sp>
      <p:sp>
        <p:nvSpPr>
          <p:cNvPr id="4" name="Shape 1"/>
          <p:cNvSpPr/>
          <p:nvPr/>
        </p:nvSpPr>
        <p:spPr>
          <a:xfrm>
            <a:off x="365760" y="1069848"/>
            <a:ext cx="8412480" cy="20117"/>
          </a:xfrm>
          <a:prstGeom prst="rect">
            <a:avLst/>
          </a:prstGeom>
          <a:solidFill>
            <a:srgbClr val="3D3D3D"/>
          </a:solidFill>
          <a:ln w="12700">
            <a:solidFill>
              <a:srgbClr val="3D3D3D"/>
            </a:solidFill>
            <a:prstDash val="solid"/>
          </a:ln>
        </p:spPr>
      </p:sp>
      <p:sp>
        <p:nvSpPr>
          <p:cNvPr id="5" name="Shape 2"/>
          <p:cNvSpPr/>
          <p:nvPr/>
        </p:nvSpPr>
        <p:spPr>
          <a:xfrm>
            <a:off x="0" y="4850892"/>
            <a:ext cx="9144000" cy="292608"/>
          </a:xfrm>
          <a:prstGeom prst="rect">
            <a:avLst/>
          </a:prstGeom>
          <a:solidFill>
            <a:srgbClr val="E87722"/>
          </a:solidFill>
          <a:ln w="12700">
            <a:solidFill>
              <a:srgbClr val="E87722"/>
            </a:solidFill>
            <a:prstDash val="solid"/>
          </a:ln>
        </p:spPr>
      </p:sp>
      <p:sp>
        <p:nvSpPr>
          <p:cNvPr id="6" name="Text 3"/>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cs typeface="Times New Roman" pitchFamily="34" charset="-120"/>
              </a:rPr>
              <a:t>4</a:t>
            </a:r>
            <a:endParaRPr lang="en-US" sz="1400" dirty="0"/>
          </a:p>
        </p:txBody>
      </p:sp>
      <p:sp>
        <p:nvSpPr>
          <p:cNvPr id="7" name="Shape 4"/>
          <p:cNvSpPr/>
          <p:nvPr/>
        </p:nvSpPr>
        <p:spPr>
          <a:xfrm>
            <a:off x="365760" y="1169139"/>
            <a:ext cx="8412480" cy="2445789"/>
          </a:xfrm>
          <a:prstGeom prst="rect">
            <a:avLst/>
          </a:prstGeom>
          <a:solidFill>
            <a:srgbClr val="FFF4EC"/>
          </a:solidFill>
          <a:ln w="12700">
            <a:solidFill>
              <a:srgbClr val="E87722"/>
            </a:solidFill>
            <a:prstDash val="solid"/>
          </a:ln>
        </p:spPr>
      </p:sp>
      <p:sp>
        <p:nvSpPr>
          <p:cNvPr id="8" name="Text 5"/>
          <p:cNvSpPr/>
          <p:nvPr/>
        </p:nvSpPr>
        <p:spPr>
          <a:xfrm>
            <a:off x="502920" y="1371600"/>
            <a:ext cx="8138160" cy="2034540"/>
          </a:xfrm>
          <a:prstGeom prst="rect">
            <a:avLst/>
          </a:prstGeom>
          <a:noFill/>
          <a:ln/>
        </p:spPr>
        <p:txBody>
          <a:bodyPr wrap="square" rtlCol="0" anchor="ctr"/>
          <a:lstStyle/>
          <a:p>
            <a:pPr marL="0" indent="0">
              <a:buNone/>
            </a:pPr>
            <a:r>
              <a:rPr lang="en-US" sz="1600" dirty="0">
                <a:solidFill>
                  <a:srgbClr val="3D3D3D"/>
                </a:solidFill>
                <a:latin typeface="Times New Roman" pitchFamily="34" charset="0"/>
                <a:ea typeface="Times New Roman" pitchFamily="34" charset="-122"/>
                <a:cs typeface="Times New Roman" pitchFamily="34" charset="-120"/>
              </a:rPr>
              <a:t>Current machine learning approaches for chronic disease prediction suffer from inadequate validation methods, lack of interpretability, and insufficient handling of class imbalance, limiting their clinical adoption and reliability. Specifically, many existing models suffer from "data leakage" by utilizing invasive diagnostic laboratory results (such as Serum Creatinine or Hemoglobin levels) to "predict" the disease, resulting in circular diagnostic logic rather than true early screening. Furthermore, models optimized for standard "Accuracy" using a default 0.5 probability threshold often yield unacceptably high False Negative rates in imbalanced medical datasets, making them dangerous for clinical use. Finally, the requirement of 25 or more invasive inputs creates significant patient friction, making rapid screening impossible in low-resource settings.</a:t>
            </a:r>
            <a:endParaRPr lang="en-US" sz="1600" dirty="0"/>
          </a:p>
        </p:txBody>
      </p:sp>
      <p:sp>
        <p:nvSpPr>
          <p:cNvPr id="9" name="Text 6"/>
          <p:cNvSpPr/>
          <p:nvPr/>
        </p:nvSpPr>
        <p:spPr>
          <a:xfrm>
            <a:off x="365760" y="3614928"/>
            <a:ext cx="8412480" cy="292608"/>
          </a:xfrm>
          <a:prstGeom prst="rect">
            <a:avLst/>
          </a:prstGeom>
          <a:noFill/>
          <a:ln/>
        </p:spPr>
        <p:txBody>
          <a:bodyPr wrap="square" rtlCol="0" anchor="ctr"/>
          <a:lstStyle/>
          <a:p>
            <a:pPr marL="0" indent="0">
              <a:buNone/>
            </a:pPr>
            <a:r>
              <a:rPr lang="en-US" sz="1800" b="1" dirty="0">
                <a:solidFill>
                  <a:srgbClr val="1F3864"/>
                </a:solidFill>
                <a:latin typeface="Times New Roman" pitchFamily="34" charset="0"/>
                <a:ea typeface="Times New Roman" pitchFamily="34" charset="-122"/>
                <a:cs typeface="Times New Roman" pitchFamily="34" charset="-120"/>
              </a:rPr>
              <a:t>Our Solution</a:t>
            </a:r>
            <a:endParaRPr lang="en-US" sz="1800" dirty="0"/>
          </a:p>
        </p:txBody>
      </p:sp>
      <p:sp>
        <p:nvSpPr>
          <p:cNvPr id="11" name="Shape 8"/>
          <p:cNvSpPr/>
          <p:nvPr/>
        </p:nvSpPr>
        <p:spPr>
          <a:xfrm>
            <a:off x="457200" y="3973068"/>
            <a:ext cx="365760" cy="365760"/>
          </a:xfrm>
          <a:prstGeom prst="ellipse">
            <a:avLst/>
          </a:prstGeom>
          <a:solidFill>
            <a:srgbClr val="E87722"/>
          </a:solidFill>
          <a:ln w="12700">
            <a:solidFill>
              <a:srgbClr val="E87722"/>
            </a:solidFill>
            <a:prstDash val="solid"/>
          </a:ln>
        </p:spPr>
      </p:sp>
      <p:sp>
        <p:nvSpPr>
          <p:cNvPr id="12" name="Text 9"/>
          <p:cNvSpPr/>
          <p:nvPr/>
        </p:nvSpPr>
        <p:spPr>
          <a:xfrm>
            <a:off x="457200" y="3973068"/>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Times New Roman" pitchFamily="34" charset="0"/>
                <a:ea typeface="Times New Roman" pitchFamily="34" charset="-122"/>
                <a:cs typeface="Times New Roman" pitchFamily="34" charset="-120"/>
              </a:rPr>
              <a:t>1</a:t>
            </a:r>
            <a:endParaRPr lang="en-US" sz="1500" dirty="0"/>
          </a:p>
        </p:txBody>
      </p:sp>
      <p:sp>
        <p:nvSpPr>
          <p:cNvPr id="13" name="Text 10"/>
          <p:cNvSpPr/>
          <p:nvPr/>
        </p:nvSpPr>
        <p:spPr>
          <a:xfrm>
            <a:off x="896112" y="3973068"/>
            <a:ext cx="2121408" cy="292608"/>
          </a:xfrm>
          <a:prstGeom prst="rect">
            <a:avLst/>
          </a:prstGeom>
          <a:noFill/>
          <a:ln/>
        </p:spPr>
        <p:txBody>
          <a:bodyPr wrap="square" lIns="0" tIns="0" rIns="0" bIns="0" rtlCol="0" anchor="ctr"/>
          <a:lstStyle/>
          <a:p>
            <a:pPr marL="0" indent="0">
              <a:buNone/>
            </a:pPr>
            <a:r>
              <a:rPr lang="en-US" sz="1500" b="1" dirty="0">
                <a:solidFill>
                  <a:srgbClr val="1F3864"/>
                </a:solidFill>
                <a:latin typeface="Times New Roman" pitchFamily="34" charset="0"/>
                <a:ea typeface="Times New Roman" pitchFamily="34" charset="-122"/>
                <a:cs typeface="Times New Roman" pitchFamily="34" charset="-120"/>
              </a:rPr>
              <a:t>Stratified 10-Fold Cross-Validation</a:t>
            </a:r>
            <a:endParaRPr lang="en-US" sz="1500" dirty="0"/>
          </a:p>
        </p:txBody>
      </p:sp>
      <p:sp>
        <p:nvSpPr>
          <p:cNvPr id="14" name="Text 11"/>
          <p:cNvSpPr/>
          <p:nvPr/>
        </p:nvSpPr>
        <p:spPr>
          <a:xfrm>
            <a:off x="493776" y="4270248"/>
            <a:ext cx="2523744" cy="602353"/>
          </a:xfrm>
          <a:prstGeom prst="rect">
            <a:avLst/>
          </a:prstGeom>
          <a:noFill/>
          <a:ln/>
        </p:spPr>
        <p:txBody>
          <a:bodyPr wrap="square" lIns="0" tIns="0" rIns="0" bIns="0" rtlCol="0" anchor="ctr"/>
          <a:lstStyle/>
          <a:p>
            <a:pPr marL="0" indent="0">
              <a:buNone/>
            </a:pPr>
            <a:r>
              <a:rPr lang="en-US" sz="1600" dirty="0">
                <a:solidFill>
                  <a:srgbClr val="3D3D3D"/>
                </a:solidFill>
                <a:latin typeface="Times New Roman" pitchFamily="34" charset="0"/>
                <a:ea typeface="Times New Roman" pitchFamily="34" charset="-122"/>
                <a:cs typeface="Times New Roman" pitchFamily="34" charset="-120"/>
              </a:rPr>
              <a:t>Robust validation prevents overfitting</a:t>
            </a:r>
            <a:endParaRPr lang="en-US" sz="1600" dirty="0"/>
          </a:p>
        </p:txBody>
      </p:sp>
      <p:sp>
        <p:nvSpPr>
          <p:cNvPr id="16" name="Shape 13"/>
          <p:cNvSpPr/>
          <p:nvPr/>
        </p:nvSpPr>
        <p:spPr>
          <a:xfrm>
            <a:off x="3291840" y="3973068"/>
            <a:ext cx="365760" cy="365760"/>
          </a:xfrm>
          <a:prstGeom prst="ellipse">
            <a:avLst/>
          </a:prstGeom>
          <a:solidFill>
            <a:srgbClr val="E87722"/>
          </a:solidFill>
          <a:ln w="12700">
            <a:solidFill>
              <a:srgbClr val="E87722"/>
            </a:solidFill>
            <a:prstDash val="solid"/>
          </a:ln>
        </p:spPr>
      </p:sp>
      <p:sp>
        <p:nvSpPr>
          <p:cNvPr id="17" name="Text 14"/>
          <p:cNvSpPr/>
          <p:nvPr/>
        </p:nvSpPr>
        <p:spPr>
          <a:xfrm>
            <a:off x="3291840" y="3973068"/>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Times New Roman" pitchFamily="34" charset="0"/>
                <a:ea typeface="Times New Roman" pitchFamily="34" charset="-122"/>
                <a:cs typeface="Times New Roman" pitchFamily="34" charset="-120"/>
              </a:rPr>
              <a:t>2</a:t>
            </a:r>
            <a:endParaRPr lang="en-US" sz="1500" dirty="0"/>
          </a:p>
        </p:txBody>
      </p:sp>
      <p:sp>
        <p:nvSpPr>
          <p:cNvPr id="18" name="Text 15"/>
          <p:cNvSpPr/>
          <p:nvPr/>
        </p:nvSpPr>
        <p:spPr>
          <a:xfrm>
            <a:off x="3730752" y="3973068"/>
            <a:ext cx="2121408" cy="292608"/>
          </a:xfrm>
          <a:prstGeom prst="rect">
            <a:avLst/>
          </a:prstGeom>
          <a:noFill/>
          <a:ln/>
        </p:spPr>
        <p:txBody>
          <a:bodyPr wrap="square" lIns="0" tIns="0" rIns="0" bIns="0" rtlCol="0" anchor="ctr"/>
          <a:lstStyle/>
          <a:p>
            <a:pPr marL="0" indent="0">
              <a:buNone/>
            </a:pPr>
            <a:r>
              <a:rPr lang="en-US" sz="1500" b="1" dirty="0">
                <a:solidFill>
                  <a:srgbClr val="1F3864"/>
                </a:solidFill>
                <a:latin typeface="Times New Roman" pitchFamily="34" charset="0"/>
                <a:ea typeface="Times New Roman" pitchFamily="34" charset="-122"/>
                <a:cs typeface="Times New Roman" pitchFamily="34" charset="-120"/>
              </a:rPr>
              <a:t>SHAP Integration</a:t>
            </a:r>
            <a:endParaRPr lang="en-US" sz="1500" dirty="0"/>
          </a:p>
        </p:txBody>
      </p:sp>
      <p:sp>
        <p:nvSpPr>
          <p:cNvPr id="19" name="Text 16"/>
          <p:cNvSpPr/>
          <p:nvPr/>
        </p:nvSpPr>
        <p:spPr>
          <a:xfrm>
            <a:off x="3328416" y="4270248"/>
            <a:ext cx="2523744" cy="602353"/>
          </a:xfrm>
          <a:prstGeom prst="rect">
            <a:avLst/>
          </a:prstGeom>
          <a:noFill/>
          <a:ln/>
        </p:spPr>
        <p:txBody>
          <a:bodyPr wrap="square" lIns="0" tIns="0" rIns="0" bIns="0" rtlCol="0" anchor="ctr"/>
          <a:lstStyle/>
          <a:p>
            <a:pPr marL="0" indent="0">
              <a:buNone/>
            </a:pPr>
            <a:r>
              <a:rPr lang="en-US" sz="1600" dirty="0">
                <a:solidFill>
                  <a:srgbClr val="3D3D3D"/>
                </a:solidFill>
                <a:latin typeface="Times New Roman" pitchFamily="34" charset="0"/>
                <a:ea typeface="Times New Roman" pitchFamily="34" charset="-122"/>
                <a:cs typeface="Times New Roman" pitchFamily="34" charset="-120"/>
              </a:rPr>
              <a:t>Model interpretability for clinical trust</a:t>
            </a:r>
            <a:endParaRPr lang="en-US" sz="1600" dirty="0"/>
          </a:p>
        </p:txBody>
      </p:sp>
      <p:sp>
        <p:nvSpPr>
          <p:cNvPr id="21" name="Shape 18"/>
          <p:cNvSpPr/>
          <p:nvPr/>
        </p:nvSpPr>
        <p:spPr>
          <a:xfrm>
            <a:off x="6126480" y="3973068"/>
            <a:ext cx="365760" cy="365760"/>
          </a:xfrm>
          <a:prstGeom prst="ellipse">
            <a:avLst/>
          </a:prstGeom>
          <a:solidFill>
            <a:srgbClr val="E87722"/>
          </a:solidFill>
          <a:ln w="12700">
            <a:solidFill>
              <a:srgbClr val="E87722"/>
            </a:solidFill>
            <a:prstDash val="solid"/>
          </a:ln>
        </p:spPr>
      </p:sp>
      <p:sp>
        <p:nvSpPr>
          <p:cNvPr id="22" name="Text 19"/>
          <p:cNvSpPr/>
          <p:nvPr/>
        </p:nvSpPr>
        <p:spPr>
          <a:xfrm>
            <a:off x="6126480" y="3973068"/>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Times New Roman" pitchFamily="34" charset="0"/>
                <a:ea typeface="Times New Roman" pitchFamily="34" charset="-122"/>
                <a:cs typeface="Times New Roman" pitchFamily="34" charset="-120"/>
              </a:rPr>
              <a:t>3</a:t>
            </a:r>
            <a:endParaRPr lang="en-US" sz="1500" dirty="0"/>
          </a:p>
        </p:txBody>
      </p:sp>
      <p:sp>
        <p:nvSpPr>
          <p:cNvPr id="23" name="Text 20"/>
          <p:cNvSpPr/>
          <p:nvPr/>
        </p:nvSpPr>
        <p:spPr>
          <a:xfrm>
            <a:off x="6565392" y="3973068"/>
            <a:ext cx="2121408" cy="292608"/>
          </a:xfrm>
          <a:prstGeom prst="rect">
            <a:avLst/>
          </a:prstGeom>
          <a:noFill/>
          <a:ln/>
        </p:spPr>
        <p:txBody>
          <a:bodyPr wrap="square" lIns="0" tIns="0" rIns="0" bIns="0" rtlCol="0" anchor="ctr"/>
          <a:lstStyle/>
          <a:p>
            <a:pPr marL="0" indent="0">
              <a:buNone/>
            </a:pPr>
            <a:r>
              <a:rPr lang="en-US" sz="1500" b="1" dirty="0">
                <a:solidFill>
                  <a:srgbClr val="1F3864"/>
                </a:solidFill>
                <a:latin typeface="Times New Roman" pitchFamily="34" charset="0"/>
                <a:ea typeface="Times New Roman" pitchFamily="34" charset="-122"/>
                <a:cs typeface="Times New Roman" pitchFamily="34" charset="-120"/>
              </a:rPr>
              <a:t>SMOTE Algorithm</a:t>
            </a:r>
            <a:endParaRPr lang="en-US" sz="1500" dirty="0"/>
          </a:p>
        </p:txBody>
      </p:sp>
      <p:sp>
        <p:nvSpPr>
          <p:cNvPr id="24" name="Text 21"/>
          <p:cNvSpPr/>
          <p:nvPr/>
        </p:nvSpPr>
        <p:spPr>
          <a:xfrm>
            <a:off x="6163056" y="4270248"/>
            <a:ext cx="2523744" cy="602353"/>
          </a:xfrm>
          <a:prstGeom prst="rect">
            <a:avLst/>
          </a:prstGeom>
          <a:noFill/>
          <a:ln/>
        </p:spPr>
        <p:txBody>
          <a:bodyPr wrap="square" lIns="0" tIns="0" rIns="0" bIns="0" rtlCol="0" anchor="ctr"/>
          <a:lstStyle/>
          <a:p>
            <a:pPr marL="0" indent="0">
              <a:buNone/>
            </a:pPr>
            <a:r>
              <a:rPr lang="en-US" sz="1600" dirty="0">
                <a:solidFill>
                  <a:srgbClr val="3D3D3D"/>
                </a:solidFill>
                <a:latin typeface="Times New Roman" pitchFamily="34" charset="0"/>
                <a:ea typeface="Times New Roman" pitchFamily="34" charset="-122"/>
                <a:cs typeface="Times New Roman" pitchFamily="34" charset="-120"/>
              </a:rPr>
              <a:t>Class imbalance handling</a:t>
            </a:r>
            <a:endParaRPr lang="en-US" sz="1600" dirty="0"/>
          </a:p>
        </p:txBody>
      </p:sp>
      <p:pic>
        <p:nvPicPr>
          <p:cNvPr id="25" name="Image 0" descr="preencoded.png">
            <a:extLst>
              <a:ext uri="{FF2B5EF4-FFF2-40B4-BE49-F238E27FC236}">
                <a16:creationId xmlns:a16="http://schemas.microsoft.com/office/drawing/2014/main" id="{EA0569E4-94F0-D7CC-A0C8-C76C86E889FF}"/>
              </a:ext>
            </a:extLst>
          </p:cNvPr>
          <p:cNvPicPr>
            <a:picLocks noChangeAspect="1"/>
          </p:cNvPicPr>
          <p:nvPr/>
        </p:nvPicPr>
        <p:blipFill>
          <a:blip r:embed="rId3"/>
          <a:stretch>
            <a:fillRect/>
          </a:stretch>
        </p:blipFill>
        <p:spPr>
          <a:xfrm>
            <a:off x="0" y="126492"/>
            <a:ext cx="1143000" cy="475488"/>
          </a:xfrm>
          <a:prstGeom prst="rect">
            <a:avLst/>
          </a:prstGeom>
        </p:spPr>
      </p:pic>
      <p:grpSp>
        <p:nvGrpSpPr>
          <p:cNvPr id="26" name="Group 25">
            <a:extLst>
              <a:ext uri="{FF2B5EF4-FFF2-40B4-BE49-F238E27FC236}">
                <a16:creationId xmlns:a16="http://schemas.microsoft.com/office/drawing/2014/main" id="{A90753EB-8776-FE90-F0F2-CE7787C83B95}"/>
              </a:ext>
            </a:extLst>
          </p:cNvPr>
          <p:cNvGrpSpPr/>
          <p:nvPr/>
        </p:nvGrpSpPr>
        <p:grpSpPr>
          <a:xfrm>
            <a:off x="7960583" y="126493"/>
            <a:ext cx="1143001" cy="475487"/>
            <a:chOff x="6173572" y="2276778"/>
            <a:chExt cx="2555268" cy="1333578"/>
          </a:xfrm>
        </p:grpSpPr>
        <p:pic>
          <p:nvPicPr>
            <p:cNvPr id="27" name="Picture 26" descr="A logo with blue and orange lines  AI-generated content may be incorrect.">
              <a:extLst>
                <a:ext uri="{FF2B5EF4-FFF2-40B4-BE49-F238E27FC236}">
                  <a16:creationId xmlns:a16="http://schemas.microsoft.com/office/drawing/2014/main" id="{D21C5CCE-6359-40B6-9346-4B470E9A18E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173572" y="2276778"/>
              <a:ext cx="936104" cy="1295756"/>
            </a:xfrm>
            <a:prstGeom prst="rect">
              <a:avLst/>
            </a:prstGeom>
            <a:noFill/>
            <a:ln>
              <a:noFill/>
            </a:ln>
          </p:spPr>
        </p:pic>
        <p:pic>
          <p:nvPicPr>
            <p:cNvPr id="28" name="Picture 27">
              <a:extLst>
                <a:ext uri="{FF2B5EF4-FFF2-40B4-BE49-F238E27FC236}">
                  <a16:creationId xmlns:a16="http://schemas.microsoft.com/office/drawing/2014/main" id="{05E616B9-9BAD-4803-3EF0-C9F1E1B9ED6C}"/>
                </a:ext>
              </a:extLst>
            </p:cNvPr>
            <p:cNvPicPr>
              <a:picLocks noChangeAspect="1"/>
            </p:cNvPicPr>
            <p:nvPr/>
          </p:nvPicPr>
          <p:blipFill rotWithShape="1">
            <a:blip r:embed="rId5">
              <a:extLst>
                <a:ext uri="{28A0092B-C50C-407E-A947-70E740481C1C}">
                  <a14:useLocalDpi xmlns:a14="http://schemas.microsoft.com/office/drawing/2010/main" val="0"/>
                </a:ext>
              </a:extLst>
            </a:blip>
            <a:srcRect l="30270" r="31417" b="2264"/>
            <a:stretch/>
          </p:blipFill>
          <p:spPr bwMode="auto">
            <a:xfrm>
              <a:off x="7178602" y="2276778"/>
              <a:ext cx="1550238" cy="1333578"/>
            </a:xfrm>
            <a:prstGeom prst="rect">
              <a:avLst/>
            </a:prstGeom>
            <a:ln>
              <a:noFill/>
            </a:ln>
            <a:extLst>
              <a:ext uri="{53640926-AAD7-44D8-BBD7-CCE9431645EC}">
                <a14:shadowObscured xmlns:a14="http://schemas.microsoft.com/office/drawing/2010/main"/>
              </a:ext>
            </a:ex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F1A06-96CC-B087-9F78-5F62B9B68856}"/>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DD7295A8-79C2-F9A3-A140-87405704C0D1}"/>
              </a:ext>
            </a:extLst>
          </p:cNvPr>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ea typeface="Times New Roman" pitchFamily="34" charset="-122"/>
                <a:cs typeface="Times New Roman" pitchFamily="34" charset="-120"/>
              </a:rPr>
              <a:t>Primary Base Papers</a:t>
            </a:r>
            <a:endParaRPr lang="en-US" sz="2600" dirty="0"/>
          </a:p>
        </p:txBody>
      </p:sp>
      <p:sp>
        <p:nvSpPr>
          <p:cNvPr id="4" name="Shape 1">
            <a:extLst>
              <a:ext uri="{FF2B5EF4-FFF2-40B4-BE49-F238E27FC236}">
                <a16:creationId xmlns:a16="http://schemas.microsoft.com/office/drawing/2014/main" id="{204F937C-51CB-15E6-5F76-032A53DF896D}"/>
              </a:ext>
            </a:extLst>
          </p:cNvPr>
          <p:cNvSpPr/>
          <p:nvPr/>
        </p:nvSpPr>
        <p:spPr>
          <a:xfrm>
            <a:off x="365760" y="1069848"/>
            <a:ext cx="8412480" cy="20117"/>
          </a:xfrm>
          <a:prstGeom prst="rect">
            <a:avLst/>
          </a:prstGeom>
          <a:solidFill>
            <a:srgbClr val="3D3D3D"/>
          </a:solidFill>
          <a:ln w="12700">
            <a:solidFill>
              <a:srgbClr val="3D3D3D"/>
            </a:solidFill>
            <a:prstDash val="solid"/>
          </a:ln>
        </p:spPr>
      </p:sp>
      <p:sp>
        <p:nvSpPr>
          <p:cNvPr id="5" name="Shape 2">
            <a:extLst>
              <a:ext uri="{FF2B5EF4-FFF2-40B4-BE49-F238E27FC236}">
                <a16:creationId xmlns:a16="http://schemas.microsoft.com/office/drawing/2014/main" id="{5127634D-3C21-7460-0D88-0AAEF97D3B49}"/>
              </a:ext>
            </a:extLst>
          </p:cNvPr>
          <p:cNvSpPr/>
          <p:nvPr/>
        </p:nvSpPr>
        <p:spPr>
          <a:xfrm>
            <a:off x="0" y="4850892"/>
            <a:ext cx="9144000" cy="292608"/>
          </a:xfrm>
          <a:prstGeom prst="rect">
            <a:avLst/>
          </a:prstGeom>
          <a:solidFill>
            <a:srgbClr val="E87722"/>
          </a:solidFill>
          <a:ln w="12700">
            <a:solidFill>
              <a:srgbClr val="E87722"/>
            </a:solidFill>
            <a:prstDash val="solid"/>
          </a:ln>
        </p:spPr>
      </p:sp>
      <p:sp>
        <p:nvSpPr>
          <p:cNvPr id="6" name="Text 3">
            <a:extLst>
              <a:ext uri="{FF2B5EF4-FFF2-40B4-BE49-F238E27FC236}">
                <a16:creationId xmlns:a16="http://schemas.microsoft.com/office/drawing/2014/main" id="{B60339F1-F42C-CB50-C34C-1341CDA18B8C}"/>
              </a:ext>
            </a:extLst>
          </p:cNvPr>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cs typeface="Times New Roman" pitchFamily="34" charset="-120"/>
              </a:rPr>
              <a:t>6</a:t>
            </a:r>
            <a:endParaRPr lang="en-US" sz="1400" dirty="0"/>
          </a:p>
        </p:txBody>
      </p:sp>
      <p:sp>
        <p:nvSpPr>
          <p:cNvPr id="7" name="Text 4">
            <a:extLst>
              <a:ext uri="{FF2B5EF4-FFF2-40B4-BE49-F238E27FC236}">
                <a16:creationId xmlns:a16="http://schemas.microsoft.com/office/drawing/2014/main" id="{D24580A3-E780-FA77-5E8D-99BC25FCF208}"/>
              </a:ext>
            </a:extLst>
          </p:cNvPr>
          <p:cNvSpPr/>
          <p:nvPr/>
        </p:nvSpPr>
        <p:spPr>
          <a:xfrm>
            <a:off x="365760" y="1325879"/>
            <a:ext cx="8412480" cy="3298231"/>
          </a:xfrm>
          <a:prstGeom prst="rect">
            <a:avLst/>
          </a:prstGeom>
          <a:noFill/>
          <a:ln/>
        </p:spPr>
        <p:txBody>
          <a:bodyPr wrap="square" rtlCol="0" anchor="ctr"/>
          <a:lstStyle/>
          <a:p>
            <a:pPr marL="285750" indent="-285750">
              <a:buFont typeface="Courier New" panose="02070309020205020404" pitchFamily="49" charset="0"/>
              <a:buChar char="o"/>
            </a:pPr>
            <a:r>
              <a:rPr lang="en-US" sz="1600" b="1" i="1" dirty="0">
                <a:solidFill>
                  <a:srgbClr val="1F3864"/>
                </a:solidFill>
                <a:latin typeface="Times New Roman" pitchFamily="34" charset="0"/>
                <a:ea typeface="Times New Roman" pitchFamily="34" charset="-122"/>
                <a:cs typeface="Times New Roman" pitchFamily="34" charset="-120"/>
              </a:rPr>
              <a:t>Saba Naz (2024): The Early Prediction of Chronic Diseases Through Diverse Machine Learning Techniques: </a:t>
            </a:r>
          </a:p>
          <a:p>
            <a:pPr marL="742950" lvl="1" indent="-285750">
              <a:buFont typeface="Arial" panose="020B0604020202020204" pitchFamily="34" charset="0"/>
              <a:buChar char="•"/>
            </a:pPr>
            <a:r>
              <a:rPr lang="en-US" sz="1400" dirty="0">
                <a:solidFill>
                  <a:srgbClr val="3D3D3D"/>
                </a:solidFill>
                <a:latin typeface="Times New Roman" pitchFamily="34" charset="0"/>
                <a:ea typeface="Times New Roman" pitchFamily="34" charset="-122"/>
                <a:cs typeface="Times New Roman" pitchFamily="34" charset="-120"/>
              </a:rPr>
              <a:t>Our Project's Extension: We reproduce this Random Forest architecture but extend it by adding a strict SMOTE-pipeline (to prevent data leakage) and SHAP explainability.</a:t>
            </a:r>
          </a:p>
          <a:p>
            <a:pPr marL="742950" lvl="1" indent="-285750">
              <a:buFont typeface="Arial" panose="020B0604020202020204" pitchFamily="34" charset="0"/>
              <a:buChar char="•"/>
            </a:pPr>
            <a:r>
              <a:rPr lang="en-US" sz="1400" dirty="0">
                <a:solidFill>
                  <a:srgbClr val="3D3D3D"/>
                </a:solidFill>
                <a:latin typeface="Times New Roman" pitchFamily="34" charset="0"/>
                <a:ea typeface="Times New Roman" pitchFamily="34" charset="-122"/>
                <a:cs typeface="Times New Roman" pitchFamily="34" charset="-120"/>
              </a:rPr>
              <a:t>Key Performance: Random Forest achieved 98.5% Accuracy on CKD, outperforming Gradient Boosted Trees (97.2%) and Neural Networks (95.8%).</a:t>
            </a:r>
          </a:p>
          <a:p>
            <a:pPr marL="285750" indent="-285750">
              <a:buFont typeface="Courier New" panose="02070309020205020404" pitchFamily="49" charset="0"/>
              <a:buChar char="o"/>
            </a:pPr>
            <a:endParaRPr lang="en-US" sz="1600" b="1" i="1" dirty="0">
              <a:solidFill>
                <a:srgbClr val="1F3864"/>
              </a:solidFill>
              <a:latin typeface="Times New Roman" pitchFamily="34" charset="0"/>
              <a:ea typeface="Times New Roman" pitchFamily="34" charset="-122"/>
              <a:cs typeface="Times New Roman" pitchFamily="34" charset="-120"/>
            </a:endParaRPr>
          </a:p>
          <a:p>
            <a:pPr marL="285750" indent="-285750">
              <a:buFont typeface="Courier New" panose="02070309020205020404" pitchFamily="49" charset="0"/>
              <a:buChar char="o"/>
            </a:pPr>
            <a:r>
              <a:rPr lang="en-US" sz="1600" b="1" i="1" dirty="0">
                <a:solidFill>
                  <a:srgbClr val="1F3864"/>
                </a:solidFill>
                <a:latin typeface="Times New Roman" pitchFamily="34" charset="0"/>
                <a:ea typeface="Times New Roman" pitchFamily="34" charset="-122"/>
                <a:cs typeface="Times New Roman" pitchFamily="34" charset="-120"/>
              </a:rPr>
              <a:t>Parama Sridevi (2024): ML-based Chronic Kidney Disease and Diabetes Prediction With Feature Effect Analysis Using SHAP: </a:t>
            </a:r>
          </a:p>
          <a:p>
            <a:pPr marL="742950" lvl="1" indent="-285750">
              <a:buFont typeface="Arial" panose="020B0604020202020204" pitchFamily="34" charset="0"/>
              <a:buChar char="•"/>
            </a:pPr>
            <a:r>
              <a:rPr lang="en-US" sz="1400" dirty="0">
                <a:solidFill>
                  <a:srgbClr val="3D3D3D"/>
                </a:solidFill>
                <a:latin typeface="Times New Roman" pitchFamily="34" charset="0"/>
                <a:ea typeface="Times New Roman" pitchFamily="34" charset="-122"/>
                <a:cs typeface="Times New Roman" pitchFamily="34" charset="-120"/>
              </a:rPr>
              <a:t>Our Project's Extension: While this paper successfully established the dual-disease SHAP framework, we extend their work by implementing a strict Stratified 10-Fold SMOTE Pipeline. By applying SMOTE exclusively inside the training folds, we guarantee zero data leakage during synthetic oversampling, ensuring our metrics (AUC 1.00 for CKD, 0.81 for Diabetes) are mathematically robust..</a:t>
            </a:r>
          </a:p>
          <a:p>
            <a:pPr marL="742950" lvl="1" indent="-285750">
              <a:buFont typeface="Arial" panose="020B0604020202020204" pitchFamily="34" charset="0"/>
              <a:buChar char="•"/>
            </a:pPr>
            <a:r>
              <a:rPr lang="en-US" sz="1400" dirty="0">
                <a:solidFill>
                  <a:srgbClr val="3D3D3D"/>
                </a:solidFill>
                <a:latin typeface="Times New Roman" pitchFamily="34" charset="0"/>
                <a:ea typeface="Times New Roman" pitchFamily="34" charset="-122"/>
                <a:cs typeface="Times New Roman" pitchFamily="34" charset="-120"/>
              </a:rPr>
              <a:t>Key Performance: </a:t>
            </a:r>
            <a:r>
              <a:rPr lang="en-US" sz="1400" dirty="0" err="1">
                <a:solidFill>
                  <a:srgbClr val="3D3D3D"/>
                </a:solidFill>
                <a:latin typeface="Times New Roman" pitchFamily="34" charset="0"/>
                <a:ea typeface="Times New Roman" pitchFamily="34" charset="-122"/>
                <a:cs typeface="Times New Roman" pitchFamily="34" charset="-120"/>
              </a:rPr>
              <a:t>CatBoost</a:t>
            </a:r>
            <a:r>
              <a:rPr lang="en-US" sz="1400" dirty="0">
                <a:solidFill>
                  <a:srgbClr val="3D3D3D"/>
                </a:solidFill>
                <a:latin typeface="Times New Roman" pitchFamily="34" charset="0"/>
                <a:ea typeface="Times New Roman" pitchFamily="34" charset="-122"/>
                <a:cs typeface="Times New Roman" pitchFamily="34" charset="-120"/>
              </a:rPr>
              <a:t> achieved 95.0% Accuracy (AUC 0.99) for CKD and 99.0% Accuracy (AUC 1.00) for Diabetes.</a:t>
            </a:r>
          </a:p>
        </p:txBody>
      </p:sp>
      <p:pic>
        <p:nvPicPr>
          <p:cNvPr id="8" name="Image 0" descr="preencoded.png">
            <a:extLst>
              <a:ext uri="{FF2B5EF4-FFF2-40B4-BE49-F238E27FC236}">
                <a16:creationId xmlns:a16="http://schemas.microsoft.com/office/drawing/2014/main" id="{EA5D6922-E09E-73B0-0921-F077DAF292E1}"/>
              </a:ext>
            </a:extLst>
          </p:cNvPr>
          <p:cNvPicPr>
            <a:picLocks noChangeAspect="1"/>
          </p:cNvPicPr>
          <p:nvPr/>
        </p:nvPicPr>
        <p:blipFill>
          <a:blip r:embed="rId3"/>
          <a:stretch>
            <a:fillRect/>
          </a:stretch>
        </p:blipFill>
        <p:spPr>
          <a:xfrm>
            <a:off x="0" y="126492"/>
            <a:ext cx="1143000" cy="475488"/>
          </a:xfrm>
          <a:prstGeom prst="rect">
            <a:avLst/>
          </a:prstGeom>
        </p:spPr>
      </p:pic>
      <p:grpSp>
        <p:nvGrpSpPr>
          <p:cNvPr id="9" name="Group 8">
            <a:extLst>
              <a:ext uri="{FF2B5EF4-FFF2-40B4-BE49-F238E27FC236}">
                <a16:creationId xmlns:a16="http://schemas.microsoft.com/office/drawing/2014/main" id="{82F6A3DE-C7F4-4AE9-8517-4311510B8276}"/>
              </a:ext>
            </a:extLst>
          </p:cNvPr>
          <p:cNvGrpSpPr/>
          <p:nvPr/>
        </p:nvGrpSpPr>
        <p:grpSpPr>
          <a:xfrm>
            <a:off x="7960583" y="126493"/>
            <a:ext cx="1143001" cy="475487"/>
            <a:chOff x="6173572" y="2276778"/>
            <a:chExt cx="2555268" cy="1333578"/>
          </a:xfrm>
        </p:grpSpPr>
        <p:pic>
          <p:nvPicPr>
            <p:cNvPr id="10" name="Picture 9" descr="A logo with blue and orange lines  AI-generated content may be incorrect.">
              <a:extLst>
                <a:ext uri="{FF2B5EF4-FFF2-40B4-BE49-F238E27FC236}">
                  <a16:creationId xmlns:a16="http://schemas.microsoft.com/office/drawing/2014/main" id="{DAC87A0C-18D9-2E6B-96EF-629BFDD4B1D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173572" y="2276778"/>
              <a:ext cx="936104" cy="1295756"/>
            </a:xfrm>
            <a:prstGeom prst="rect">
              <a:avLst/>
            </a:prstGeom>
            <a:noFill/>
            <a:ln>
              <a:noFill/>
            </a:ln>
          </p:spPr>
        </p:pic>
        <p:pic>
          <p:nvPicPr>
            <p:cNvPr id="11" name="Picture 10">
              <a:extLst>
                <a:ext uri="{FF2B5EF4-FFF2-40B4-BE49-F238E27FC236}">
                  <a16:creationId xmlns:a16="http://schemas.microsoft.com/office/drawing/2014/main" id="{F86E0BF3-ADBA-F50E-6251-E8656932AC23}"/>
                </a:ext>
              </a:extLst>
            </p:cNvPr>
            <p:cNvPicPr>
              <a:picLocks noChangeAspect="1"/>
            </p:cNvPicPr>
            <p:nvPr/>
          </p:nvPicPr>
          <p:blipFill rotWithShape="1">
            <a:blip r:embed="rId5">
              <a:extLst>
                <a:ext uri="{28A0092B-C50C-407E-A947-70E740481C1C}">
                  <a14:useLocalDpi xmlns:a14="http://schemas.microsoft.com/office/drawing/2010/main" val="0"/>
                </a:ext>
              </a:extLst>
            </a:blip>
            <a:srcRect l="30270" r="31417" b="2264"/>
            <a:stretch/>
          </p:blipFill>
          <p:spPr bwMode="auto">
            <a:xfrm>
              <a:off x="7178602" y="2276778"/>
              <a:ext cx="1550238" cy="1333578"/>
            </a:xfrm>
            <a:prstGeom prst="rect">
              <a:avLst/>
            </a:prstGeom>
            <a:ln>
              <a:noFill/>
            </a:ln>
            <a:extLst>
              <a:ext uri="{53640926-AAD7-44D8-BBD7-CCE9431645EC}">
                <a14:shadowObscured xmlns:a14="http://schemas.microsoft.com/office/drawing/2010/main"/>
              </a:ext>
            </a:extLst>
          </p:spPr>
        </p:pic>
      </p:grpSp>
    </p:spTree>
    <p:extLst>
      <p:ext uri="{BB962C8B-B14F-4D97-AF65-F5344CB8AC3E}">
        <p14:creationId xmlns:p14="http://schemas.microsoft.com/office/powerpoint/2010/main" val="3134752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B83CA-D974-3A54-528D-D9660683570D}"/>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A443FDF3-F451-1A62-E7A5-027350BB504C}"/>
              </a:ext>
            </a:extLst>
          </p:cNvPr>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ea typeface="Times New Roman" pitchFamily="34" charset="-122"/>
                <a:cs typeface="Times New Roman" pitchFamily="34" charset="-120"/>
              </a:rPr>
              <a:t>Primary Base Papers</a:t>
            </a:r>
            <a:endParaRPr lang="en-US" sz="2600" dirty="0"/>
          </a:p>
        </p:txBody>
      </p:sp>
      <p:sp>
        <p:nvSpPr>
          <p:cNvPr id="4" name="Shape 1">
            <a:extLst>
              <a:ext uri="{FF2B5EF4-FFF2-40B4-BE49-F238E27FC236}">
                <a16:creationId xmlns:a16="http://schemas.microsoft.com/office/drawing/2014/main" id="{F4BCD2A7-E81F-DC9E-F500-2AE1889079FA}"/>
              </a:ext>
            </a:extLst>
          </p:cNvPr>
          <p:cNvSpPr/>
          <p:nvPr/>
        </p:nvSpPr>
        <p:spPr>
          <a:xfrm>
            <a:off x="365760" y="1069848"/>
            <a:ext cx="8412480" cy="20117"/>
          </a:xfrm>
          <a:prstGeom prst="rect">
            <a:avLst/>
          </a:prstGeom>
          <a:solidFill>
            <a:srgbClr val="3D3D3D"/>
          </a:solidFill>
          <a:ln w="12700">
            <a:solidFill>
              <a:srgbClr val="3D3D3D"/>
            </a:solidFill>
            <a:prstDash val="solid"/>
          </a:ln>
        </p:spPr>
      </p:sp>
      <p:sp>
        <p:nvSpPr>
          <p:cNvPr id="5" name="Shape 2">
            <a:extLst>
              <a:ext uri="{FF2B5EF4-FFF2-40B4-BE49-F238E27FC236}">
                <a16:creationId xmlns:a16="http://schemas.microsoft.com/office/drawing/2014/main" id="{6A20BCD0-3F8C-65D3-D75D-898FDC4A8555}"/>
              </a:ext>
            </a:extLst>
          </p:cNvPr>
          <p:cNvSpPr/>
          <p:nvPr/>
        </p:nvSpPr>
        <p:spPr>
          <a:xfrm>
            <a:off x="0" y="4850892"/>
            <a:ext cx="9144000" cy="292608"/>
          </a:xfrm>
          <a:prstGeom prst="rect">
            <a:avLst/>
          </a:prstGeom>
          <a:solidFill>
            <a:srgbClr val="E87722"/>
          </a:solidFill>
          <a:ln w="12700">
            <a:solidFill>
              <a:srgbClr val="E87722"/>
            </a:solidFill>
            <a:prstDash val="solid"/>
          </a:ln>
        </p:spPr>
      </p:sp>
      <p:sp>
        <p:nvSpPr>
          <p:cNvPr id="6" name="Text 3">
            <a:extLst>
              <a:ext uri="{FF2B5EF4-FFF2-40B4-BE49-F238E27FC236}">
                <a16:creationId xmlns:a16="http://schemas.microsoft.com/office/drawing/2014/main" id="{ACD5581B-2C9F-35BE-9D1A-52484F6D06D1}"/>
              </a:ext>
            </a:extLst>
          </p:cNvPr>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cs typeface="Times New Roman" pitchFamily="34" charset="-120"/>
              </a:rPr>
              <a:t>7</a:t>
            </a:r>
            <a:endParaRPr lang="en-US" sz="1400" dirty="0"/>
          </a:p>
        </p:txBody>
      </p:sp>
      <p:sp>
        <p:nvSpPr>
          <p:cNvPr id="7" name="Text 4">
            <a:extLst>
              <a:ext uri="{FF2B5EF4-FFF2-40B4-BE49-F238E27FC236}">
                <a16:creationId xmlns:a16="http://schemas.microsoft.com/office/drawing/2014/main" id="{95A8F9A4-C260-9D97-448A-CAFFCB4A4970}"/>
              </a:ext>
            </a:extLst>
          </p:cNvPr>
          <p:cNvSpPr/>
          <p:nvPr/>
        </p:nvSpPr>
        <p:spPr>
          <a:xfrm>
            <a:off x="365760" y="1325879"/>
            <a:ext cx="8412480" cy="3298231"/>
          </a:xfrm>
          <a:prstGeom prst="rect">
            <a:avLst/>
          </a:prstGeom>
          <a:noFill/>
          <a:ln/>
        </p:spPr>
        <p:txBody>
          <a:bodyPr wrap="square" rtlCol="0" anchor="t"/>
          <a:lstStyle/>
          <a:p>
            <a:pPr marL="285750" indent="-285750">
              <a:buFont typeface="Courier New" panose="02070309020205020404" pitchFamily="49" charset="0"/>
              <a:buChar char="o"/>
            </a:pPr>
            <a:endParaRPr lang="en-US" sz="1600" b="1" i="1" dirty="0">
              <a:solidFill>
                <a:srgbClr val="1F3864"/>
              </a:solidFill>
              <a:latin typeface="Times New Roman" pitchFamily="34" charset="0"/>
              <a:ea typeface="Times New Roman" pitchFamily="34" charset="-122"/>
              <a:cs typeface="Times New Roman" pitchFamily="34" charset="-120"/>
            </a:endParaRPr>
          </a:p>
          <a:p>
            <a:pPr marL="285750" indent="-285750">
              <a:buFont typeface="Courier New" panose="02070309020205020404" pitchFamily="49" charset="0"/>
              <a:buChar char="o"/>
            </a:pPr>
            <a:r>
              <a:rPr lang="en-US" sz="1600" b="1" i="1" dirty="0">
                <a:solidFill>
                  <a:srgbClr val="1F3864"/>
                </a:solidFill>
                <a:latin typeface="Times New Roman" pitchFamily="34" charset="0"/>
                <a:ea typeface="Times New Roman" pitchFamily="34" charset="-122"/>
                <a:cs typeface="Times New Roman" pitchFamily="34" charset="-120"/>
              </a:rPr>
              <a:t>El Mehdi </a:t>
            </a:r>
            <a:r>
              <a:rPr lang="en-US" sz="1600" b="1" i="1" dirty="0" err="1">
                <a:solidFill>
                  <a:srgbClr val="1F3864"/>
                </a:solidFill>
                <a:latin typeface="Times New Roman" pitchFamily="34" charset="0"/>
                <a:ea typeface="Times New Roman" pitchFamily="34" charset="-122"/>
                <a:cs typeface="Times New Roman" pitchFamily="34" charset="-120"/>
              </a:rPr>
              <a:t>Chouit</a:t>
            </a:r>
            <a:r>
              <a:rPr lang="en-US" sz="1600" b="1" i="1" dirty="0">
                <a:solidFill>
                  <a:srgbClr val="1F3864"/>
                </a:solidFill>
                <a:latin typeface="Times New Roman" pitchFamily="34" charset="0"/>
                <a:ea typeface="Times New Roman" pitchFamily="34" charset="-122"/>
                <a:cs typeface="Times New Roman" pitchFamily="34" charset="-120"/>
              </a:rPr>
              <a:t> (2026): Interpretable machine learning for chronic kidney disease prediction: Insights from SHAP and LIME analyses: </a:t>
            </a:r>
          </a:p>
          <a:p>
            <a:pPr marL="742950" lvl="1" indent="-285750">
              <a:buFont typeface="Arial" panose="020B0604020202020204" pitchFamily="34" charset="0"/>
              <a:buChar char="•"/>
            </a:pPr>
            <a:r>
              <a:rPr lang="en-US" sz="1400" dirty="0">
                <a:solidFill>
                  <a:srgbClr val="3D3D3D"/>
                </a:solidFill>
                <a:latin typeface="Times New Roman" pitchFamily="34" charset="0"/>
                <a:ea typeface="Times New Roman" pitchFamily="34" charset="-122"/>
                <a:cs typeface="Times New Roman" pitchFamily="34" charset="-120"/>
              </a:rPr>
              <a:t>Our Project's Extension: We adopt their rigorous leakage-prevention methodology (isolating SMOTE inside the cross-validation folds) but extend it in two major ways. First, we scale this pipeline across multiple chronic disease domains by validating it on the noisy Pima Diabetes dataset. Second, we introduce a formal evaluation against a linear clinical baseline (Logistic Regression) to explicitly justify the computational cost of using non-linear ensembles like Random Forest and </a:t>
            </a:r>
            <a:r>
              <a:rPr lang="en-US" sz="1400" dirty="0" err="1">
                <a:solidFill>
                  <a:srgbClr val="3D3D3D"/>
                </a:solidFill>
                <a:latin typeface="Times New Roman" pitchFamily="34" charset="0"/>
                <a:ea typeface="Times New Roman" pitchFamily="34" charset="-122"/>
                <a:cs typeface="Times New Roman" pitchFamily="34" charset="-120"/>
              </a:rPr>
              <a:t>XGBoost</a:t>
            </a:r>
            <a:r>
              <a:rPr lang="en-US" sz="1400" dirty="0">
                <a:solidFill>
                  <a:srgbClr val="3D3D3D"/>
                </a:solidFill>
                <a:latin typeface="Times New Roman" pitchFamily="34" charset="0"/>
                <a:ea typeface="Times New Roman" pitchFamily="34" charset="-122"/>
                <a:cs typeface="Times New Roman" pitchFamily="34" charset="-120"/>
              </a:rPr>
              <a:t>.</a:t>
            </a:r>
          </a:p>
          <a:p>
            <a:pPr marL="742950" lvl="1" indent="-285750">
              <a:buFont typeface="Arial" panose="020B0604020202020204" pitchFamily="34" charset="0"/>
              <a:buChar char="•"/>
            </a:pPr>
            <a:r>
              <a:rPr lang="en-US" sz="1400" dirty="0">
                <a:solidFill>
                  <a:srgbClr val="3D3D3D"/>
                </a:solidFill>
                <a:latin typeface="Times New Roman" pitchFamily="34" charset="0"/>
                <a:ea typeface="Times New Roman" pitchFamily="34" charset="-122"/>
                <a:cs typeface="Times New Roman" pitchFamily="34" charset="-120"/>
              </a:rPr>
              <a:t>Key Performance: </a:t>
            </a:r>
            <a:r>
              <a:rPr lang="en-US" sz="1400" dirty="0" err="1">
                <a:solidFill>
                  <a:srgbClr val="3D3D3D"/>
                </a:solidFill>
                <a:latin typeface="Times New Roman" pitchFamily="34" charset="0"/>
                <a:ea typeface="Times New Roman" pitchFamily="34" charset="-122"/>
                <a:cs typeface="Times New Roman" pitchFamily="34" charset="-120"/>
              </a:rPr>
              <a:t>XGBoost</a:t>
            </a:r>
            <a:r>
              <a:rPr lang="en-US" sz="1400" dirty="0">
                <a:solidFill>
                  <a:srgbClr val="3D3D3D"/>
                </a:solidFill>
                <a:latin typeface="Times New Roman" pitchFamily="34" charset="0"/>
                <a:ea typeface="Times New Roman" pitchFamily="34" charset="-122"/>
                <a:cs typeface="Times New Roman" pitchFamily="34" charset="-120"/>
              </a:rPr>
              <a:t> with SMOTE achieved 94.6% Accuracy (AUC 0.948) on the UCI CKD dataset.</a:t>
            </a:r>
          </a:p>
        </p:txBody>
      </p:sp>
      <p:pic>
        <p:nvPicPr>
          <p:cNvPr id="8" name="Image 0" descr="preencoded.png">
            <a:extLst>
              <a:ext uri="{FF2B5EF4-FFF2-40B4-BE49-F238E27FC236}">
                <a16:creationId xmlns:a16="http://schemas.microsoft.com/office/drawing/2014/main" id="{74012DF1-386C-6A3D-C8F9-C1C4890625A4}"/>
              </a:ext>
            </a:extLst>
          </p:cNvPr>
          <p:cNvPicPr>
            <a:picLocks noChangeAspect="1"/>
          </p:cNvPicPr>
          <p:nvPr/>
        </p:nvPicPr>
        <p:blipFill>
          <a:blip r:embed="rId3"/>
          <a:stretch>
            <a:fillRect/>
          </a:stretch>
        </p:blipFill>
        <p:spPr>
          <a:xfrm>
            <a:off x="0" y="126492"/>
            <a:ext cx="1143000" cy="475488"/>
          </a:xfrm>
          <a:prstGeom prst="rect">
            <a:avLst/>
          </a:prstGeom>
        </p:spPr>
      </p:pic>
      <p:grpSp>
        <p:nvGrpSpPr>
          <p:cNvPr id="9" name="Group 8">
            <a:extLst>
              <a:ext uri="{FF2B5EF4-FFF2-40B4-BE49-F238E27FC236}">
                <a16:creationId xmlns:a16="http://schemas.microsoft.com/office/drawing/2014/main" id="{CF94A6E1-4ED8-794E-11F8-D7DF978795D1}"/>
              </a:ext>
            </a:extLst>
          </p:cNvPr>
          <p:cNvGrpSpPr/>
          <p:nvPr/>
        </p:nvGrpSpPr>
        <p:grpSpPr>
          <a:xfrm>
            <a:off x="7960583" y="126493"/>
            <a:ext cx="1143001" cy="475487"/>
            <a:chOff x="6173572" y="2276778"/>
            <a:chExt cx="2555268" cy="1333578"/>
          </a:xfrm>
        </p:grpSpPr>
        <p:pic>
          <p:nvPicPr>
            <p:cNvPr id="10" name="Picture 9" descr="A logo with blue and orange lines  AI-generated content may be incorrect.">
              <a:extLst>
                <a:ext uri="{FF2B5EF4-FFF2-40B4-BE49-F238E27FC236}">
                  <a16:creationId xmlns:a16="http://schemas.microsoft.com/office/drawing/2014/main" id="{6722C1AB-317C-16BF-F02E-B3194740282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173572" y="2276778"/>
              <a:ext cx="936104" cy="1295756"/>
            </a:xfrm>
            <a:prstGeom prst="rect">
              <a:avLst/>
            </a:prstGeom>
            <a:noFill/>
            <a:ln>
              <a:noFill/>
            </a:ln>
          </p:spPr>
        </p:pic>
        <p:pic>
          <p:nvPicPr>
            <p:cNvPr id="11" name="Picture 10">
              <a:extLst>
                <a:ext uri="{FF2B5EF4-FFF2-40B4-BE49-F238E27FC236}">
                  <a16:creationId xmlns:a16="http://schemas.microsoft.com/office/drawing/2014/main" id="{BB75FE32-665E-DC41-D5FC-97BD2E133945}"/>
                </a:ext>
              </a:extLst>
            </p:cNvPr>
            <p:cNvPicPr>
              <a:picLocks noChangeAspect="1"/>
            </p:cNvPicPr>
            <p:nvPr/>
          </p:nvPicPr>
          <p:blipFill rotWithShape="1">
            <a:blip r:embed="rId5">
              <a:extLst>
                <a:ext uri="{28A0092B-C50C-407E-A947-70E740481C1C}">
                  <a14:useLocalDpi xmlns:a14="http://schemas.microsoft.com/office/drawing/2010/main" val="0"/>
                </a:ext>
              </a:extLst>
            </a:blip>
            <a:srcRect l="30270" r="31417" b="2264"/>
            <a:stretch/>
          </p:blipFill>
          <p:spPr bwMode="auto">
            <a:xfrm>
              <a:off x="7178602" y="2276778"/>
              <a:ext cx="1550238" cy="1333578"/>
            </a:xfrm>
            <a:prstGeom prst="rect">
              <a:avLst/>
            </a:prstGeom>
            <a:ln>
              <a:noFill/>
            </a:ln>
            <a:extLst>
              <a:ext uri="{53640926-AAD7-44D8-BBD7-CCE9431645EC}">
                <a14:shadowObscured xmlns:a14="http://schemas.microsoft.com/office/drawing/2010/main"/>
              </a:ext>
            </a:extLst>
          </p:spPr>
        </p:pic>
      </p:grpSp>
    </p:spTree>
    <p:extLst>
      <p:ext uri="{BB962C8B-B14F-4D97-AF65-F5344CB8AC3E}">
        <p14:creationId xmlns:p14="http://schemas.microsoft.com/office/powerpoint/2010/main" val="11529798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ea typeface="Times New Roman" pitchFamily="34" charset="-122"/>
                <a:cs typeface="Times New Roman" pitchFamily="34" charset="-120"/>
              </a:rPr>
              <a:t>Literature Review: State-of-the-Art</a:t>
            </a:r>
            <a:endParaRPr lang="en-US" sz="2600" dirty="0"/>
          </a:p>
        </p:txBody>
      </p:sp>
      <p:sp>
        <p:nvSpPr>
          <p:cNvPr id="4" name="Shape 1"/>
          <p:cNvSpPr/>
          <p:nvPr/>
        </p:nvSpPr>
        <p:spPr>
          <a:xfrm>
            <a:off x="365760" y="1069848"/>
            <a:ext cx="8412480" cy="20117"/>
          </a:xfrm>
          <a:prstGeom prst="rect">
            <a:avLst/>
          </a:prstGeom>
          <a:solidFill>
            <a:srgbClr val="3D3D3D"/>
          </a:solidFill>
          <a:ln w="12700">
            <a:solidFill>
              <a:srgbClr val="3D3D3D"/>
            </a:solidFill>
            <a:prstDash val="solid"/>
          </a:ln>
        </p:spPr>
      </p:sp>
      <p:sp>
        <p:nvSpPr>
          <p:cNvPr id="5" name="Shape 2"/>
          <p:cNvSpPr/>
          <p:nvPr/>
        </p:nvSpPr>
        <p:spPr>
          <a:xfrm>
            <a:off x="0" y="4850892"/>
            <a:ext cx="9144000" cy="292608"/>
          </a:xfrm>
          <a:prstGeom prst="rect">
            <a:avLst/>
          </a:prstGeom>
          <a:solidFill>
            <a:srgbClr val="E87722"/>
          </a:solidFill>
          <a:ln w="12700">
            <a:solidFill>
              <a:srgbClr val="E87722"/>
            </a:solidFill>
            <a:prstDash val="solid"/>
          </a:ln>
        </p:spPr>
      </p:sp>
      <p:sp>
        <p:nvSpPr>
          <p:cNvPr id="6" name="Text 3"/>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cs typeface="Times New Roman" pitchFamily="34" charset="-120"/>
              </a:rPr>
              <a:t>5</a:t>
            </a:r>
            <a:endParaRPr lang="en-US" sz="1400" dirty="0"/>
          </a:p>
        </p:txBody>
      </p:sp>
      <p:sp>
        <p:nvSpPr>
          <p:cNvPr id="7" name="Shape 4"/>
          <p:cNvSpPr/>
          <p:nvPr/>
        </p:nvSpPr>
        <p:spPr>
          <a:xfrm>
            <a:off x="365760" y="1325880"/>
            <a:ext cx="4114800" cy="347472"/>
          </a:xfrm>
          <a:prstGeom prst="rect">
            <a:avLst/>
          </a:prstGeom>
          <a:solidFill>
            <a:srgbClr val="1F3864"/>
          </a:solidFill>
          <a:ln w="12700">
            <a:solidFill>
              <a:srgbClr val="1F3864"/>
            </a:solidFill>
            <a:prstDash val="solid"/>
          </a:ln>
        </p:spPr>
      </p:sp>
      <p:sp>
        <p:nvSpPr>
          <p:cNvPr id="8" name="Text 5"/>
          <p:cNvSpPr/>
          <p:nvPr/>
        </p:nvSpPr>
        <p:spPr>
          <a:xfrm>
            <a:off x="365760" y="1325880"/>
            <a:ext cx="4114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Saba Naz (2024) — IEEE Access</a:t>
            </a:r>
            <a:endParaRPr lang="en-US" sz="1400" dirty="0"/>
          </a:p>
        </p:txBody>
      </p:sp>
      <p:sp>
        <p:nvSpPr>
          <p:cNvPr id="9" name="Shape 6"/>
          <p:cNvSpPr/>
          <p:nvPr/>
        </p:nvSpPr>
        <p:spPr>
          <a:xfrm>
            <a:off x="365760" y="1673352"/>
            <a:ext cx="4114800" cy="690372"/>
          </a:xfrm>
          <a:prstGeom prst="rect">
            <a:avLst/>
          </a:prstGeom>
          <a:solidFill>
            <a:srgbClr val="F5F8FF"/>
          </a:solidFill>
          <a:ln w="12700">
            <a:solidFill>
              <a:srgbClr val="D8D8D8"/>
            </a:solidFill>
            <a:prstDash val="solid"/>
          </a:ln>
        </p:spPr>
      </p:sp>
      <p:sp>
        <p:nvSpPr>
          <p:cNvPr id="10" name="Shape 7"/>
          <p:cNvSpPr/>
          <p:nvPr/>
        </p:nvSpPr>
        <p:spPr>
          <a:xfrm>
            <a:off x="365760" y="1673352"/>
            <a:ext cx="1417320" cy="690372"/>
          </a:xfrm>
          <a:prstGeom prst="rect">
            <a:avLst/>
          </a:prstGeom>
          <a:solidFill>
            <a:srgbClr val="E8EDF5"/>
          </a:solidFill>
          <a:ln w="12700">
            <a:solidFill>
              <a:srgbClr val="D0D0D0"/>
            </a:solidFill>
            <a:prstDash val="solid"/>
          </a:ln>
        </p:spPr>
      </p:sp>
      <p:sp>
        <p:nvSpPr>
          <p:cNvPr id="11" name="Text 8"/>
          <p:cNvSpPr/>
          <p:nvPr/>
        </p:nvSpPr>
        <p:spPr>
          <a:xfrm>
            <a:off x="411480" y="1673352"/>
            <a:ext cx="1344168" cy="690372"/>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Aim</a:t>
            </a:r>
            <a:endParaRPr lang="en-US" sz="1200" dirty="0"/>
          </a:p>
        </p:txBody>
      </p:sp>
      <p:sp>
        <p:nvSpPr>
          <p:cNvPr id="12" name="Text 9"/>
          <p:cNvSpPr/>
          <p:nvPr/>
        </p:nvSpPr>
        <p:spPr>
          <a:xfrm>
            <a:off x="1828800" y="1673352"/>
            <a:ext cx="2651760" cy="690372"/>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Early prediction of chronic diseases using ML models</a:t>
            </a:r>
            <a:endParaRPr lang="en-US" sz="1200" dirty="0"/>
          </a:p>
        </p:txBody>
      </p:sp>
      <p:sp>
        <p:nvSpPr>
          <p:cNvPr id="13" name="Shape 10"/>
          <p:cNvSpPr/>
          <p:nvPr/>
        </p:nvSpPr>
        <p:spPr>
          <a:xfrm>
            <a:off x="365760" y="2363724"/>
            <a:ext cx="4114800" cy="690372"/>
          </a:xfrm>
          <a:prstGeom prst="rect">
            <a:avLst/>
          </a:prstGeom>
          <a:solidFill>
            <a:srgbClr val="FFFFFF"/>
          </a:solidFill>
          <a:ln w="12700">
            <a:solidFill>
              <a:srgbClr val="D8D8D8"/>
            </a:solidFill>
            <a:prstDash val="solid"/>
          </a:ln>
        </p:spPr>
      </p:sp>
      <p:sp>
        <p:nvSpPr>
          <p:cNvPr id="14" name="Shape 11"/>
          <p:cNvSpPr/>
          <p:nvPr/>
        </p:nvSpPr>
        <p:spPr>
          <a:xfrm>
            <a:off x="365760" y="2363724"/>
            <a:ext cx="1417320" cy="690372"/>
          </a:xfrm>
          <a:prstGeom prst="rect">
            <a:avLst/>
          </a:prstGeom>
          <a:solidFill>
            <a:srgbClr val="E8EDF5"/>
          </a:solidFill>
          <a:ln w="12700">
            <a:solidFill>
              <a:srgbClr val="D0D0D0"/>
            </a:solidFill>
            <a:prstDash val="solid"/>
          </a:ln>
        </p:spPr>
      </p:sp>
      <p:sp>
        <p:nvSpPr>
          <p:cNvPr id="15" name="Text 12"/>
          <p:cNvSpPr/>
          <p:nvPr/>
        </p:nvSpPr>
        <p:spPr>
          <a:xfrm>
            <a:off x="411480" y="2363724"/>
            <a:ext cx="1344168" cy="690372"/>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Model</a:t>
            </a:r>
            <a:endParaRPr lang="en-US" sz="1200" dirty="0"/>
          </a:p>
        </p:txBody>
      </p:sp>
      <p:sp>
        <p:nvSpPr>
          <p:cNvPr id="16" name="Text 13"/>
          <p:cNvSpPr/>
          <p:nvPr/>
        </p:nvSpPr>
        <p:spPr>
          <a:xfrm>
            <a:off x="1828800" y="2363724"/>
            <a:ext cx="2651760" cy="690372"/>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Random Forest, GBT, Neural Networks</a:t>
            </a:r>
            <a:endParaRPr lang="en-US" sz="1200" dirty="0"/>
          </a:p>
        </p:txBody>
      </p:sp>
      <p:sp>
        <p:nvSpPr>
          <p:cNvPr id="17" name="Shape 14"/>
          <p:cNvSpPr/>
          <p:nvPr/>
        </p:nvSpPr>
        <p:spPr>
          <a:xfrm>
            <a:off x="365760" y="3054096"/>
            <a:ext cx="4114800" cy="690372"/>
          </a:xfrm>
          <a:prstGeom prst="rect">
            <a:avLst/>
          </a:prstGeom>
          <a:solidFill>
            <a:srgbClr val="F5F8FF"/>
          </a:solidFill>
          <a:ln w="12700">
            <a:solidFill>
              <a:srgbClr val="D8D8D8"/>
            </a:solidFill>
            <a:prstDash val="solid"/>
          </a:ln>
        </p:spPr>
      </p:sp>
      <p:sp>
        <p:nvSpPr>
          <p:cNvPr id="18" name="Shape 15"/>
          <p:cNvSpPr/>
          <p:nvPr/>
        </p:nvSpPr>
        <p:spPr>
          <a:xfrm>
            <a:off x="365760" y="3054096"/>
            <a:ext cx="1417320" cy="690372"/>
          </a:xfrm>
          <a:prstGeom prst="rect">
            <a:avLst/>
          </a:prstGeom>
          <a:solidFill>
            <a:srgbClr val="E8EDF5"/>
          </a:solidFill>
          <a:ln w="12700">
            <a:solidFill>
              <a:srgbClr val="D0D0D0"/>
            </a:solidFill>
            <a:prstDash val="solid"/>
          </a:ln>
        </p:spPr>
      </p:sp>
      <p:sp>
        <p:nvSpPr>
          <p:cNvPr id="19" name="Text 16"/>
          <p:cNvSpPr/>
          <p:nvPr/>
        </p:nvSpPr>
        <p:spPr>
          <a:xfrm>
            <a:off x="411480" y="3054096"/>
            <a:ext cx="1344168" cy="690372"/>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Performance</a:t>
            </a:r>
            <a:endParaRPr lang="en-US" sz="1200" dirty="0"/>
          </a:p>
        </p:txBody>
      </p:sp>
      <p:sp>
        <p:nvSpPr>
          <p:cNvPr id="20" name="Text 17"/>
          <p:cNvSpPr/>
          <p:nvPr/>
        </p:nvSpPr>
        <p:spPr>
          <a:xfrm>
            <a:off x="1828800" y="3054096"/>
            <a:ext cx="2651760" cy="690372"/>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Random Forest: 98.5% (Best)</a:t>
            </a:r>
          </a:p>
          <a:p>
            <a:pPr marL="0" indent="0">
              <a:buNone/>
            </a:pPr>
            <a:r>
              <a:rPr lang="en-US" sz="1200" dirty="0">
                <a:solidFill>
                  <a:srgbClr val="3D3D3D"/>
                </a:solidFill>
                <a:latin typeface="Times New Roman" pitchFamily="34" charset="0"/>
                <a:ea typeface="Times New Roman" pitchFamily="34" charset="-122"/>
                <a:cs typeface="Times New Roman" pitchFamily="34" charset="-120"/>
              </a:rPr>
              <a:t>Gradient Boosted Trees (GBT): 97.2%</a:t>
            </a:r>
          </a:p>
          <a:p>
            <a:pPr marL="0" indent="0">
              <a:buNone/>
            </a:pPr>
            <a:r>
              <a:rPr lang="en-US" sz="1200" dirty="0">
                <a:solidFill>
                  <a:srgbClr val="3D3D3D"/>
                </a:solidFill>
                <a:latin typeface="Times New Roman" pitchFamily="34" charset="0"/>
                <a:ea typeface="Times New Roman" pitchFamily="34" charset="-122"/>
                <a:cs typeface="Times New Roman" pitchFamily="34" charset="-120"/>
              </a:rPr>
              <a:t>Neural Networks: 95.8%</a:t>
            </a:r>
            <a:endParaRPr lang="en-US" sz="1200" dirty="0"/>
          </a:p>
        </p:txBody>
      </p:sp>
      <p:sp>
        <p:nvSpPr>
          <p:cNvPr id="21" name="Shape 18"/>
          <p:cNvSpPr/>
          <p:nvPr/>
        </p:nvSpPr>
        <p:spPr>
          <a:xfrm>
            <a:off x="365760" y="3744468"/>
            <a:ext cx="4114800" cy="690372"/>
          </a:xfrm>
          <a:prstGeom prst="rect">
            <a:avLst/>
          </a:prstGeom>
          <a:solidFill>
            <a:srgbClr val="FFFFFF"/>
          </a:solidFill>
          <a:ln w="12700">
            <a:solidFill>
              <a:srgbClr val="D8D8D8"/>
            </a:solidFill>
            <a:prstDash val="solid"/>
          </a:ln>
        </p:spPr>
      </p:sp>
      <p:sp>
        <p:nvSpPr>
          <p:cNvPr id="22" name="Shape 19"/>
          <p:cNvSpPr/>
          <p:nvPr/>
        </p:nvSpPr>
        <p:spPr>
          <a:xfrm>
            <a:off x="365760" y="3744468"/>
            <a:ext cx="1417320" cy="690372"/>
          </a:xfrm>
          <a:prstGeom prst="rect">
            <a:avLst/>
          </a:prstGeom>
          <a:solidFill>
            <a:srgbClr val="E8EDF5"/>
          </a:solidFill>
          <a:ln w="12700">
            <a:solidFill>
              <a:srgbClr val="D0D0D0"/>
            </a:solidFill>
            <a:prstDash val="solid"/>
          </a:ln>
        </p:spPr>
      </p:sp>
      <p:sp>
        <p:nvSpPr>
          <p:cNvPr id="23" name="Text 20"/>
          <p:cNvSpPr/>
          <p:nvPr/>
        </p:nvSpPr>
        <p:spPr>
          <a:xfrm>
            <a:off x="411480" y="3744468"/>
            <a:ext cx="1344168" cy="690372"/>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Link</a:t>
            </a:r>
            <a:endParaRPr lang="en-US" sz="1200" dirty="0"/>
          </a:p>
        </p:txBody>
      </p:sp>
      <p:sp>
        <p:nvSpPr>
          <p:cNvPr id="24" name="Text 21"/>
          <p:cNvSpPr/>
          <p:nvPr/>
        </p:nvSpPr>
        <p:spPr>
          <a:xfrm>
            <a:off x="1828800" y="3744468"/>
            <a:ext cx="2651760" cy="690372"/>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ieeeexplore.ieee.org</a:t>
            </a:r>
            <a:endParaRPr lang="en-US" sz="1200" dirty="0"/>
          </a:p>
        </p:txBody>
      </p:sp>
      <p:sp>
        <p:nvSpPr>
          <p:cNvPr id="25" name="Shape 22"/>
          <p:cNvSpPr/>
          <p:nvPr/>
        </p:nvSpPr>
        <p:spPr>
          <a:xfrm>
            <a:off x="4663440" y="1325880"/>
            <a:ext cx="4114800" cy="347472"/>
          </a:xfrm>
          <a:prstGeom prst="rect">
            <a:avLst/>
          </a:prstGeom>
          <a:solidFill>
            <a:srgbClr val="1F3864"/>
          </a:solidFill>
          <a:ln w="12700">
            <a:solidFill>
              <a:srgbClr val="1F3864"/>
            </a:solidFill>
            <a:prstDash val="solid"/>
          </a:ln>
        </p:spPr>
      </p:sp>
      <p:sp>
        <p:nvSpPr>
          <p:cNvPr id="26" name="Text 23"/>
          <p:cNvSpPr/>
          <p:nvPr/>
        </p:nvSpPr>
        <p:spPr>
          <a:xfrm>
            <a:off x="4663440" y="1325880"/>
            <a:ext cx="4114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F.M. Delpino (2022) — Public Health (Elsevier)</a:t>
            </a:r>
            <a:endParaRPr lang="en-US" sz="1400" dirty="0"/>
          </a:p>
        </p:txBody>
      </p:sp>
      <p:sp>
        <p:nvSpPr>
          <p:cNvPr id="27" name="Shape 24"/>
          <p:cNvSpPr/>
          <p:nvPr/>
        </p:nvSpPr>
        <p:spPr>
          <a:xfrm>
            <a:off x="4663440" y="1673352"/>
            <a:ext cx="4114800" cy="690372"/>
          </a:xfrm>
          <a:prstGeom prst="rect">
            <a:avLst/>
          </a:prstGeom>
          <a:solidFill>
            <a:srgbClr val="F5F8FF"/>
          </a:solidFill>
          <a:ln w="12700">
            <a:solidFill>
              <a:srgbClr val="D8D8D8"/>
            </a:solidFill>
            <a:prstDash val="solid"/>
          </a:ln>
        </p:spPr>
      </p:sp>
      <p:sp>
        <p:nvSpPr>
          <p:cNvPr id="28" name="Shape 25"/>
          <p:cNvSpPr/>
          <p:nvPr/>
        </p:nvSpPr>
        <p:spPr>
          <a:xfrm>
            <a:off x="4663440" y="1673352"/>
            <a:ext cx="1417320" cy="690372"/>
          </a:xfrm>
          <a:prstGeom prst="rect">
            <a:avLst/>
          </a:prstGeom>
          <a:solidFill>
            <a:srgbClr val="E8EDF5"/>
          </a:solidFill>
          <a:ln w="12700">
            <a:solidFill>
              <a:srgbClr val="D0D0D0"/>
            </a:solidFill>
            <a:prstDash val="solid"/>
          </a:ln>
        </p:spPr>
      </p:sp>
      <p:sp>
        <p:nvSpPr>
          <p:cNvPr id="29" name="Text 26"/>
          <p:cNvSpPr/>
          <p:nvPr/>
        </p:nvSpPr>
        <p:spPr>
          <a:xfrm>
            <a:off x="4709160" y="1673352"/>
            <a:ext cx="1344168" cy="690372"/>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Aim</a:t>
            </a:r>
            <a:endParaRPr lang="en-US" sz="1200" dirty="0"/>
          </a:p>
        </p:txBody>
      </p:sp>
      <p:sp>
        <p:nvSpPr>
          <p:cNvPr id="30" name="Text 27"/>
          <p:cNvSpPr/>
          <p:nvPr/>
        </p:nvSpPr>
        <p:spPr>
          <a:xfrm>
            <a:off x="6126480" y="1673352"/>
            <a:ext cx="2651760" cy="690372"/>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Systematic review of ML for chronic disease prediction</a:t>
            </a:r>
            <a:endParaRPr lang="en-US" sz="1200" dirty="0"/>
          </a:p>
        </p:txBody>
      </p:sp>
      <p:sp>
        <p:nvSpPr>
          <p:cNvPr id="31" name="Shape 28"/>
          <p:cNvSpPr/>
          <p:nvPr/>
        </p:nvSpPr>
        <p:spPr>
          <a:xfrm>
            <a:off x="4663440" y="2363724"/>
            <a:ext cx="4114800" cy="690372"/>
          </a:xfrm>
          <a:prstGeom prst="rect">
            <a:avLst/>
          </a:prstGeom>
          <a:solidFill>
            <a:srgbClr val="FFFFFF"/>
          </a:solidFill>
          <a:ln w="12700">
            <a:solidFill>
              <a:srgbClr val="D8D8D8"/>
            </a:solidFill>
            <a:prstDash val="solid"/>
          </a:ln>
        </p:spPr>
      </p:sp>
      <p:sp>
        <p:nvSpPr>
          <p:cNvPr id="32" name="Shape 29"/>
          <p:cNvSpPr/>
          <p:nvPr/>
        </p:nvSpPr>
        <p:spPr>
          <a:xfrm>
            <a:off x="4663440" y="2363724"/>
            <a:ext cx="1417320" cy="690372"/>
          </a:xfrm>
          <a:prstGeom prst="rect">
            <a:avLst/>
          </a:prstGeom>
          <a:solidFill>
            <a:srgbClr val="E8EDF5"/>
          </a:solidFill>
          <a:ln w="12700">
            <a:solidFill>
              <a:srgbClr val="D0D0D0"/>
            </a:solidFill>
            <a:prstDash val="solid"/>
          </a:ln>
        </p:spPr>
      </p:sp>
      <p:sp>
        <p:nvSpPr>
          <p:cNvPr id="33" name="Text 30"/>
          <p:cNvSpPr/>
          <p:nvPr/>
        </p:nvSpPr>
        <p:spPr>
          <a:xfrm>
            <a:off x="4709160" y="2363724"/>
            <a:ext cx="1344168" cy="690372"/>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Model</a:t>
            </a:r>
            <a:endParaRPr lang="en-US" sz="1200" dirty="0"/>
          </a:p>
        </p:txBody>
      </p:sp>
      <p:sp>
        <p:nvSpPr>
          <p:cNvPr id="34" name="Text 31"/>
          <p:cNvSpPr/>
          <p:nvPr/>
        </p:nvSpPr>
        <p:spPr>
          <a:xfrm>
            <a:off x="6126480" y="2363724"/>
            <a:ext cx="2651760" cy="690372"/>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Meta-analysis (SVM, LR, DT)</a:t>
            </a:r>
            <a:endParaRPr lang="en-US" sz="1200" dirty="0"/>
          </a:p>
        </p:txBody>
      </p:sp>
      <p:sp>
        <p:nvSpPr>
          <p:cNvPr id="35" name="Shape 32"/>
          <p:cNvSpPr/>
          <p:nvPr/>
        </p:nvSpPr>
        <p:spPr>
          <a:xfrm>
            <a:off x="4663440" y="3054096"/>
            <a:ext cx="4114800" cy="690372"/>
          </a:xfrm>
          <a:prstGeom prst="rect">
            <a:avLst/>
          </a:prstGeom>
          <a:solidFill>
            <a:srgbClr val="F5F8FF"/>
          </a:solidFill>
          <a:ln w="12700">
            <a:solidFill>
              <a:srgbClr val="D8D8D8"/>
            </a:solidFill>
            <a:prstDash val="solid"/>
          </a:ln>
        </p:spPr>
      </p:sp>
      <p:sp>
        <p:nvSpPr>
          <p:cNvPr id="36" name="Shape 33"/>
          <p:cNvSpPr/>
          <p:nvPr/>
        </p:nvSpPr>
        <p:spPr>
          <a:xfrm>
            <a:off x="4663440" y="3054096"/>
            <a:ext cx="1417320" cy="690372"/>
          </a:xfrm>
          <a:prstGeom prst="rect">
            <a:avLst/>
          </a:prstGeom>
          <a:solidFill>
            <a:srgbClr val="E8EDF5"/>
          </a:solidFill>
          <a:ln w="12700">
            <a:solidFill>
              <a:srgbClr val="D0D0D0"/>
            </a:solidFill>
            <a:prstDash val="solid"/>
          </a:ln>
        </p:spPr>
      </p:sp>
      <p:sp>
        <p:nvSpPr>
          <p:cNvPr id="37" name="Text 34"/>
          <p:cNvSpPr/>
          <p:nvPr/>
        </p:nvSpPr>
        <p:spPr>
          <a:xfrm>
            <a:off x="4709160" y="3054096"/>
            <a:ext cx="1344168" cy="690372"/>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Performance</a:t>
            </a:r>
            <a:endParaRPr lang="en-US" sz="1200" dirty="0"/>
          </a:p>
        </p:txBody>
      </p:sp>
      <p:sp>
        <p:nvSpPr>
          <p:cNvPr id="38" name="Text 35"/>
          <p:cNvSpPr/>
          <p:nvPr/>
        </p:nvSpPr>
        <p:spPr>
          <a:xfrm>
            <a:off x="6126480" y="3054096"/>
            <a:ext cx="2651760" cy="690372"/>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SVM [0.88-0.95]</a:t>
            </a:r>
          </a:p>
          <a:p>
            <a:pPr marL="0" indent="0">
              <a:buNone/>
            </a:pPr>
            <a:r>
              <a:rPr lang="en-US" sz="1200" dirty="0">
                <a:solidFill>
                  <a:srgbClr val="3D3D3D"/>
                </a:solidFill>
                <a:latin typeface="Times New Roman" pitchFamily="34" charset="0"/>
                <a:ea typeface="Times New Roman" pitchFamily="34" charset="-122"/>
                <a:cs typeface="Times New Roman" pitchFamily="34" charset="-120"/>
              </a:rPr>
              <a:t>Logistic Reg. [0.74-0.89]</a:t>
            </a:r>
          </a:p>
          <a:p>
            <a:pPr marL="0" indent="0">
              <a:buNone/>
            </a:pPr>
            <a:r>
              <a:rPr lang="en-US" sz="1200" dirty="0">
                <a:solidFill>
                  <a:srgbClr val="3D3D3D"/>
                </a:solidFill>
                <a:latin typeface="Times New Roman" pitchFamily="34" charset="0"/>
                <a:ea typeface="Times New Roman" pitchFamily="34" charset="-122"/>
                <a:cs typeface="Times New Roman" pitchFamily="34" charset="-120"/>
              </a:rPr>
              <a:t>Decision Tree [0.82-0.91]</a:t>
            </a:r>
            <a:endParaRPr lang="en-US" sz="1200" dirty="0"/>
          </a:p>
        </p:txBody>
      </p:sp>
      <p:sp>
        <p:nvSpPr>
          <p:cNvPr id="39" name="Shape 36"/>
          <p:cNvSpPr/>
          <p:nvPr/>
        </p:nvSpPr>
        <p:spPr>
          <a:xfrm>
            <a:off x="4663440" y="3744468"/>
            <a:ext cx="4114800" cy="690372"/>
          </a:xfrm>
          <a:prstGeom prst="rect">
            <a:avLst/>
          </a:prstGeom>
          <a:solidFill>
            <a:srgbClr val="FFFFFF"/>
          </a:solidFill>
          <a:ln w="12700">
            <a:solidFill>
              <a:srgbClr val="D8D8D8"/>
            </a:solidFill>
            <a:prstDash val="solid"/>
          </a:ln>
        </p:spPr>
      </p:sp>
      <p:sp>
        <p:nvSpPr>
          <p:cNvPr id="40" name="Shape 37"/>
          <p:cNvSpPr/>
          <p:nvPr/>
        </p:nvSpPr>
        <p:spPr>
          <a:xfrm>
            <a:off x="4663440" y="3744468"/>
            <a:ext cx="1417320" cy="690372"/>
          </a:xfrm>
          <a:prstGeom prst="rect">
            <a:avLst/>
          </a:prstGeom>
          <a:solidFill>
            <a:srgbClr val="E8EDF5"/>
          </a:solidFill>
          <a:ln w="12700">
            <a:solidFill>
              <a:srgbClr val="D0D0D0"/>
            </a:solidFill>
            <a:prstDash val="solid"/>
          </a:ln>
        </p:spPr>
      </p:sp>
      <p:sp>
        <p:nvSpPr>
          <p:cNvPr id="41" name="Text 38"/>
          <p:cNvSpPr/>
          <p:nvPr/>
        </p:nvSpPr>
        <p:spPr>
          <a:xfrm>
            <a:off x="4709160" y="3744468"/>
            <a:ext cx="1344168" cy="690372"/>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Link</a:t>
            </a:r>
            <a:endParaRPr lang="en-US" sz="1200" dirty="0"/>
          </a:p>
        </p:txBody>
      </p:sp>
      <p:sp>
        <p:nvSpPr>
          <p:cNvPr id="42" name="Text 39"/>
          <p:cNvSpPr/>
          <p:nvPr/>
        </p:nvSpPr>
        <p:spPr>
          <a:xfrm>
            <a:off x="6126480" y="3744468"/>
            <a:ext cx="2651760" cy="690372"/>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doi.org/10.1016/j.puhe.2022.01.007</a:t>
            </a:r>
            <a:endParaRPr lang="en-US" sz="1200" dirty="0"/>
          </a:p>
        </p:txBody>
      </p:sp>
      <p:pic>
        <p:nvPicPr>
          <p:cNvPr id="43" name="Image 0" descr="preencoded.png">
            <a:extLst>
              <a:ext uri="{FF2B5EF4-FFF2-40B4-BE49-F238E27FC236}">
                <a16:creationId xmlns:a16="http://schemas.microsoft.com/office/drawing/2014/main" id="{A155C25C-E34E-C164-FCD5-1340D86F6C56}"/>
              </a:ext>
            </a:extLst>
          </p:cNvPr>
          <p:cNvPicPr>
            <a:picLocks noChangeAspect="1"/>
          </p:cNvPicPr>
          <p:nvPr/>
        </p:nvPicPr>
        <p:blipFill>
          <a:blip r:embed="rId3"/>
          <a:stretch>
            <a:fillRect/>
          </a:stretch>
        </p:blipFill>
        <p:spPr>
          <a:xfrm>
            <a:off x="0" y="126492"/>
            <a:ext cx="1143000" cy="475488"/>
          </a:xfrm>
          <a:prstGeom prst="rect">
            <a:avLst/>
          </a:prstGeom>
        </p:spPr>
      </p:pic>
      <p:grpSp>
        <p:nvGrpSpPr>
          <p:cNvPr id="44" name="Group 43">
            <a:extLst>
              <a:ext uri="{FF2B5EF4-FFF2-40B4-BE49-F238E27FC236}">
                <a16:creationId xmlns:a16="http://schemas.microsoft.com/office/drawing/2014/main" id="{BA6839C1-DBAB-D9AF-47DF-90865632A6F4}"/>
              </a:ext>
            </a:extLst>
          </p:cNvPr>
          <p:cNvGrpSpPr/>
          <p:nvPr/>
        </p:nvGrpSpPr>
        <p:grpSpPr>
          <a:xfrm>
            <a:off x="7960583" y="126493"/>
            <a:ext cx="1143001" cy="475487"/>
            <a:chOff x="6173572" y="2276778"/>
            <a:chExt cx="2555268" cy="1333578"/>
          </a:xfrm>
        </p:grpSpPr>
        <p:pic>
          <p:nvPicPr>
            <p:cNvPr id="45" name="Picture 44" descr="A logo with blue and orange lines  AI-generated content may be incorrect.">
              <a:extLst>
                <a:ext uri="{FF2B5EF4-FFF2-40B4-BE49-F238E27FC236}">
                  <a16:creationId xmlns:a16="http://schemas.microsoft.com/office/drawing/2014/main" id="{0605FA33-5C4C-577D-1C90-2FCB539A9DF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173572" y="2276778"/>
              <a:ext cx="936104" cy="1295756"/>
            </a:xfrm>
            <a:prstGeom prst="rect">
              <a:avLst/>
            </a:prstGeom>
            <a:noFill/>
            <a:ln>
              <a:noFill/>
            </a:ln>
          </p:spPr>
        </p:pic>
        <p:pic>
          <p:nvPicPr>
            <p:cNvPr id="46" name="Picture 45">
              <a:extLst>
                <a:ext uri="{FF2B5EF4-FFF2-40B4-BE49-F238E27FC236}">
                  <a16:creationId xmlns:a16="http://schemas.microsoft.com/office/drawing/2014/main" id="{13D03AC6-C361-E52D-0482-748448888920}"/>
                </a:ext>
              </a:extLst>
            </p:cNvPr>
            <p:cNvPicPr>
              <a:picLocks noChangeAspect="1"/>
            </p:cNvPicPr>
            <p:nvPr/>
          </p:nvPicPr>
          <p:blipFill rotWithShape="1">
            <a:blip r:embed="rId5">
              <a:extLst>
                <a:ext uri="{28A0092B-C50C-407E-A947-70E740481C1C}">
                  <a14:useLocalDpi xmlns:a14="http://schemas.microsoft.com/office/drawing/2010/main" val="0"/>
                </a:ext>
              </a:extLst>
            </a:blip>
            <a:srcRect l="30270" r="31417" b="2264"/>
            <a:stretch/>
          </p:blipFill>
          <p:spPr bwMode="auto">
            <a:xfrm>
              <a:off x="7178602" y="2276778"/>
              <a:ext cx="1550238" cy="1333578"/>
            </a:xfrm>
            <a:prstGeom prst="rect">
              <a:avLst/>
            </a:prstGeom>
            <a:ln>
              <a:noFill/>
            </a:ln>
            <a:extLst>
              <a:ext uri="{53640926-AAD7-44D8-BBD7-CCE9431645EC}">
                <a14:shadowObscured xmlns:a14="http://schemas.microsoft.com/office/drawing/2010/main"/>
              </a:ext>
            </a:ex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ea typeface="Times New Roman" pitchFamily="34" charset="-122"/>
                <a:cs typeface="Times New Roman" pitchFamily="34" charset="-120"/>
              </a:rPr>
              <a:t>Literature Review: Clinical Explainable AI (XAI)</a:t>
            </a:r>
            <a:endParaRPr lang="en-US" sz="2600" dirty="0"/>
          </a:p>
        </p:txBody>
      </p:sp>
      <p:sp>
        <p:nvSpPr>
          <p:cNvPr id="4" name="Shape 1"/>
          <p:cNvSpPr/>
          <p:nvPr/>
        </p:nvSpPr>
        <p:spPr>
          <a:xfrm>
            <a:off x="365760" y="1069848"/>
            <a:ext cx="8412480" cy="20117"/>
          </a:xfrm>
          <a:prstGeom prst="rect">
            <a:avLst/>
          </a:prstGeom>
          <a:solidFill>
            <a:srgbClr val="3D3D3D"/>
          </a:solidFill>
          <a:ln w="12700">
            <a:solidFill>
              <a:srgbClr val="3D3D3D"/>
            </a:solidFill>
            <a:prstDash val="solid"/>
          </a:ln>
        </p:spPr>
      </p:sp>
      <p:sp>
        <p:nvSpPr>
          <p:cNvPr id="5" name="Shape 2"/>
          <p:cNvSpPr/>
          <p:nvPr/>
        </p:nvSpPr>
        <p:spPr>
          <a:xfrm>
            <a:off x="0" y="4850892"/>
            <a:ext cx="9144000" cy="292608"/>
          </a:xfrm>
          <a:prstGeom prst="rect">
            <a:avLst/>
          </a:prstGeom>
          <a:solidFill>
            <a:srgbClr val="E87722"/>
          </a:solidFill>
          <a:ln w="12700">
            <a:solidFill>
              <a:srgbClr val="E87722"/>
            </a:solidFill>
            <a:prstDash val="solid"/>
          </a:ln>
        </p:spPr>
      </p:sp>
      <p:sp>
        <p:nvSpPr>
          <p:cNvPr id="6" name="Text 3"/>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cs typeface="Times New Roman" pitchFamily="34" charset="-120"/>
              </a:rPr>
              <a:t>8</a:t>
            </a:r>
            <a:endParaRPr lang="en-US" sz="1400" dirty="0"/>
          </a:p>
        </p:txBody>
      </p:sp>
      <p:sp>
        <p:nvSpPr>
          <p:cNvPr id="7" name="Shape 4"/>
          <p:cNvSpPr/>
          <p:nvPr/>
        </p:nvSpPr>
        <p:spPr>
          <a:xfrm>
            <a:off x="365760" y="1325880"/>
            <a:ext cx="4114800" cy="347472"/>
          </a:xfrm>
          <a:prstGeom prst="rect">
            <a:avLst/>
          </a:prstGeom>
          <a:solidFill>
            <a:srgbClr val="1F3864"/>
          </a:solidFill>
          <a:ln w="12700">
            <a:solidFill>
              <a:srgbClr val="1F3864"/>
            </a:solidFill>
            <a:prstDash val="solid"/>
          </a:ln>
        </p:spPr>
      </p:sp>
      <p:sp>
        <p:nvSpPr>
          <p:cNvPr id="8" name="Text 5"/>
          <p:cNvSpPr/>
          <p:nvPr/>
        </p:nvSpPr>
        <p:spPr>
          <a:xfrm>
            <a:off x="365760" y="1325880"/>
            <a:ext cx="4114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Qaiser Abbas (2025) — Cureus (PMC/PubMed)</a:t>
            </a:r>
            <a:endParaRPr lang="en-US" sz="1400" dirty="0"/>
          </a:p>
        </p:txBody>
      </p:sp>
      <p:sp>
        <p:nvSpPr>
          <p:cNvPr id="9" name="Shape 6"/>
          <p:cNvSpPr/>
          <p:nvPr/>
        </p:nvSpPr>
        <p:spPr>
          <a:xfrm>
            <a:off x="365760" y="1673352"/>
            <a:ext cx="4114800" cy="862965"/>
          </a:xfrm>
          <a:prstGeom prst="rect">
            <a:avLst/>
          </a:prstGeom>
          <a:solidFill>
            <a:srgbClr val="F5F8FF"/>
          </a:solidFill>
          <a:ln w="12700">
            <a:solidFill>
              <a:srgbClr val="D8D8D8"/>
            </a:solidFill>
            <a:prstDash val="solid"/>
          </a:ln>
        </p:spPr>
      </p:sp>
      <p:sp>
        <p:nvSpPr>
          <p:cNvPr id="10" name="Shape 7"/>
          <p:cNvSpPr/>
          <p:nvPr/>
        </p:nvSpPr>
        <p:spPr>
          <a:xfrm>
            <a:off x="365760" y="1673352"/>
            <a:ext cx="1417320" cy="862965"/>
          </a:xfrm>
          <a:prstGeom prst="rect">
            <a:avLst/>
          </a:prstGeom>
          <a:solidFill>
            <a:srgbClr val="E8EDF5"/>
          </a:solidFill>
          <a:ln w="12700">
            <a:solidFill>
              <a:srgbClr val="D0D0D0"/>
            </a:solidFill>
            <a:prstDash val="solid"/>
          </a:ln>
        </p:spPr>
      </p:sp>
      <p:sp>
        <p:nvSpPr>
          <p:cNvPr id="11" name="Text 8"/>
          <p:cNvSpPr/>
          <p:nvPr/>
        </p:nvSpPr>
        <p:spPr>
          <a:xfrm>
            <a:off x="411480" y="1673352"/>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Aim</a:t>
            </a:r>
            <a:endParaRPr lang="en-US" sz="1200" dirty="0"/>
          </a:p>
        </p:txBody>
      </p:sp>
      <p:sp>
        <p:nvSpPr>
          <p:cNvPr id="12" name="Text 9"/>
          <p:cNvSpPr/>
          <p:nvPr/>
        </p:nvSpPr>
        <p:spPr>
          <a:xfrm>
            <a:off x="1828800" y="1673352"/>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Analyzing XAI in clinical decision support systems</a:t>
            </a:r>
            <a:endParaRPr lang="en-US" sz="1200" dirty="0"/>
          </a:p>
        </p:txBody>
      </p:sp>
      <p:sp>
        <p:nvSpPr>
          <p:cNvPr id="13" name="Shape 10"/>
          <p:cNvSpPr/>
          <p:nvPr/>
        </p:nvSpPr>
        <p:spPr>
          <a:xfrm>
            <a:off x="365760" y="2536317"/>
            <a:ext cx="4114800" cy="862965"/>
          </a:xfrm>
          <a:prstGeom prst="rect">
            <a:avLst/>
          </a:prstGeom>
          <a:solidFill>
            <a:srgbClr val="FFFFFF"/>
          </a:solidFill>
          <a:ln w="12700">
            <a:solidFill>
              <a:srgbClr val="D8D8D8"/>
            </a:solidFill>
            <a:prstDash val="solid"/>
          </a:ln>
        </p:spPr>
      </p:sp>
      <p:sp>
        <p:nvSpPr>
          <p:cNvPr id="14" name="Shape 11"/>
          <p:cNvSpPr/>
          <p:nvPr/>
        </p:nvSpPr>
        <p:spPr>
          <a:xfrm>
            <a:off x="365760" y="2536317"/>
            <a:ext cx="1417320" cy="862965"/>
          </a:xfrm>
          <a:prstGeom prst="rect">
            <a:avLst/>
          </a:prstGeom>
          <a:solidFill>
            <a:srgbClr val="E8EDF5"/>
          </a:solidFill>
          <a:ln w="12700">
            <a:solidFill>
              <a:srgbClr val="D0D0D0"/>
            </a:solidFill>
            <a:prstDash val="solid"/>
          </a:ln>
        </p:spPr>
      </p:sp>
      <p:sp>
        <p:nvSpPr>
          <p:cNvPr id="15" name="Text 12"/>
          <p:cNvSpPr/>
          <p:nvPr/>
        </p:nvSpPr>
        <p:spPr>
          <a:xfrm>
            <a:off x="411480" y="2536317"/>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Model</a:t>
            </a:r>
            <a:endParaRPr lang="en-US" sz="1200" dirty="0"/>
          </a:p>
        </p:txBody>
      </p:sp>
      <p:sp>
        <p:nvSpPr>
          <p:cNvPr id="16" name="Text 13"/>
          <p:cNvSpPr/>
          <p:nvPr/>
        </p:nvSpPr>
        <p:spPr>
          <a:xfrm>
            <a:off x="1828800" y="2536317"/>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SHAP, LIME, Attention Mechanisms</a:t>
            </a:r>
            <a:endParaRPr lang="en-US" sz="1200" dirty="0"/>
          </a:p>
        </p:txBody>
      </p:sp>
      <p:sp>
        <p:nvSpPr>
          <p:cNvPr id="17" name="Shape 14"/>
          <p:cNvSpPr/>
          <p:nvPr/>
        </p:nvSpPr>
        <p:spPr>
          <a:xfrm>
            <a:off x="365760" y="3399282"/>
            <a:ext cx="4114800" cy="862965"/>
          </a:xfrm>
          <a:prstGeom prst="rect">
            <a:avLst/>
          </a:prstGeom>
          <a:solidFill>
            <a:srgbClr val="F5F8FF"/>
          </a:solidFill>
          <a:ln w="12700">
            <a:solidFill>
              <a:srgbClr val="D8D8D8"/>
            </a:solidFill>
            <a:prstDash val="solid"/>
          </a:ln>
        </p:spPr>
      </p:sp>
      <p:sp>
        <p:nvSpPr>
          <p:cNvPr id="18" name="Shape 15"/>
          <p:cNvSpPr/>
          <p:nvPr/>
        </p:nvSpPr>
        <p:spPr>
          <a:xfrm>
            <a:off x="365760" y="3399282"/>
            <a:ext cx="1417320" cy="862965"/>
          </a:xfrm>
          <a:prstGeom prst="rect">
            <a:avLst/>
          </a:prstGeom>
          <a:solidFill>
            <a:srgbClr val="E8EDF5"/>
          </a:solidFill>
          <a:ln w="12700">
            <a:solidFill>
              <a:srgbClr val="D0D0D0"/>
            </a:solidFill>
            <a:prstDash val="solid"/>
          </a:ln>
        </p:spPr>
      </p:sp>
      <p:sp>
        <p:nvSpPr>
          <p:cNvPr id="19" name="Text 16"/>
          <p:cNvSpPr/>
          <p:nvPr/>
        </p:nvSpPr>
        <p:spPr>
          <a:xfrm>
            <a:off x="411480" y="3399282"/>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Research Gap</a:t>
            </a:r>
            <a:endParaRPr lang="en-US" sz="1200" dirty="0"/>
          </a:p>
        </p:txBody>
      </p:sp>
      <p:sp>
        <p:nvSpPr>
          <p:cNvPr id="20" name="Text 17"/>
          <p:cNvSpPr/>
          <p:nvPr/>
        </p:nvSpPr>
        <p:spPr>
          <a:xfrm>
            <a:off x="1828800" y="3399282"/>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"Black-box" models hinder clinical adoption</a:t>
            </a:r>
            <a:endParaRPr lang="en-US" sz="1200" dirty="0"/>
          </a:p>
        </p:txBody>
      </p:sp>
      <p:sp>
        <p:nvSpPr>
          <p:cNvPr id="21" name="Shape 18"/>
          <p:cNvSpPr/>
          <p:nvPr/>
        </p:nvSpPr>
        <p:spPr>
          <a:xfrm>
            <a:off x="4663440" y="1325880"/>
            <a:ext cx="4114800" cy="347472"/>
          </a:xfrm>
          <a:prstGeom prst="rect">
            <a:avLst/>
          </a:prstGeom>
          <a:solidFill>
            <a:srgbClr val="1F3864"/>
          </a:solidFill>
          <a:ln w="12700">
            <a:solidFill>
              <a:srgbClr val="1F3864"/>
            </a:solidFill>
            <a:prstDash val="solid"/>
          </a:ln>
        </p:spPr>
      </p:sp>
      <p:sp>
        <p:nvSpPr>
          <p:cNvPr id="22" name="Text 19"/>
          <p:cNvSpPr/>
          <p:nvPr/>
        </p:nvSpPr>
        <p:spPr>
          <a:xfrm>
            <a:off x="4663440" y="1325880"/>
            <a:ext cx="4114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Jinsun Jung (2025) — Int. Journal of Medical Informatics</a:t>
            </a:r>
            <a:endParaRPr lang="en-US" sz="1400" dirty="0"/>
          </a:p>
        </p:txBody>
      </p:sp>
      <p:sp>
        <p:nvSpPr>
          <p:cNvPr id="23" name="Shape 20"/>
          <p:cNvSpPr/>
          <p:nvPr/>
        </p:nvSpPr>
        <p:spPr>
          <a:xfrm>
            <a:off x="4663440" y="1673352"/>
            <a:ext cx="4114800" cy="862965"/>
          </a:xfrm>
          <a:prstGeom prst="rect">
            <a:avLst/>
          </a:prstGeom>
          <a:solidFill>
            <a:srgbClr val="F5F8FF"/>
          </a:solidFill>
          <a:ln w="12700">
            <a:solidFill>
              <a:srgbClr val="D8D8D8"/>
            </a:solidFill>
            <a:prstDash val="solid"/>
          </a:ln>
        </p:spPr>
      </p:sp>
      <p:sp>
        <p:nvSpPr>
          <p:cNvPr id="24" name="Shape 21"/>
          <p:cNvSpPr/>
          <p:nvPr/>
        </p:nvSpPr>
        <p:spPr>
          <a:xfrm>
            <a:off x="4663440" y="1673352"/>
            <a:ext cx="1417320" cy="862965"/>
          </a:xfrm>
          <a:prstGeom prst="rect">
            <a:avLst/>
          </a:prstGeom>
          <a:solidFill>
            <a:srgbClr val="E8EDF5"/>
          </a:solidFill>
          <a:ln w="12700">
            <a:solidFill>
              <a:srgbClr val="D0D0D0"/>
            </a:solidFill>
            <a:prstDash val="solid"/>
          </a:ln>
        </p:spPr>
      </p:sp>
      <p:sp>
        <p:nvSpPr>
          <p:cNvPr id="25" name="Text 22"/>
          <p:cNvSpPr/>
          <p:nvPr/>
        </p:nvSpPr>
        <p:spPr>
          <a:xfrm>
            <a:off x="4709160" y="1673352"/>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Aim</a:t>
            </a:r>
            <a:endParaRPr lang="en-US" sz="1200" dirty="0"/>
          </a:p>
        </p:txBody>
      </p:sp>
      <p:sp>
        <p:nvSpPr>
          <p:cNvPr id="26" name="Text 23"/>
          <p:cNvSpPr/>
          <p:nvPr/>
        </p:nvSpPr>
        <p:spPr>
          <a:xfrm>
            <a:off x="6126480" y="1673352"/>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Evaluating XAI impact on clinical trust</a:t>
            </a:r>
            <a:endParaRPr lang="en-US" sz="1200" dirty="0"/>
          </a:p>
        </p:txBody>
      </p:sp>
      <p:sp>
        <p:nvSpPr>
          <p:cNvPr id="27" name="Shape 24"/>
          <p:cNvSpPr/>
          <p:nvPr/>
        </p:nvSpPr>
        <p:spPr>
          <a:xfrm>
            <a:off x="4663440" y="2536317"/>
            <a:ext cx="4114800" cy="862965"/>
          </a:xfrm>
          <a:prstGeom prst="rect">
            <a:avLst/>
          </a:prstGeom>
          <a:solidFill>
            <a:srgbClr val="FFFFFF"/>
          </a:solidFill>
          <a:ln w="12700">
            <a:solidFill>
              <a:srgbClr val="D8D8D8"/>
            </a:solidFill>
            <a:prstDash val="solid"/>
          </a:ln>
        </p:spPr>
      </p:sp>
      <p:sp>
        <p:nvSpPr>
          <p:cNvPr id="28" name="Shape 25"/>
          <p:cNvSpPr/>
          <p:nvPr/>
        </p:nvSpPr>
        <p:spPr>
          <a:xfrm>
            <a:off x="4663440" y="2536317"/>
            <a:ext cx="1417320" cy="862965"/>
          </a:xfrm>
          <a:prstGeom prst="rect">
            <a:avLst/>
          </a:prstGeom>
          <a:solidFill>
            <a:srgbClr val="E8EDF5"/>
          </a:solidFill>
          <a:ln w="12700">
            <a:solidFill>
              <a:srgbClr val="D0D0D0"/>
            </a:solidFill>
            <a:prstDash val="solid"/>
          </a:ln>
        </p:spPr>
      </p:sp>
      <p:sp>
        <p:nvSpPr>
          <p:cNvPr id="29" name="Text 26"/>
          <p:cNvSpPr/>
          <p:nvPr/>
        </p:nvSpPr>
        <p:spPr>
          <a:xfrm>
            <a:off x="4709160" y="2536317"/>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Model</a:t>
            </a:r>
            <a:endParaRPr lang="en-US" sz="1200" dirty="0"/>
          </a:p>
        </p:txBody>
      </p:sp>
      <p:sp>
        <p:nvSpPr>
          <p:cNvPr id="30" name="Text 27"/>
          <p:cNvSpPr/>
          <p:nvPr/>
        </p:nvSpPr>
        <p:spPr>
          <a:xfrm>
            <a:off x="6126480" y="2536317"/>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Human-in-the-loop evaluation</a:t>
            </a:r>
            <a:endParaRPr lang="en-US" sz="1200" dirty="0"/>
          </a:p>
        </p:txBody>
      </p:sp>
      <p:sp>
        <p:nvSpPr>
          <p:cNvPr id="31" name="Shape 28"/>
          <p:cNvSpPr/>
          <p:nvPr/>
        </p:nvSpPr>
        <p:spPr>
          <a:xfrm>
            <a:off x="4663440" y="3399282"/>
            <a:ext cx="4114800" cy="862965"/>
          </a:xfrm>
          <a:prstGeom prst="rect">
            <a:avLst/>
          </a:prstGeom>
          <a:solidFill>
            <a:srgbClr val="F5F8FF"/>
          </a:solidFill>
          <a:ln w="12700">
            <a:solidFill>
              <a:srgbClr val="D8D8D8"/>
            </a:solidFill>
            <a:prstDash val="solid"/>
          </a:ln>
        </p:spPr>
      </p:sp>
      <p:sp>
        <p:nvSpPr>
          <p:cNvPr id="32" name="Shape 29"/>
          <p:cNvSpPr/>
          <p:nvPr/>
        </p:nvSpPr>
        <p:spPr>
          <a:xfrm>
            <a:off x="4663440" y="3399282"/>
            <a:ext cx="1417320" cy="862965"/>
          </a:xfrm>
          <a:prstGeom prst="rect">
            <a:avLst/>
          </a:prstGeom>
          <a:solidFill>
            <a:srgbClr val="E8EDF5"/>
          </a:solidFill>
          <a:ln w="12700">
            <a:solidFill>
              <a:srgbClr val="D0D0D0"/>
            </a:solidFill>
            <a:prstDash val="solid"/>
          </a:ln>
        </p:spPr>
      </p:sp>
      <p:sp>
        <p:nvSpPr>
          <p:cNvPr id="33" name="Text 30"/>
          <p:cNvSpPr/>
          <p:nvPr/>
        </p:nvSpPr>
        <p:spPr>
          <a:xfrm>
            <a:off x="4709160" y="3399282"/>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Research Gap</a:t>
            </a:r>
            <a:endParaRPr lang="en-US" sz="1200" dirty="0"/>
          </a:p>
        </p:txBody>
      </p:sp>
      <p:sp>
        <p:nvSpPr>
          <p:cNvPr id="34" name="Text 31"/>
          <p:cNvSpPr/>
          <p:nvPr/>
        </p:nvSpPr>
        <p:spPr>
          <a:xfrm>
            <a:off x="6126480" y="3399282"/>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Complexity vs. Interpretability tradeoff</a:t>
            </a:r>
            <a:endParaRPr lang="en-US" sz="1200" dirty="0"/>
          </a:p>
        </p:txBody>
      </p:sp>
      <p:pic>
        <p:nvPicPr>
          <p:cNvPr id="35" name="Image 0" descr="preencoded.png">
            <a:extLst>
              <a:ext uri="{FF2B5EF4-FFF2-40B4-BE49-F238E27FC236}">
                <a16:creationId xmlns:a16="http://schemas.microsoft.com/office/drawing/2014/main" id="{F784E3BE-7028-9C93-DD66-C1B04BEE716B}"/>
              </a:ext>
            </a:extLst>
          </p:cNvPr>
          <p:cNvPicPr>
            <a:picLocks noChangeAspect="1"/>
          </p:cNvPicPr>
          <p:nvPr/>
        </p:nvPicPr>
        <p:blipFill>
          <a:blip r:embed="rId3"/>
          <a:stretch>
            <a:fillRect/>
          </a:stretch>
        </p:blipFill>
        <p:spPr>
          <a:xfrm>
            <a:off x="0" y="126492"/>
            <a:ext cx="1143000" cy="475488"/>
          </a:xfrm>
          <a:prstGeom prst="rect">
            <a:avLst/>
          </a:prstGeom>
        </p:spPr>
      </p:pic>
      <p:grpSp>
        <p:nvGrpSpPr>
          <p:cNvPr id="36" name="Group 35">
            <a:extLst>
              <a:ext uri="{FF2B5EF4-FFF2-40B4-BE49-F238E27FC236}">
                <a16:creationId xmlns:a16="http://schemas.microsoft.com/office/drawing/2014/main" id="{C0EE8796-251B-D1C2-E489-126A78A8C56A}"/>
              </a:ext>
            </a:extLst>
          </p:cNvPr>
          <p:cNvGrpSpPr/>
          <p:nvPr/>
        </p:nvGrpSpPr>
        <p:grpSpPr>
          <a:xfrm>
            <a:off x="7960583" y="126493"/>
            <a:ext cx="1143001" cy="475487"/>
            <a:chOff x="6173572" y="2276778"/>
            <a:chExt cx="2555268" cy="1333578"/>
          </a:xfrm>
        </p:grpSpPr>
        <p:pic>
          <p:nvPicPr>
            <p:cNvPr id="37" name="Picture 36" descr="A logo with blue and orange lines  AI-generated content may be incorrect.">
              <a:extLst>
                <a:ext uri="{FF2B5EF4-FFF2-40B4-BE49-F238E27FC236}">
                  <a16:creationId xmlns:a16="http://schemas.microsoft.com/office/drawing/2014/main" id="{ED86AFD0-3F0C-07CD-D818-D0D675BAA5E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173572" y="2276778"/>
              <a:ext cx="936104" cy="1295756"/>
            </a:xfrm>
            <a:prstGeom prst="rect">
              <a:avLst/>
            </a:prstGeom>
            <a:noFill/>
            <a:ln>
              <a:noFill/>
            </a:ln>
          </p:spPr>
        </p:pic>
        <p:pic>
          <p:nvPicPr>
            <p:cNvPr id="38" name="Picture 37">
              <a:extLst>
                <a:ext uri="{FF2B5EF4-FFF2-40B4-BE49-F238E27FC236}">
                  <a16:creationId xmlns:a16="http://schemas.microsoft.com/office/drawing/2014/main" id="{518A9419-8022-516C-0083-8E9A459809A7}"/>
                </a:ext>
              </a:extLst>
            </p:cNvPr>
            <p:cNvPicPr>
              <a:picLocks noChangeAspect="1"/>
            </p:cNvPicPr>
            <p:nvPr/>
          </p:nvPicPr>
          <p:blipFill rotWithShape="1">
            <a:blip r:embed="rId5">
              <a:extLst>
                <a:ext uri="{28A0092B-C50C-407E-A947-70E740481C1C}">
                  <a14:useLocalDpi xmlns:a14="http://schemas.microsoft.com/office/drawing/2010/main" val="0"/>
                </a:ext>
              </a:extLst>
            </a:blip>
            <a:srcRect l="30270" r="31417" b="2264"/>
            <a:stretch/>
          </p:blipFill>
          <p:spPr bwMode="auto">
            <a:xfrm>
              <a:off x="7178602" y="2276778"/>
              <a:ext cx="1550238" cy="1333578"/>
            </a:xfrm>
            <a:prstGeom prst="rect">
              <a:avLst/>
            </a:prstGeom>
            <a:ln>
              <a:noFill/>
            </a:ln>
            <a:extLst>
              <a:ext uri="{53640926-AAD7-44D8-BBD7-CCE9431645EC}">
                <a14:shadowObscured xmlns:a14="http://schemas.microsoft.com/office/drawing/2010/main"/>
              </a:ext>
            </a:ex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ea typeface="Times New Roman" pitchFamily="34" charset="-122"/>
                <a:cs typeface="Times New Roman" pitchFamily="34" charset="-120"/>
              </a:rPr>
              <a:t>Literature Review: Multimodal &amp; Precision Diagnostics</a:t>
            </a:r>
            <a:endParaRPr lang="en-US" sz="2600" dirty="0"/>
          </a:p>
        </p:txBody>
      </p:sp>
      <p:sp>
        <p:nvSpPr>
          <p:cNvPr id="4" name="Shape 1"/>
          <p:cNvSpPr/>
          <p:nvPr/>
        </p:nvSpPr>
        <p:spPr>
          <a:xfrm>
            <a:off x="365760" y="1069848"/>
            <a:ext cx="8412480" cy="20117"/>
          </a:xfrm>
          <a:prstGeom prst="rect">
            <a:avLst/>
          </a:prstGeom>
          <a:solidFill>
            <a:srgbClr val="3D3D3D"/>
          </a:solidFill>
          <a:ln w="12700">
            <a:solidFill>
              <a:srgbClr val="3D3D3D"/>
            </a:solidFill>
            <a:prstDash val="solid"/>
          </a:ln>
        </p:spPr>
      </p:sp>
      <p:sp>
        <p:nvSpPr>
          <p:cNvPr id="5" name="Shape 2"/>
          <p:cNvSpPr/>
          <p:nvPr/>
        </p:nvSpPr>
        <p:spPr>
          <a:xfrm>
            <a:off x="0" y="4850892"/>
            <a:ext cx="9144000" cy="292608"/>
          </a:xfrm>
          <a:prstGeom prst="rect">
            <a:avLst/>
          </a:prstGeom>
          <a:solidFill>
            <a:srgbClr val="E87722"/>
          </a:solidFill>
          <a:ln w="12700">
            <a:solidFill>
              <a:srgbClr val="E87722"/>
            </a:solidFill>
            <a:prstDash val="solid"/>
          </a:ln>
        </p:spPr>
      </p:sp>
      <p:sp>
        <p:nvSpPr>
          <p:cNvPr id="6" name="Text 3"/>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cs typeface="Times New Roman" pitchFamily="34" charset="-120"/>
              </a:rPr>
              <a:t>9</a:t>
            </a:r>
            <a:endParaRPr lang="en-US" sz="1400" dirty="0"/>
          </a:p>
        </p:txBody>
      </p:sp>
      <p:sp>
        <p:nvSpPr>
          <p:cNvPr id="7" name="Shape 4"/>
          <p:cNvSpPr/>
          <p:nvPr/>
        </p:nvSpPr>
        <p:spPr>
          <a:xfrm>
            <a:off x="365760" y="1325880"/>
            <a:ext cx="4114800" cy="347472"/>
          </a:xfrm>
          <a:prstGeom prst="rect">
            <a:avLst/>
          </a:prstGeom>
          <a:solidFill>
            <a:srgbClr val="1F3864"/>
          </a:solidFill>
          <a:ln w="12700">
            <a:solidFill>
              <a:srgbClr val="1F3864"/>
            </a:solidFill>
            <a:prstDash val="solid"/>
          </a:ln>
        </p:spPr>
      </p:sp>
      <p:sp>
        <p:nvSpPr>
          <p:cNvPr id="8" name="Text 5"/>
          <p:cNvSpPr/>
          <p:nvPr/>
        </p:nvSpPr>
        <p:spPr>
          <a:xfrm>
            <a:off x="365760" y="1325880"/>
            <a:ext cx="4114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Nikolaos Nikolaou (2025) — Nature Communications</a:t>
            </a:r>
            <a:endParaRPr lang="en-US" sz="1400" dirty="0"/>
          </a:p>
        </p:txBody>
      </p:sp>
      <p:sp>
        <p:nvSpPr>
          <p:cNvPr id="9" name="Shape 6"/>
          <p:cNvSpPr/>
          <p:nvPr/>
        </p:nvSpPr>
        <p:spPr>
          <a:xfrm>
            <a:off x="365760" y="1673352"/>
            <a:ext cx="4114800" cy="862965"/>
          </a:xfrm>
          <a:prstGeom prst="rect">
            <a:avLst/>
          </a:prstGeom>
          <a:solidFill>
            <a:srgbClr val="F5F8FF"/>
          </a:solidFill>
          <a:ln w="12700">
            <a:solidFill>
              <a:srgbClr val="D8D8D8"/>
            </a:solidFill>
            <a:prstDash val="solid"/>
          </a:ln>
        </p:spPr>
      </p:sp>
      <p:sp>
        <p:nvSpPr>
          <p:cNvPr id="10" name="Shape 7"/>
          <p:cNvSpPr/>
          <p:nvPr/>
        </p:nvSpPr>
        <p:spPr>
          <a:xfrm>
            <a:off x="365760" y="1673352"/>
            <a:ext cx="1417320" cy="862965"/>
          </a:xfrm>
          <a:prstGeom prst="rect">
            <a:avLst/>
          </a:prstGeom>
          <a:solidFill>
            <a:srgbClr val="E8EDF5"/>
          </a:solidFill>
          <a:ln w="12700">
            <a:solidFill>
              <a:srgbClr val="D0D0D0"/>
            </a:solidFill>
            <a:prstDash val="solid"/>
          </a:ln>
        </p:spPr>
      </p:sp>
      <p:sp>
        <p:nvSpPr>
          <p:cNvPr id="11" name="Text 8"/>
          <p:cNvSpPr/>
          <p:nvPr/>
        </p:nvSpPr>
        <p:spPr>
          <a:xfrm>
            <a:off x="411480" y="1673352"/>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Aim</a:t>
            </a:r>
            <a:endParaRPr lang="en-US" sz="1200" dirty="0"/>
          </a:p>
        </p:txBody>
      </p:sp>
      <p:sp>
        <p:nvSpPr>
          <p:cNvPr id="12" name="Text 9"/>
          <p:cNvSpPr/>
          <p:nvPr/>
        </p:nvSpPr>
        <p:spPr>
          <a:xfrm>
            <a:off x="1828800" y="1673352"/>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Multimodal data fusion for precision oncology</a:t>
            </a:r>
            <a:endParaRPr lang="en-US" sz="1200" dirty="0"/>
          </a:p>
        </p:txBody>
      </p:sp>
      <p:sp>
        <p:nvSpPr>
          <p:cNvPr id="13" name="Shape 10"/>
          <p:cNvSpPr/>
          <p:nvPr/>
        </p:nvSpPr>
        <p:spPr>
          <a:xfrm>
            <a:off x="365760" y="2536317"/>
            <a:ext cx="4114800" cy="862965"/>
          </a:xfrm>
          <a:prstGeom prst="rect">
            <a:avLst/>
          </a:prstGeom>
          <a:solidFill>
            <a:srgbClr val="FFFFFF"/>
          </a:solidFill>
          <a:ln w="12700">
            <a:solidFill>
              <a:srgbClr val="D8D8D8"/>
            </a:solidFill>
            <a:prstDash val="solid"/>
          </a:ln>
        </p:spPr>
      </p:sp>
      <p:sp>
        <p:nvSpPr>
          <p:cNvPr id="14" name="Shape 11"/>
          <p:cNvSpPr/>
          <p:nvPr/>
        </p:nvSpPr>
        <p:spPr>
          <a:xfrm>
            <a:off x="365760" y="2536317"/>
            <a:ext cx="1417320" cy="862965"/>
          </a:xfrm>
          <a:prstGeom prst="rect">
            <a:avLst/>
          </a:prstGeom>
          <a:solidFill>
            <a:srgbClr val="E8EDF5"/>
          </a:solidFill>
          <a:ln w="12700">
            <a:solidFill>
              <a:srgbClr val="D0D0D0"/>
            </a:solidFill>
            <a:prstDash val="solid"/>
          </a:ln>
        </p:spPr>
      </p:sp>
      <p:sp>
        <p:nvSpPr>
          <p:cNvPr id="15" name="Text 12"/>
          <p:cNvSpPr/>
          <p:nvPr/>
        </p:nvSpPr>
        <p:spPr>
          <a:xfrm>
            <a:off x="411480" y="2536317"/>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Model</a:t>
            </a:r>
            <a:endParaRPr lang="en-US" sz="1200" dirty="0"/>
          </a:p>
        </p:txBody>
      </p:sp>
      <p:sp>
        <p:nvSpPr>
          <p:cNvPr id="16" name="Text 13"/>
          <p:cNvSpPr/>
          <p:nvPr/>
        </p:nvSpPr>
        <p:spPr>
          <a:xfrm>
            <a:off x="1828800" y="2536317"/>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Deep Fusion Networks</a:t>
            </a:r>
            <a:endParaRPr lang="en-US" sz="1200" dirty="0"/>
          </a:p>
        </p:txBody>
      </p:sp>
      <p:sp>
        <p:nvSpPr>
          <p:cNvPr id="17" name="Shape 14"/>
          <p:cNvSpPr/>
          <p:nvPr/>
        </p:nvSpPr>
        <p:spPr>
          <a:xfrm>
            <a:off x="365760" y="3399282"/>
            <a:ext cx="4114800" cy="862965"/>
          </a:xfrm>
          <a:prstGeom prst="rect">
            <a:avLst/>
          </a:prstGeom>
          <a:solidFill>
            <a:srgbClr val="F5F8FF"/>
          </a:solidFill>
          <a:ln w="12700">
            <a:solidFill>
              <a:srgbClr val="D8D8D8"/>
            </a:solidFill>
            <a:prstDash val="solid"/>
          </a:ln>
        </p:spPr>
      </p:sp>
      <p:sp>
        <p:nvSpPr>
          <p:cNvPr id="18" name="Shape 15"/>
          <p:cNvSpPr/>
          <p:nvPr/>
        </p:nvSpPr>
        <p:spPr>
          <a:xfrm>
            <a:off x="365760" y="3399282"/>
            <a:ext cx="1417320" cy="862965"/>
          </a:xfrm>
          <a:prstGeom prst="rect">
            <a:avLst/>
          </a:prstGeom>
          <a:solidFill>
            <a:srgbClr val="E8EDF5"/>
          </a:solidFill>
          <a:ln w="12700">
            <a:solidFill>
              <a:srgbClr val="D0D0D0"/>
            </a:solidFill>
            <a:prstDash val="solid"/>
          </a:ln>
        </p:spPr>
      </p:sp>
      <p:sp>
        <p:nvSpPr>
          <p:cNvPr id="19" name="Text 16"/>
          <p:cNvSpPr/>
          <p:nvPr/>
        </p:nvSpPr>
        <p:spPr>
          <a:xfrm>
            <a:off x="411480" y="3399282"/>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Key Feature</a:t>
            </a:r>
            <a:endParaRPr lang="en-US" sz="1200" dirty="0"/>
          </a:p>
        </p:txBody>
      </p:sp>
      <p:sp>
        <p:nvSpPr>
          <p:cNvPr id="20" name="Text 17"/>
          <p:cNvSpPr/>
          <p:nvPr/>
        </p:nvSpPr>
        <p:spPr>
          <a:xfrm>
            <a:off x="1828800" y="3399282"/>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Clinical + Genomic + Imaging</a:t>
            </a:r>
            <a:endParaRPr lang="en-US" sz="1200" dirty="0"/>
          </a:p>
        </p:txBody>
      </p:sp>
      <p:sp>
        <p:nvSpPr>
          <p:cNvPr id="21" name="Shape 18"/>
          <p:cNvSpPr/>
          <p:nvPr/>
        </p:nvSpPr>
        <p:spPr>
          <a:xfrm>
            <a:off x="4663440" y="1325880"/>
            <a:ext cx="4114800" cy="347472"/>
          </a:xfrm>
          <a:prstGeom prst="rect">
            <a:avLst/>
          </a:prstGeom>
          <a:solidFill>
            <a:srgbClr val="1F3864"/>
          </a:solidFill>
          <a:ln w="12700">
            <a:solidFill>
              <a:srgbClr val="1F3864"/>
            </a:solidFill>
            <a:prstDash val="solid"/>
          </a:ln>
        </p:spPr>
      </p:sp>
      <p:sp>
        <p:nvSpPr>
          <p:cNvPr id="22" name="Text 19"/>
          <p:cNvSpPr/>
          <p:nvPr/>
        </p:nvSpPr>
        <p:spPr>
          <a:xfrm>
            <a:off x="4663440" y="1325880"/>
            <a:ext cx="4114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Sachin Kumar (2024) — Diagnostics (PMC)</a:t>
            </a:r>
            <a:endParaRPr lang="en-US" sz="1400" dirty="0"/>
          </a:p>
        </p:txBody>
      </p:sp>
      <p:sp>
        <p:nvSpPr>
          <p:cNvPr id="23" name="Shape 20"/>
          <p:cNvSpPr/>
          <p:nvPr/>
        </p:nvSpPr>
        <p:spPr>
          <a:xfrm>
            <a:off x="4663440" y="1673352"/>
            <a:ext cx="4114800" cy="862965"/>
          </a:xfrm>
          <a:prstGeom prst="rect">
            <a:avLst/>
          </a:prstGeom>
          <a:solidFill>
            <a:srgbClr val="F5F8FF"/>
          </a:solidFill>
          <a:ln w="12700">
            <a:solidFill>
              <a:srgbClr val="D8D8D8"/>
            </a:solidFill>
            <a:prstDash val="solid"/>
          </a:ln>
        </p:spPr>
      </p:sp>
      <p:sp>
        <p:nvSpPr>
          <p:cNvPr id="24" name="Shape 21"/>
          <p:cNvSpPr/>
          <p:nvPr/>
        </p:nvSpPr>
        <p:spPr>
          <a:xfrm>
            <a:off x="4663440" y="1673352"/>
            <a:ext cx="1417320" cy="862965"/>
          </a:xfrm>
          <a:prstGeom prst="rect">
            <a:avLst/>
          </a:prstGeom>
          <a:solidFill>
            <a:srgbClr val="E8EDF5"/>
          </a:solidFill>
          <a:ln w="12700">
            <a:solidFill>
              <a:srgbClr val="D0D0D0"/>
            </a:solidFill>
            <a:prstDash val="solid"/>
          </a:ln>
        </p:spPr>
      </p:sp>
      <p:sp>
        <p:nvSpPr>
          <p:cNvPr id="25" name="Text 22"/>
          <p:cNvSpPr/>
          <p:nvPr/>
        </p:nvSpPr>
        <p:spPr>
          <a:xfrm>
            <a:off x="4709160" y="1673352"/>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Aim</a:t>
            </a:r>
            <a:endParaRPr lang="en-US" sz="1200" dirty="0"/>
          </a:p>
        </p:txBody>
      </p:sp>
      <p:sp>
        <p:nvSpPr>
          <p:cNvPr id="26" name="Text 23"/>
          <p:cNvSpPr/>
          <p:nvPr/>
        </p:nvSpPr>
        <p:spPr>
          <a:xfrm>
            <a:off x="6126480" y="1673352"/>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Review of fusion aspects in medical diagnosis</a:t>
            </a:r>
            <a:endParaRPr lang="en-US" sz="1200" dirty="0"/>
          </a:p>
        </p:txBody>
      </p:sp>
      <p:sp>
        <p:nvSpPr>
          <p:cNvPr id="27" name="Shape 24"/>
          <p:cNvSpPr/>
          <p:nvPr/>
        </p:nvSpPr>
        <p:spPr>
          <a:xfrm>
            <a:off x="4663440" y="2536317"/>
            <a:ext cx="4114800" cy="862965"/>
          </a:xfrm>
          <a:prstGeom prst="rect">
            <a:avLst/>
          </a:prstGeom>
          <a:solidFill>
            <a:srgbClr val="FFFFFF"/>
          </a:solidFill>
          <a:ln w="12700">
            <a:solidFill>
              <a:srgbClr val="D8D8D8"/>
            </a:solidFill>
            <a:prstDash val="solid"/>
          </a:ln>
        </p:spPr>
      </p:sp>
      <p:sp>
        <p:nvSpPr>
          <p:cNvPr id="28" name="Shape 25"/>
          <p:cNvSpPr/>
          <p:nvPr/>
        </p:nvSpPr>
        <p:spPr>
          <a:xfrm>
            <a:off x="4663440" y="2536317"/>
            <a:ext cx="1417320" cy="862965"/>
          </a:xfrm>
          <a:prstGeom prst="rect">
            <a:avLst/>
          </a:prstGeom>
          <a:solidFill>
            <a:srgbClr val="E8EDF5"/>
          </a:solidFill>
          <a:ln w="12700">
            <a:solidFill>
              <a:srgbClr val="D0D0D0"/>
            </a:solidFill>
            <a:prstDash val="solid"/>
          </a:ln>
        </p:spPr>
      </p:sp>
      <p:sp>
        <p:nvSpPr>
          <p:cNvPr id="29" name="Text 26"/>
          <p:cNvSpPr/>
          <p:nvPr/>
        </p:nvSpPr>
        <p:spPr>
          <a:xfrm>
            <a:off x="4709160" y="2536317"/>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Model</a:t>
            </a:r>
            <a:endParaRPr lang="en-US" sz="1200" dirty="0"/>
          </a:p>
        </p:txBody>
      </p:sp>
      <p:sp>
        <p:nvSpPr>
          <p:cNvPr id="30" name="Text 27"/>
          <p:cNvSpPr/>
          <p:nvPr/>
        </p:nvSpPr>
        <p:spPr>
          <a:xfrm>
            <a:off x="6126480" y="2536317"/>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Comparative Analysis (CNN, RNN)</a:t>
            </a:r>
            <a:endParaRPr lang="en-US" sz="1200" dirty="0"/>
          </a:p>
        </p:txBody>
      </p:sp>
      <p:sp>
        <p:nvSpPr>
          <p:cNvPr id="31" name="Shape 28"/>
          <p:cNvSpPr/>
          <p:nvPr/>
        </p:nvSpPr>
        <p:spPr>
          <a:xfrm>
            <a:off x="4663440" y="3399282"/>
            <a:ext cx="4114800" cy="862965"/>
          </a:xfrm>
          <a:prstGeom prst="rect">
            <a:avLst/>
          </a:prstGeom>
          <a:solidFill>
            <a:srgbClr val="F5F8FF"/>
          </a:solidFill>
          <a:ln w="12700">
            <a:solidFill>
              <a:srgbClr val="D8D8D8"/>
            </a:solidFill>
            <a:prstDash val="solid"/>
          </a:ln>
        </p:spPr>
      </p:sp>
      <p:sp>
        <p:nvSpPr>
          <p:cNvPr id="32" name="Shape 29"/>
          <p:cNvSpPr/>
          <p:nvPr/>
        </p:nvSpPr>
        <p:spPr>
          <a:xfrm>
            <a:off x="4663440" y="3399282"/>
            <a:ext cx="1417320" cy="862965"/>
          </a:xfrm>
          <a:prstGeom prst="rect">
            <a:avLst/>
          </a:prstGeom>
          <a:solidFill>
            <a:srgbClr val="E8EDF5"/>
          </a:solidFill>
          <a:ln w="12700">
            <a:solidFill>
              <a:srgbClr val="D0D0D0"/>
            </a:solidFill>
            <a:prstDash val="solid"/>
          </a:ln>
        </p:spPr>
      </p:sp>
      <p:sp>
        <p:nvSpPr>
          <p:cNvPr id="33" name="Text 30"/>
          <p:cNvSpPr/>
          <p:nvPr/>
        </p:nvSpPr>
        <p:spPr>
          <a:xfrm>
            <a:off x="4709160" y="3399282"/>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Key Feature</a:t>
            </a:r>
            <a:endParaRPr lang="en-US" sz="1200" dirty="0"/>
          </a:p>
        </p:txBody>
      </p:sp>
      <p:sp>
        <p:nvSpPr>
          <p:cNvPr id="34" name="Text 31"/>
          <p:cNvSpPr/>
          <p:nvPr/>
        </p:nvSpPr>
        <p:spPr>
          <a:xfrm>
            <a:off x="6126480" y="3399282"/>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Multi-source data integration</a:t>
            </a:r>
            <a:endParaRPr lang="en-US" sz="1200" dirty="0"/>
          </a:p>
        </p:txBody>
      </p:sp>
      <p:pic>
        <p:nvPicPr>
          <p:cNvPr id="35" name="Image 0" descr="preencoded.png">
            <a:extLst>
              <a:ext uri="{FF2B5EF4-FFF2-40B4-BE49-F238E27FC236}">
                <a16:creationId xmlns:a16="http://schemas.microsoft.com/office/drawing/2014/main" id="{F39A037E-8C6B-E86B-09E5-A7CE319729D0}"/>
              </a:ext>
            </a:extLst>
          </p:cNvPr>
          <p:cNvPicPr>
            <a:picLocks noChangeAspect="1"/>
          </p:cNvPicPr>
          <p:nvPr/>
        </p:nvPicPr>
        <p:blipFill>
          <a:blip r:embed="rId3"/>
          <a:stretch>
            <a:fillRect/>
          </a:stretch>
        </p:blipFill>
        <p:spPr>
          <a:xfrm>
            <a:off x="0" y="126492"/>
            <a:ext cx="1143000" cy="475488"/>
          </a:xfrm>
          <a:prstGeom prst="rect">
            <a:avLst/>
          </a:prstGeom>
        </p:spPr>
      </p:pic>
      <p:grpSp>
        <p:nvGrpSpPr>
          <p:cNvPr id="36" name="Group 35">
            <a:extLst>
              <a:ext uri="{FF2B5EF4-FFF2-40B4-BE49-F238E27FC236}">
                <a16:creationId xmlns:a16="http://schemas.microsoft.com/office/drawing/2014/main" id="{6825EC25-E6DB-C2BE-4294-06528FAEBD99}"/>
              </a:ext>
            </a:extLst>
          </p:cNvPr>
          <p:cNvGrpSpPr/>
          <p:nvPr/>
        </p:nvGrpSpPr>
        <p:grpSpPr>
          <a:xfrm>
            <a:off x="7960583" y="126493"/>
            <a:ext cx="1143001" cy="475487"/>
            <a:chOff x="6173572" y="2276778"/>
            <a:chExt cx="2555268" cy="1333578"/>
          </a:xfrm>
        </p:grpSpPr>
        <p:pic>
          <p:nvPicPr>
            <p:cNvPr id="37" name="Picture 36" descr="A logo with blue and orange lines  AI-generated content may be incorrect.">
              <a:extLst>
                <a:ext uri="{FF2B5EF4-FFF2-40B4-BE49-F238E27FC236}">
                  <a16:creationId xmlns:a16="http://schemas.microsoft.com/office/drawing/2014/main" id="{716C38FB-B7F7-CD9C-FFC0-4963A61D476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173572" y="2276778"/>
              <a:ext cx="936104" cy="1295756"/>
            </a:xfrm>
            <a:prstGeom prst="rect">
              <a:avLst/>
            </a:prstGeom>
            <a:noFill/>
            <a:ln>
              <a:noFill/>
            </a:ln>
          </p:spPr>
        </p:pic>
        <p:pic>
          <p:nvPicPr>
            <p:cNvPr id="38" name="Picture 37">
              <a:extLst>
                <a:ext uri="{FF2B5EF4-FFF2-40B4-BE49-F238E27FC236}">
                  <a16:creationId xmlns:a16="http://schemas.microsoft.com/office/drawing/2014/main" id="{BB7E5036-2530-64D3-62CE-7ABCE9A2801F}"/>
                </a:ext>
              </a:extLst>
            </p:cNvPr>
            <p:cNvPicPr>
              <a:picLocks noChangeAspect="1"/>
            </p:cNvPicPr>
            <p:nvPr/>
          </p:nvPicPr>
          <p:blipFill rotWithShape="1">
            <a:blip r:embed="rId5">
              <a:extLst>
                <a:ext uri="{28A0092B-C50C-407E-A947-70E740481C1C}">
                  <a14:useLocalDpi xmlns:a14="http://schemas.microsoft.com/office/drawing/2010/main" val="0"/>
                </a:ext>
              </a:extLst>
            </a:blip>
            <a:srcRect l="30270" r="31417" b="2264"/>
            <a:stretch/>
          </p:blipFill>
          <p:spPr bwMode="auto">
            <a:xfrm>
              <a:off x="7178602" y="2276778"/>
              <a:ext cx="1550238" cy="1333578"/>
            </a:xfrm>
            <a:prstGeom prst="rect">
              <a:avLst/>
            </a:prstGeom>
            <a:ln>
              <a:noFill/>
            </a:ln>
            <a:extLst>
              <a:ext uri="{53640926-AAD7-44D8-BBD7-CCE9431645EC}">
                <a14:shadowObscured xmlns:a14="http://schemas.microsoft.com/office/drawing/2010/main"/>
              </a:ext>
            </a:ex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ea typeface="Times New Roman" pitchFamily="34" charset="-122"/>
                <a:cs typeface="Times New Roman" pitchFamily="34" charset="-120"/>
              </a:rPr>
              <a:t>Literature Review: Targeted CKD Diagnostics</a:t>
            </a:r>
            <a:endParaRPr lang="en-US" sz="2600" dirty="0"/>
          </a:p>
        </p:txBody>
      </p:sp>
      <p:sp>
        <p:nvSpPr>
          <p:cNvPr id="4" name="Shape 1"/>
          <p:cNvSpPr/>
          <p:nvPr/>
        </p:nvSpPr>
        <p:spPr>
          <a:xfrm>
            <a:off x="365760" y="1069848"/>
            <a:ext cx="8412480" cy="20117"/>
          </a:xfrm>
          <a:prstGeom prst="rect">
            <a:avLst/>
          </a:prstGeom>
          <a:solidFill>
            <a:srgbClr val="3D3D3D"/>
          </a:solidFill>
          <a:ln w="12700">
            <a:solidFill>
              <a:srgbClr val="3D3D3D"/>
            </a:solidFill>
            <a:prstDash val="solid"/>
          </a:ln>
        </p:spPr>
      </p:sp>
      <p:sp>
        <p:nvSpPr>
          <p:cNvPr id="5" name="Shape 2"/>
          <p:cNvSpPr/>
          <p:nvPr/>
        </p:nvSpPr>
        <p:spPr>
          <a:xfrm>
            <a:off x="0" y="4850892"/>
            <a:ext cx="9144000" cy="292608"/>
          </a:xfrm>
          <a:prstGeom prst="rect">
            <a:avLst/>
          </a:prstGeom>
          <a:solidFill>
            <a:srgbClr val="E87722"/>
          </a:solidFill>
          <a:ln w="12700">
            <a:solidFill>
              <a:srgbClr val="E87722"/>
            </a:solidFill>
            <a:prstDash val="solid"/>
          </a:ln>
        </p:spPr>
      </p:sp>
      <p:sp>
        <p:nvSpPr>
          <p:cNvPr id="6" name="Text 3"/>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cs typeface="Times New Roman" pitchFamily="34" charset="-120"/>
              </a:rPr>
              <a:t>10</a:t>
            </a:r>
            <a:endParaRPr lang="en-US" sz="1400" dirty="0"/>
          </a:p>
        </p:txBody>
      </p:sp>
      <p:sp>
        <p:nvSpPr>
          <p:cNvPr id="7" name="Shape 4"/>
          <p:cNvSpPr/>
          <p:nvPr/>
        </p:nvSpPr>
        <p:spPr>
          <a:xfrm>
            <a:off x="365760" y="1325880"/>
            <a:ext cx="4114800" cy="347472"/>
          </a:xfrm>
          <a:prstGeom prst="rect">
            <a:avLst/>
          </a:prstGeom>
          <a:solidFill>
            <a:srgbClr val="1F3864"/>
          </a:solidFill>
          <a:ln w="12700">
            <a:solidFill>
              <a:srgbClr val="1F3864"/>
            </a:solidFill>
            <a:prstDash val="solid"/>
          </a:ln>
        </p:spPr>
      </p:sp>
      <p:sp>
        <p:nvSpPr>
          <p:cNvPr id="8" name="Text 5"/>
          <p:cNvSpPr/>
          <p:nvPr/>
        </p:nvSpPr>
        <p:spPr>
          <a:xfrm>
            <a:off x="365760" y="1325880"/>
            <a:ext cx="4114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K. Navaz (2024) — IEEE Xplore</a:t>
            </a:r>
            <a:endParaRPr lang="en-US" sz="1400" dirty="0"/>
          </a:p>
        </p:txBody>
      </p:sp>
      <p:sp>
        <p:nvSpPr>
          <p:cNvPr id="9" name="Shape 6"/>
          <p:cNvSpPr/>
          <p:nvPr/>
        </p:nvSpPr>
        <p:spPr>
          <a:xfrm>
            <a:off x="365760" y="1673352"/>
            <a:ext cx="4114800" cy="862965"/>
          </a:xfrm>
          <a:prstGeom prst="rect">
            <a:avLst/>
          </a:prstGeom>
          <a:solidFill>
            <a:srgbClr val="F5F8FF"/>
          </a:solidFill>
          <a:ln w="12700">
            <a:solidFill>
              <a:srgbClr val="D8D8D8"/>
            </a:solidFill>
            <a:prstDash val="solid"/>
          </a:ln>
        </p:spPr>
      </p:sp>
      <p:sp>
        <p:nvSpPr>
          <p:cNvPr id="10" name="Shape 7"/>
          <p:cNvSpPr/>
          <p:nvPr/>
        </p:nvSpPr>
        <p:spPr>
          <a:xfrm>
            <a:off x="365760" y="1673352"/>
            <a:ext cx="1417320" cy="862965"/>
          </a:xfrm>
          <a:prstGeom prst="rect">
            <a:avLst/>
          </a:prstGeom>
          <a:solidFill>
            <a:srgbClr val="E8EDF5"/>
          </a:solidFill>
          <a:ln w="12700">
            <a:solidFill>
              <a:srgbClr val="D0D0D0"/>
            </a:solidFill>
            <a:prstDash val="solid"/>
          </a:ln>
        </p:spPr>
      </p:sp>
      <p:sp>
        <p:nvSpPr>
          <p:cNvPr id="11" name="Text 8"/>
          <p:cNvSpPr/>
          <p:nvPr/>
        </p:nvSpPr>
        <p:spPr>
          <a:xfrm>
            <a:off x="411480" y="1673352"/>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Aim</a:t>
            </a:r>
            <a:endParaRPr lang="en-US" sz="1200" dirty="0"/>
          </a:p>
        </p:txBody>
      </p:sp>
      <p:sp>
        <p:nvSpPr>
          <p:cNvPr id="12" name="Text 9"/>
          <p:cNvSpPr/>
          <p:nvPr/>
        </p:nvSpPr>
        <p:spPr>
          <a:xfrm>
            <a:off x="1828800" y="1673352"/>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Early detection of CKD using Gradient Boosting</a:t>
            </a:r>
            <a:endParaRPr lang="en-US" sz="1200" dirty="0"/>
          </a:p>
        </p:txBody>
      </p:sp>
      <p:sp>
        <p:nvSpPr>
          <p:cNvPr id="13" name="Shape 10"/>
          <p:cNvSpPr/>
          <p:nvPr/>
        </p:nvSpPr>
        <p:spPr>
          <a:xfrm>
            <a:off x="365760" y="2536317"/>
            <a:ext cx="4114800" cy="862965"/>
          </a:xfrm>
          <a:prstGeom prst="rect">
            <a:avLst/>
          </a:prstGeom>
          <a:solidFill>
            <a:srgbClr val="FFFFFF"/>
          </a:solidFill>
          <a:ln w="12700">
            <a:solidFill>
              <a:srgbClr val="D8D8D8"/>
            </a:solidFill>
            <a:prstDash val="solid"/>
          </a:ln>
        </p:spPr>
      </p:sp>
      <p:sp>
        <p:nvSpPr>
          <p:cNvPr id="14" name="Shape 11"/>
          <p:cNvSpPr/>
          <p:nvPr/>
        </p:nvSpPr>
        <p:spPr>
          <a:xfrm>
            <a:off x="365760" y="2536317"/>
            <a:ext cx="1417320" cy="862965"/>
          </a:xfrm>
          <a:prstGeom prst="rect">
            <a:avLst/>
          </a:prstGeom>
          <a:solidFill>
            <a:srgbClr val="E8EDF5"/>
          </a:solidFill>
          <a:ln w="12700">
            <a:solidFill>
              <a:srgbClr val="D0D0D0"/>
            </a:solidFill>
            <a:prstDash val="solid"/>
          </a:ln>
        </p:spPr>
      </p:sp>
      <p:sp>
        <p:nvSpPr>
          <p:cNvPr id="15" name="Text 12"/>
          <p:cNvSpPr/>
          <p:nvPr/>
        </p:nvSpPr>
        <p:spPr>
          <a:xfrm>
            <a:off x="411480" y="2536317"/>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Dataset</a:t>
            </a:r>
            <a:endParaRPr lang="en-US" sz="1200" dirty="0"/>
          </a:p>
        </p:txBody>
      </p:sp>
      <p:sp>
        <p:nvSpPr>
          <p:cNvPr id="16" name="Text 13"/>
          <p:cNvSpPr/>
          <p:nvPr/>
        </p:nvSpPr>
        <p:spPr>
          <a:xfrm>
            <a:off x="1828800" y="2536317"/>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UCI CKD Repository</a:t>
            </a:r>
            <a:endParaRPr lang="en-US" sz="1200" dirty="0"/>
          </a:p>
        </p:txBody>
      </p:sp>
      <p:sp>
        <p:nvSpPr>
          <p:cNvPr id="17" name="Shape 14"/>
          <p:cNvSpPr/>
          <p:nvPr/>
        </p:nvSpPr>
        <p:spPr>
          <a:xfrm>
            <a:off x="365760" y="3399282"/>
            <a:ext cx="4114800" cy="862965"/>
          </a:xfrm>
          <a:prstGeom prst="rect">
            <a:avLst/>
          </a:prstGeom>
          <a:solidFill>
            <a:srgbClr val="F5F8FF"/>
          </a:solidFill>
          <a:ln w="12700">
            <a:solidFill>
              <a:srgbClr val="D8D8D8"/>
            </a:solidFill>
            <a:prstDash val="solid"/>
          </a:ln>
        </p:spPr>
      </p:sp>
      <p:sp>
        <p:nvSpPr>
          <p:cNvPr id="18" name="Shape 15"/>
          <p:cNvSpPr/>
          <p:nvPr/>
        </p:nvSpPr>
        <p:spPr>
          <a:xfrm>
            <a:off x="365760" y="3399282"/>
            <a:ext cx="1417320" cy="862965"/>
          </a:xfrm>
          <a:prstGeom prst="rect">
            <a:avLst/>
          </a:prstGeom>
          <a:solidFill>
            <a:srgbClr val="E8EDF5"/>
          </a:solidFill>
          <a:ln w="12700">
            <a:solidFill>
              <a:srgbClr val="D0D0D0"/>
            </a:solidFill>
            <a:prstDash val="solid"/>
          </a:ln>
        </p:spPr>
      </p:sp>
      <p:sp>
        <p:nvSpPr>
          <p:cNvPr id="19" name="Text 16"/>
          <p:cNvSpPr/>
          <p:nvPr/>
        </p:nvSpPr>
        <p:spPr>
          <a:xfrm>
            <a:off x="411480" y="3399282"/>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Performance</a:t>
            </a:r>
            <a:endParaRPr lang="en-US" sz="1200" dirty="0"/>
          </a:p>
        </p:txBody>
      </p:sp>
      <p:sp>
        <p:nvSpPr>
          <p:cNvPr id="20" name="Text 17"/>
          <p:cNvSpPr/>
          <p:nvPr/>
        </p:nvSpPr>
        <p:spPr>
          <a:xfrm>
            <a:off x="1828800" y="3399282"/>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97% Accuracy</a:t>
            </a:r>
            <a:endParaRPr lang="en-US" sz="1200" dirty="0"/>
          </a:p>
        </p:txBody>
      </p:sp>
      <p:sp>
        <p:nvSpPr>
          <p:cNvPr id="21" name="Shape 18"/>
          <p:cNvSpPr/>
          <p:nvPr/>
        </p:nvSpPr>
        <p:spPr>
          <a:xfrm>
            <a:off x="4663440" y="1325880"/>
            <a:ext cx="4114800" cy="347472"/>
          </a:xfrm>
          <a:prstGeom prst="rect">
            <a:avLst/>
          </a:prstGeom>
          <a:solidFill>
            <a:srgbClr val="1F3864"/>
          </a:solidFill>
          <a:ln w="12700">
            <a:solidFill>
              <a:srgbClr val="1F3864"/>
            </a:solidFill>
            <a:prstDash val="solid"/>
          </a:ln>
        </p:spPr>
      </p:sp>
      <p:sp>
        <p:nvSpPr>
          <p:cNvPr id="22" name="Text 19"/>
          <p:cNvSpPr/>
          <p:nvPr/>
        </p:nvSpPr>
        <p:spPr>
          <a:xfrm>
            <a:off x="4663440" y="1325880"/>
            <a:ext cx="4114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J.V. Groß (2017) — Medical Hypotheses (Elsevier)</a:t>
            </a:r>
            <a:endParaRPr lang="en-US" sz="1400" dirty="0"/>
          </a:p>
        </p:txBody>
      </p:sp>
      <p:sp>
        <p:nvSpPr>
          <p:cNvPr id="23" name="Shape 20"/>
          <p:cNvSpPr/>
          <p:nvPr/>
        </p:nvSpPr>
        <p:spPr>
          <a:xfrm>
            <a:off x="4663440" y="1673352"/>
            <a:ext cx="4114800" cy="862965"/>
          </a:xfrm>
          <a:prstGeom prst="rect">
            <a:avLst/>
          </a:prstGeom>
          <a:solidFill>
            <a:srgbClr val="F5F8FF"/>
          </a:solidFill>
          <a:ln w="12700">
            <a:solidFill>
              <a:srgbClr val="D8D8D8"/>
            </a:solidFill>
            <a:prstDash val="solid"/>
          </a:ln>
        </p:spPr>
      </p:sp>
      <p:sp>
        <p:nvSpPr>
          <p:cNvPr id="24" name="Shape 21"/>
          <p:cNvSpPr/>
          <p:nvPr/>
        </p:nvSpPr>
        <p:spPr>
          <a:xfrm>
            <a:off x="4663440" y="1673352"/>
            <a:ext cx="1417320" cy="862965"/>
          </a:xfrm>
          <a:prstGeom prst="rect">
            <a:avLst/>
          </a:prstGeom>
          <a:solidFill>
            <a:srgbClr val="E8EDF5"/>
          </a:solidFill>
          <a:ln w="12700">
            <a:solidFill>
              <a:srgbClr val="D0D0D0"/>
            </a:solidFill>
            <a:prstDash val="solid"/>
          </a:ln>
        </p:spPr>
      </p:sp>
      <p:sp>
        <p:nvSpPr>
          <p:cNvPr id="25" name="Text 22"/>
          <p:cNvSpPr/>
          <p:nvPr/>
        </p:nvSpPr>
        <p:spPr>
          <a:xfrm>
            <a:off x="4709160" y="1673352"/>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Aim</a:t>
            </a:r>
            <a:endParaRPr lang="en-US" sz="1200" dirty="0"/>
          </a:p>
        </p:txBody>
      </p:sp>
      <p:sp>
        <p:nvSpPr>
          <p:cNvPr id="26" name="Text 23"/>
          <p:cNvSpPr/>
          <p:nvPr/>
        </p:nvSpPr>
        <p:spPr>
          <a:xfrm>
            <a:off x="6126480" y="1673352"/>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Feature selection for CKD diagnosis</a:t>
            </a:r>
            <a:endParaRPr lang="en-US" sz="1200" dirty="0"/>
          </a:p>
        </p:txBody>
      </p:sp>
      <p:sp>
        <p:nvSpPr>
          <p:cNvPr id="27" name="Shape 24"/>
          <p:cNvSpPr/>
          <p:nvPr/>
        </p:nvSpPr>
        <p:spPr>
          <a:xfrm>
            <a:off x="4663440" y="2536317"/>
            <a:ext cx="4114800" cy="862965"/>
          </a:xfrm>
          <a:prstGeom prst="rect">
            <a:avLst/>
          </a:prstGeom>
          <a:solidFill>
            <a:srgbClr val="FFFFFF"/>
          </a:solidFill>
          <a:ln w="12700">
            <a:solidFill>
              <a:srgbClr val="D8D8D8"/>
            </a:solidFill>
            <a:prstDash val="solid"/>
          </a:ln>
        </p:spPr>
      </p:sp>
      <p:sp>
        <p:nvSpPr>
          <p:cNvPr id="28" name="Shape 25"/>
          <p:cNvSpPr/>
          <p:nvPr/>
        </p:nvSpPr>
        <p:spPr>
          <a:xfrm>
            <a:off x="4663440" y="2536317"/>
            <a:ext cx="1417320" cy="862965"/>
          </a:xfrm>
          <a:prstGeom prst="rect">
            <a:avLst/>
          </a:prstGeom>
          <a:solidFill>
            <a:srgbClr val="E8EDF5"/>
          </a:solidFill>
          <a:ln w="12700">
            <a:solidFill>
              <a:srgbClr val="D0D0D0"/>
            </a:solidFill>
            <a:prstDash val="solid"/>
          </a:ln>
        </p:spPr>
      </p:sp>
      <p:sp>
        <p:nvSpPr>
          <p:cNvPr id="29" name="Text 26"/>
          <p:cNvSpPr/>
          <p:nvPr/>
        </p:nvSpPr>
        <p:spPr>
          <a:xfrm>
            <a:off x="4709160" y="2536317"/>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Dataset</a:t>
            </a:r>
            <a:endParaRPr lang="en-US" sz="1200" dirty="0"/>
          </a:p>
        </p:txBody>
      </p:sp>
      <p:sp>
        <p:nvSpPr>
          <p:cNvPr id="30" name="Text 27"/>
          <p:cNvSpPr/>
          <p:nvPr/>
        </p:nvSpPr>
        <p:spPr>
          <a:xfrm>
            <a:off x="6126480" y="2536317"/>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Laboratory Clinical Data</a:t>
            </a:r>
            <a:endParaRPr lang="en-US" sz="1200" dirty="0"/>
          </a:p>
        </p:txBody>
      </p:sp>
      <p:sp>
        <p:nvSpPr>
          <p:cNvPr id="31" name="Shape 28"/>
          <p:cNvSpPr/>
          <p:nvPr/>
        </p:nvSpPr>
        <p:spPr>
          <a:xfrm>
            <a:off x="4663440" y="3399282"/>
            <a:ext cx="4114800" cy="862965"/>
          </a:xfrm>
          <a:prstGeom prst="rect">
            <a:avLst/>
          </a:prstGeom>
          <a:solidFill>
            <a:srgbClr val="F5F8FF"/>
          </a:solidFill>
          <a:ln w="12700">
            <a:solidFill>
              <a:srgbClr val="D8D8D8"/>
            </a:solidFill>
            <a:prstDash val="solid"/>
          </a:ln>
        </p:spPr>
      </p:sp>
      <p:sp>
        <p:nvSpPr>
          <p:cNvPr id="32" name="Shape 29"/>
          <p:cNvSpPr/>
          <p:nvPr/>
        </p:nvSpPr>
        <p:spPr>
          <a:xfrm>
            <a:off x="4663440" y="3399282"/>
            <a:ext cx="1417320" cy="862965"/>
          </a:xfrm>
          <a:prstGeom prst="rect">
            <a:avLst/>
          </a:prstGeom>
          <a:solidFill>
            <a:srgbClr val="E8EDF5"/>
          </a:solidFill>
          <a:ln w="12700">
            <a:solidFill>
              <a:srgbClr val="D0D0D0"/>
            </a:solidFill>
            <a:prstDash val="solid"/>
          </a:ln>
        </p:spPr>
      </p:sp>
      <p:sp>
        <p:nvSpPr>
          <p:cNvPr id="33" name="Text 30"/>
          <p:cNvSpPr/>
          <p:nvPr/>
        </p:nvSpPr>
        <p:spPr>
          <a:xfrm>
            <a:off x="4709160" y="3399282"/>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Performance</a:t>
            </a:r>
            <a:endParaRPr lang="en-US" sz="1200" dirty="0"/>
          </a:p>
        </p:txBody>
      </p:sp>
      <p:sp>
        <p:nvSpPr>
          <p:cNvPr id="34" name="Text 31"/>
          <p:cNvSpPr/>
          <p:nvPr/>
        </p:nvSpPr>
        <p:spPr>
          <a:xfrm>
            <a:off x="6126480" y="3399282"/>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98.5% Accuracy</a:t>
            </a:r>
            <a:endParaRPr lang="en-US" sz="1200" dirty="0"/>
          </a:p>
        </p:txBody>
      </p:sp>
      <p:pic>
        <p:nvPicPr>
          <p:cNvPr id="35" name="Image 0" descr="preencoded.png">
            <a:extLst>
              <a:ext uri="{FF2B5EF4-FFF2-40B4-BE49-F238E27FC236}">
                <a16:creationId xmlns:a16="http://schemas.microsoft.com/office/drawing/2014/main" id="{DA310AD5-2AE1-0A17-A8E6-173850DD93E8}"/>
              </a:ext>
            </a:extLst>
          </p:cNvPr>
          <p:cNvPicPr>
            <a:picLocks noChangeAspect="1"/>
          </p:cNvPicPr>
          <p:nvPr/>
        </p:nvPicPr>
        <p:blipFill>
          <a:blip r:embed="rId3"/>
          <a:stretch>
            <a:fillRect/>
          </a:stretch>
        </p:blipFill>
        <p:spPr>
          <a:xfrm>
            <a:off x="0" y="126492"/>
            <a:ext cx="1143000" cy="475488"/>
          </a:xfrm>
          <a:prstGeom prst="rect">
            <a:avLst/>
          </a:prstGeom>
        </p:spPr>
      </p:pic>
      <p:grpSp>
        <p:nvGrpSpPr>
          <p:cNvPr id="36" name="Group 35">
            <a:extLst>
              <a:ext uri="{FF2B5EF4-FFF2-40B4-BE49-F238E27FC236}">
                <a16:creationId xmlns:a16="http://schemas.microsoft.com/office/drawing/2014/main" id="{F22557BD-2DBE-5B0B-B45D-C275F8B07B51}"/>
              </a:ext>
            </a:extLst>
          </p:cNvPr>
          <p:cNvGrpSpPr/>
          <p:nvPr/>
        </p:nvGrpSpPr>
        <p:grpSpPr>
          <a:xfrm>
            <a:off x="7960583" y="126493"/>
            <a:ext cx="1143001" cy="475487"/>
            <a:chOff x="6173572" y="2276778"/>
            <a:chExt cx="2555268" cy="1333578"/>
          </a:xfrm>
        </p:grpSpPr>
        <p:pic>
          <p:nvPicPr>
            <p:cNvPr id="37" name="Picture 36" descr="A logo with blue and orange lines  AI-generated content may be incorrect.">
              <a:extLst>
                <a:ext uri="{FF2B5EF4-FFF2-40B4-BE49-F238E27FC236}">
                  <a16:creationId xmlns:a16="http://schemas.microsoft.com/office/drawing/2014/main" id="{70D50BCC-FF8B-C0B3-9710-12B7680CB2B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173572" y="2276778"/>
              <a:ext cx="936104" cy="1295756"/>
            </a:xfrm>
            <a:prstGeom prst="rect">
              <a:avLst/>
            </a:prstGeom>
            <a:noFill/>
            <a:ln>
              <a:noFill/>
            </a:ln>
          </p:spPr>
        </p:pic>
        <p:pic>
          <p:nvPicPr>
            <p:cNvPr id="38" name="Picture 37">
              <a:extLst>
                <a:ext uri="{FF2B5EF4-FFF2-40B4-BE49-F238E27FC236}">
                  <a16:creationId xmlns:a16="http://schemas.microsoft.com/office/drawing/2014/main" id="{9AF27088-BD9E-73F9-1F65-9A8911965F70}"/>
                </a:ext>
              </a:extLst>
            </p:cNvPr>
            <p:cNvPicPr>
              <a:picLocks noChangeAspect="1"/>
            </p:cNvPicPr>
            <p:nvPr/>
          </p:nvPicPr>
          <p:blipFill rotWithShape="1">
            <a:blip r:embed="rId5">
              <a:extLst>
                <a:ext uri="{28A0092B-C50C-407E-A947-70E740481C1C}">
                  <a14:useLocalDpi xmlns:a14="http://schemas.microsoft.com/office/drawing/2010/main" val="0"/>
                </a:ext>
              </a:extLst>
            </a:blip>
            <a:srcRect l="30270" r="31417" b="2264"/>
            <a:stretch/>
          </p:blipFill>
          <p:spPr bwMode="auto">
            <a:xfrm>
              <a:off x="7178602" y="2276778"/>
              <a:ext cx="1550238" cy="1333578"/>
            </a:xfrm>
            <a:prstGeom prst="rect">
              <a:avLst/>
            </a:prstGeom>
            <a:ln>
              <a:noFill/>
            </a:ln>
            <a:extLst>
              <a:ext uri="{53640926-AAD7-44D8-BBD7-CCE9431645EC}">
                <a14:shadowObscured xmlns:a14="http://schemas.microsoft.com/office/drawing/2010/main"/>
              </a:ext>
            </a:ex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F407175-26D6-D530-1039-AB008B77E379}"/>
            </a:ext>
          </a:extLst>
        </p:cNvPr>
        <p:cNvGrpSpPr/>
        <p:nvPr/>
      </p:nvGrpSpPr>
      <p:grpSpPr>
        <a:xfrm>
          <a:off x="0" y="0"/>
          <a:ext cx="0" cy="0"/>
          <a:chOff x="0" y="0"/>
          <a:chExt cx="0" cy="0"/>
        </a:xfrm>
      </p:grpSpPr>
      <p:sp>
        <p:nvSpPr>
          <p:cNvPr id="23" name="Shape 20">
            <a:extLst>
              <a:ext uri="{FF2B5EF4-FFF2-40B4-BE49-F238E27FC236}">
                <a16:creationId xmlns:a16="http://schemas.microsoft.com/office/drawing/2014/main" id="{FFAF79D0-0CB4-1400-37FD-EC8B93AE6903}"/>
              </a:ext>
            </a:extLst>
          </p:cNvPr>
          <p:cNvSpPr/>
          <p:nvPr/>
        </p:nvSpPr>
        <p:spPr>
          <a:xfrm>
            <a:off x="4663440" y="1673352"/>
            <a:ext cx="4114800" cy="862965"/>
          </a:xfrm>
          <a:prstGeom prst="rect">
            <a:avLst/>
          </a:prstGeom>
          <a:solidFill>
            <a:srgbClr val="F5F8FF"/>
          </a:solidFill>
          <a:ln w="12700">
            <a:solidFill>
              <a:srgbClr val="D8D8D8"/>
            </a:solidFill>
            <a:prstDash val="solid"/>
          </a:ln>
        </p:spPr>
      </p:sp>
      <p:sp>
        <p:nvSpPr>
          <p:cNvPr id="3" name="Text 0">
            <a:extLst>
              <a:ext uri="{FF2B5EF4-FFF2-40B4-BE49-F238E27FC236}">
                <a16:creationId xmlns:a16="http://schemas.microsoft.com/office/drawing/2014/main" id="{CED16F96-9A64-0C97-8F86-4E7A01B7BF91}"/>
              </a:ext>
            </a:extLst>
          </p:cNvPr>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ea typeface="Times New Roman" pitchFamily="34" charset="-122"/>
                <a:cs typeface="Times New Roman" pitchFamily="34" charset="-120"/>
              </a:rPr>
              <a:t>Literature Review: Targeted Diabetes Diagnostics</a:t>
            </a:r>
            <a:endParaRPr lang="en-US" sz="2600" dirty="0"/>
          </a:p>
        </p:txBody>
      </p:sp>
      <p:sp>
        <p:nvSpPr>
          <p:cNvPr id="4" name="Shape 1">
            <a:extLst>
              <a:ext uri="{FF2B5EF4-FFF2-40B4-BE49-F238E27FC236}">
                <a16:creationId xmlns:a16="http://schemas.microsoft.com/office/drawing/2014/main" id="{4B9A02CB-A6A9-82DE-1BE6-6BEE98B4ECB4}"/>
              </a:ext>
            </a:extLst>
          </p:cNvPr>
          <p:cNvSpPr/>
          <p:nvPr/>
        </p:nvSpPr>
        <p:spPr>
          <a:xfrm>
            <a:off x="365760" y="1069848"/>
            <a:ext cx="8412480" cy="20117"/>
          </a:xfrm>
          <a:prstGeom prst="rect">
            <a:avLst/>
          </a:prstGeom>
          <a:solidFill>
            <a:srgbClr val="3D3D3D"/>
          </a:solidFill>
          <a:ln w="12700">
            <a:solidFill>
              <a:srgbClr val="3D3D3D"/>
            </a:solidFill>
            <a:prstDash val="solid"/>
          </a:ln>
        </p:spPr>
      </p:sp>
      <p:sp>
        <p:nvSpPr>
          <p:cNvPr id="5" name="Shape 2">
            <a:extLst>
              <a:ext uri="{FF2B5EF4-FFF2-40B4-BE49-F238E27FC236}">
                <a16:creationId xmlns:a16="http://schemas.microsoft.com/office/drawing/2014/main" id="{F24B588A-03DA-1956-3EFE-E4678C5B403C}"/>
              </a:ext>
            </a:extLst>
          </p:cNvPr>
          <p:cNvSpPr/>
          <p:nvPr/>
        </p:nvSpPr>
        <p:spPr>
          <a:xfrm>
            <a:off x="0" y="4850892"/>
            <a:ext cx="9144000" cy="292608"/>
          </a:xfrm>
          <a:prstGeom prst="rect">
            <a:avLst/>
          </a:prstGeom>
          <a:solidFill>
            <a:srgbClr val="E87722"/>
          </a:solidFill>
          <a:ln w="12700">
            <a:solidFill>
              <a:srgbClr val="E87722"/>
            </a:solidFill>
            <a:prstDash val="solid"/>
          </a:ln>
        </p:spPr>
      </p:sp>
      <p:sp>
        <p:nvSpPr>
          <p:cNvPr id="6" name="Text 3">
            <a:extLst>
              <a:ext uri="{FF2B5EF4-FFF2-40B4-BE49-F238E27FC236}">
                <a16:creationId xmlns:a16="http://schemas.microsoft.com/office/drawing/2014/main" id="{35443947-AF7D-DFAA-23D1-9C5F609871FD}"/>
              </a:ext>
            </a:extLst>
          </p:cNvPr>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cs typeface="Times New Roman" pitchFamily="34" charset="-120"/>
              </a:rPr>
              <a:t>11</a:t>
            </a:r>
            <a:endParaRPr lang="en-US" sz="1400" dirty="0"/>
          </a:p>
        </p:txBody>
      </p:sp>
      <p:sp>
        <p:nvSpPr>
          <p:cNvPr id="7" name="Shape 4">
            <a:extLst>
              <a:ext uri="{FF2B5EF4-FFF2-40B4-BE49-F238E27FC236}">
                <a16:creationId xmlns:a16="http://schemas.microsoft.com/office/drawing/2014/main" id="{2E60018B-B12B-9B25-2C98-BFBE14F4DF5F}"/>
              </a:ext>
            </a:extLst>
          </p:cNvPr>
          <p:cNvSpPr/>
          <p:nvPr/>
        </p:nvSpPr>
        <p:spPr>
          <a:xfrm>
            <a:off x="365760" y="1325880"/>
            <a:ext cx="4114800" cy="347472"/>
          </a:xfrm>
          <a:prstGeom prst="rect">
            <a:avLst/>
          </a:prstGeom>
          <a:solidFill>
            <a:srgbClr val="1F3864"/>
          </a:solidFill>
          <a:ln w="12700">
            <a:solidFill>
              <a:srgbClr val="1F3864"/>
            </a:solidFill>
            <a:prstDash val="solid"/>
          </a:ln>
        </p:spPr>
      </p:sp>
      <p:sp>
        <p:nvSpPr>
          <p:cNvPr id="8" name="Text 5">
            <a:extLst>
              <a:ext uri="{FF2B5EF4-FFF2-40B4-BE49-F238E27FC236}">
                <a16:creationId xmlns:a16="http://schemas.microsoft.com/office/drawing/2014/main" id="{EAD545B6-CCDF-682E-C30E-ECCD65E53739}"/>
              </a:ext>
            </a:extLst>
          </p:cNvPr>
          <p:cNvSpPr/>
          <p:nvPr/>
        </p:nvSpPr>
        <p:spPr>
          <a:xfrm>
            <a:off x="365760" y="1325880"/>
            <a:ext cx="4114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Ioannis </a:t>
            </a:r>
            <a:r>
              <a:rPr lang="en-US" sz="1400" b="1" dirty="0" err="1">
                <a:solidFill>
                  <a:srgbClr val="FFFFFF"/>
                </a:solidFill>
                <a:latin typeface="Times New Roman" pitchFamily="34" charset="0"/>
                <a:ea typeface="Times New Roman" pitchFamily="34" charset="-122"/>
                <a:cs typeface="Times New Roman" pitchFamily="34" charset="-120"/>
              </a:rPr>
              <a:t>Kavakiotis</a:t>
            </a:r>
            <a:r>
              <a:rPr lang="en-US" sz="1400" b="1" dirty="0">
                <a:solidFill>
                  <a:srgbClr val="FFFFFF"/>
                </a:solidFill>
                <a:latin typeface="Times New Roman" pitchFamily="34" charset="0"/>
                <a:ea typeface="Times New Roman" pitchFamily="34" charset="-122"/>
                <a:cs typeface="Times New Roman" pitchFamily="34" charset="-120"/>
              </a:rPr>
              <a:t> (2017) — Elsevier</a:t>
            </a:r>
            <a:endParaRPr lang="en-US" sz="1400" dirty="0"/>
          </a:p>
        </p:txBody>
      </p:sp>
      <p:sp>
        <p:nvSpPr>
          <p:cNvPr id="9" name="Shape 6">
            <a:extLst>
              <a:ext uri="{FF2B5EF4-FFF2-40B4-BE49-F238E27FC236}">
                <a16:creationId xmlns:a16="http://schemas.microsoft.com/office/drawing/2014/main" id="{5E62CB68-D2A2-4416-634A-177E2F679D65}"/>
              </a:ext>
            </a:extLst>
          </p:cNvPr>
          <p:cNvSpPr/>
          <p:nvPr/>
        </p:nvSpPr>
        <p:spPr>
          <a:xfrm>
            <a:off x="365760" y="1673352"/>
            <a:ext cx="4114800" cy="862965"/>
          </a:xfrm>
          <a:prstGeom prst="rect">
            <a:avLst/>
          </a:prstGeom>
          <a:solidFill>
            <a:srgbClr val="F5F8FF"/>
          </a:solidFill>
          <a:ln w="12700">
            <a:solidFill>
              <a:srgbClr val="D8D8D8"/>
            </a:solidFill>
            <a:prstDash val="solid"/>
          </a:ln>
        </p:spPr>
      </p:sp>
      <p:sp>
        <p:nvSpPr>
          <p:cNvPr id="10" name="Shape 7">
            <a:extLst>
              <a:ext uri="{FF2B5EF4-FFF2-40B4-BE49-F238E27FC236}">
                <a16:creationId xmlns:a16="http://schemas.microsoft.com/office/drawing/2014/main" id="{7388F219-B474-32FE-BA4F-33BC9598F406}"/>
              </a:ext>
            </a:extLst>
          </p:cNvPr>
          <p:cNvSpPr/>
          <p:nvPr/>
        </p:nvSpPr>
        <p:spPr>
          <a:xfrm>
            <a:off x="365760" y="1673352"/>
            <a:ext cx="1417320" cy="862965"/>
          </a:xfrm>
          <a:prstGeom prst="rect">
            <a:avLst/>
          </a:prstGeom>
          <a:solidFill>
            <a:srgbClr val="E8EDF5"/>
          </a:solidFill>
          <a:ln w="12700">
            <a:solidFill>
              <a:srgbClr val="D0D0D0"/>
            </a:solidFill>
            <a:prstDash val="solid"/>
          </a:ln>
        </p:spPr>
      </p:sp>
      <p:sp>
        <p:nvSpPr>
          <p:cNvPr id="11" name="Text 8">
            <a:extLst>
              <a:ext uri="{FF2B5EF4-FFF2-40B4-BE49-F238E27FC236}">
                <a16:creationId xmlns:a16="http://schemas.microsoft.com/office/drawing/2014/main" id="{718A959D-9C4F-54FE-E74B-6BB0B161FE69}"/>
              </a:ext>
            </a:extLst>
          </p:cNvPr>
          <p:cNvSpPr/>
          <p:nvPr/>
        </p:nvSpPr>
        <p:spPr>
          <a:xfrm>
            <a:off x="411480" y="1673352"/>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Aim</a:t>
            </a:r>
            <a:endParaRPr lang="en-US" sz="1200" dirty="0"/>
          </a:p>
        </p:txBody>
      </p:sp>
      <p:sp>
        <p:nvSpPr>
          <p:cNvPr id="12" name="Text 9">
            <a:extLst>
              <a:ext uri="{FF2B5EF4-FFF2-40B4-BE49-F238E27FC236}">
                <a16:creationId xmlns:a16="http://schemas.microsoft.com/office/drawing/2014/main" id="{7B320450-B1CA-1CDD-A85A-374F361FEFC0}"/>
              </a:ext>
            </a:extLst>
          </p:cNvPr>
          <p:cNvSpPr/>
          <p:nvPr/>
        </p:nvSpPr>
        <p:spPr>
          <a:xfrm>
            <a:off x="1828800" y="1673352"/>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To conduct a comprehensive systematic review of machine learning algorithms applied specifically to diabetes diagnosis, prediction, and complication monitoring.</a:t>
            </a:r>
            <a:endParaRPr lang="en-US" sz="1200" dirty="0"/>
          </a:p>
        </p:txBody>
      </p:sp>
      <p:sp>
        <p:nvSpPr>
          <p:cNvPr id="13" name="Shape 10">
            <a:extLst>
              <a:ext uri="{FF2B5EF4-FFF2-40B4-BE49-F238E27FC236}">
                <a16:creationId xmlns:a16="http://schemas.microsoft.com/office/drawing/2014/main" id="{7B157B9A-FB5B-FAE0-845B-BA2D7F425FE9}"/>
              </a:ext>
            </a:extLst>
          </p:cNvPr>
          <p:cNvSpPr/>
          <p:nvPr/>
        </p:nvSpPr>
        <p:spPr>
          <a:xfrm>
            <a:off x="365760" y="2536317"/>
            <a:ext cx="4114800" cy="862965"/>
          </a:xfrm>
          <a:prstGeom prst="rect">
            <a:avLst/>
          </a:prstGeom>
          <a:solidFill>
            <a:srgbClr val="FFFFFF"/>
          </a:solidFill>
          <a:ln w="12700">
            <a:solidFill>
              <a:srgbClr val="D8D8D8"/>
            </a:solidFill>
            <a:prstDash val="solid"/>
          </a:ln>
        </p:spPr>
      </p:sp>
      <p:sp>
        <p:nvSpPr>
          <p:cNvPr id="14" name="Shape 11">
            <a:extLst>
              <a:ext uri="{FF2B5EF4-FFF2-40B4-BE49-F238E27FC236}">
                <a16:creationId xmlns:a16="http://schemas.microsoft.com/office/drawing/2014/main" id="{5796ABFE-5145-61DD-74F0-B8DAE6FEE7D7}"/>
              </a:ext>
            </a:extLst>
          </p:cNvPr>
          <p:cNvSpPr/>
          <p:nvPr/>
        </p:nvSpPr>
        <p:spPr>
          <a:xfrm>
            <a:off x="365760" y="2536317"/>
            <a:ext cx="1417320" cy="862965"/>
          </a:xfrm>
          <a:prstGeom prst="rect">
            <a:avLst/>
          </a:prstGeom>
          <a:solidFill>
            <a:srgbClr val="E8EDF5"/>
          </a:solidFill>
          <a:ln w="12700">
            <a:solidFill>
              <a:srgbClr val="D0D0D0"/>
            </a:solidFill>
            <a:prstDash val="solid"/>
          </a:ln>
        </p:spPr>
      </p:sp>
      <p:sp>
        <p:nvSpPr>
          <p:cNvPr id="15" name="Text 12">
            <a:extLst>
              <a:ext uri="{FF2B5EF4-FFF2-40B4-BE49-F238E27FC236}">
                <a16:creationId xmlns:a16="http://schemas.microsoft.com/office/drawing/2014/main" id="{6F31A26C-F211-8EA5-379E-10C3E4717501}"/>
              </a:ext>
            </a:extLst>
          </p:cNvPr>
          <p:cNvSpPr/>
          <p:nvPr/>
        </p:nvSpPr>
        <p:spPr>
          <a:xfrm>
            <a:off x="411480" y="2536317"/>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Dataset</a:t>
            </a:r>
            <a:endParaRPr lang="en-US" sz="1200" dirty="0"/>
          </a:p>
        </p:txBody>
      </p:sp>
      <p:sp>
        <p:nvSpPr>
          <p:cNvPr id="16" name="Text 13">
            <a:extLst>
              <a:ext uri="{FF2B5EF4-FFF2-40B4-BE49-F238E27FC236}">
                <a16:creationId xmlns:a16="http://schemas.microsoft.com/office/drawing/2014/main" id="{F865C92E-A6CA-011D-9324-C442A7C0160D}"/>
              </a:ext>
            </a:extLst>
          </p:cNvPr>
          <p:cNvSpPr/>
          <p:nvPr/>
        </p:nvSpPr>
        <p:spPr>
          <a:xfrm>
            <a:off x="1828800" y="2536317"/>
            <a:ext cx="2651760" cy="862965"/>
          </a:xfrm>
          <a:prstGeom prst="rect">
            <a:avLst/>
          </a:prstGeom>
          <a:noFill/>
          <a:ln/>
        </p:spPr>
        <p:txBody>
          <a:bodyPr wrap="square" lIns="0" tIns="0" rIns="0" bIns="0" rtlCol="0" anchor="ctr"/>
          <a:lstStyle/>
          <a:p>
            <a:pPr marL="0" indent="0">
              <a:buNone/>
            </a:pPr>
            <a:r>
              <a:rPr lang="pt-BR" sz="1200" dirty="0">
                <a:solidFill>
                  <a:srgbClr val="3D3D3D"/>
                </a:solidFill>
                <a:latin typeface="Times New Roman" pitchFamily="34" charset="0"/>
                <a:ea typeface="Times New Roman" pitchFamily="34" charset="-122"/>
                <a:cs typeface="Times New Roman" pitchFamily="34" charset="-120"/>
              </a:rPr>
              <a:t>Pima Indians Diabetes Dataset (PIDD)</a:t>
            </a:r>
            <a:endParaRPr lang="en-US" sz="1200" dirty="0"/>
          </a:p>
        </p:txBody>
      </p:sp>
      <p:sp>
        <p:nvSpPr>
          <p:cNvPr id="17" name="Shape 14">
            <a:extLst>
              <a:ext uri="{FF2B5EF4-FFF2-40B4-BE49-F238E27FC236}">
                <a16:creationId xmlns:a16="http://schemas.microsoft.com/office/drawing/2014/main" id="{543F1823-2F56-273F-A928-E0B9AF586607}"/>
              </a:ext>
            </a:extLst>
          </p:cNvPr>
          <p:cNvSpPr/>
          <p:nvPr/>
        </p:nvSpPr>
        <p:spPr>
          <a:xfrm>
            <a:off x="365760" y="3399282"/>
            <a:ext cx="4114800" cy="862965"/>
          </a:xfrm>
          <a:prstGeom prst="rect">
            <a:avLst/>
          </a:prstGeom>
          <a:solidFill>
            <a:srgbClr val="F5F8FF"/>
          </a:solidFill>
          <a:ln w="12700">
            <a:solidFill>
              <a:srgbClr val="D8D8D8"/>
            </a:solidFill>
            <a:prstDash val="solid"/>
          </a:ln>
        </p:spPr>
      </p:sp>
      <p:sp>
        <p:nvSpPr>
          <p:cNvPr id="18" name="Shape 15">
            <a:extLst>
              <a:ext uri="{FF2B5EF4-FFF2-40B4-BE49-F238E27FC236}">
                <a16:creationId xmlns:a16="http://schemas.microsoft.com/office/drawing/2014/main" id="{E81AAE81-4462-6323-4A5E-0C2D69179D15}"/>
              </a:ext>
            </a:extLst>
          </p:cNvPr>
          <p:cNvSpPr/>
          <p:nvPr/>
        </p:nvSpPr>
        <p:spPr>
          <a:xfrm>
            <a:off x="365760" y="3399282"/>
            <a:ext cx="1417320" cy="862965"/>
          </a:xfrm>
          <a:prstGeom prst="rect">
            <a:avLst/>
          </a:prstGeom>
          <a:solidFill>
            <a:srgbClr val="E8EDF5"/>
          </a:solidFill>
          <a:ln w="12700">
            <a:solidFill>
              <a:srgbClr val="D0D0D0"/>
            </a:solidFill>
            <a:prstDash val="solid"/>
          </a:ln>
        </p:spPr>
      </p:sp>
      <p:sp>
        <p:nvSpPr>
          <p:cNvPr id="19" name="Text 16">
            <a:extLst>
              <a:ext uri="{FF2B5EF4-FFF2-40B4-BE49-F238E27FC236}">
                <a16:creationId xmlns:a16="http://schemas.microsoft.com/office/drawing/2014/main" id="{2C1282D8-17DC-2671-8D70-61D3CE385FD4}"/>
              </a:ext>
            </a:extLst>
          </p:cNvPr>
          <p:cNvSpPr/>
          <p:nvPr/>
        </p:nvSpPr>
        <p:spPr>
          <a:xfrm>
            <a:off x="411480" y="3399282"/>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Performance</a:t>
            </a:r>
            <a:endParaRPr lang="en-US" sz="1200" dirty="0"/>
          </a:p>
        </p:txBody>
      </p:sp>
      <p:sp>
        <p:nvSpPr>
          <p:cNvPr id="20" name="Text 17">
            <a:extLst>
              <a:ext uri="{FF2B5EF4-FFF2-40B4-BE49-F238E27FC236}">
                <a16:creationId xmlns:a16="http://schemas.microsoft.com/office/drawing/2014/main" id="{011191BC-A9F0-FF85-0AAD-3EF09379B6E8}"/>
              </a:ext>
            </a:extLst>
          </p:cNvPr>
          <p:cNvSpPr/>
          <p:nvPr/>
        </p:nvSpPr>
        <p:spPr>
          <a:xfrm>
            <a:off x="1828800" y="3399282"/>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Random Forest [77.4%]</a:t>
            </a:r>
            <a:endParaRPr lang="en-US" sz="1200" dirty="0"/>
          </a:p>
        </p:txBody>
      </p:sp>
      <p:sp>
        <p:nvSpPr>
          <p:cNvPr id="21" name="Shape 18">
            <a:extLst>
              <a:ext uri="{FF2B5EF4-FFF2-40B4-BE49-F238E27FC236}">
                <a16:creationId xmlns:a16="http://schemas.microsoft.com/office/drawing/2014/main" id="{1C8CDFC8-73D5-387B-1E55-377F270242BF}"/>
              </a:ext>
            </a:extLst>
          </p:cNvPr>
          <p:cNvSpPr/>
          <p:nvPr/>
        </p:nvSpPr>
        <p:spPr>
          <a:xfrm>
            <a:off x="4663440" y="1325880"/>
            <a:ext cx="4114800" cy="347472"/>
          </a:xfrm>
          <a:prstGeom prst="rect">
            <a:avLst/>
          </a:prstGeom>
          <a:solidFill>
            <a:srgbClr val="1F3864"/>
          </a:solidFill>
          <a:ln w="12700">
            <a:solidFill>
              <a:srgbClr val="1F3864"/>
            </a:solidFill>
            <a:prstDash val="solid"/>
          </a:ln>
        </p:spPr>
      </p:sp>
      <p:sp>
        <p:nvSpPr>
          <p:cNvPr id="22" name="Text 19">
            <a:extLst>
              <a:ext uri="{FF2B5EF4-FFF2-40B4-BE49-F238E27FC236}">
                <a16:creationId xmlns:a16="http://schemas.microsoft.com/office/drawing/2014/main" id="{CFC4954D-9328-47E8-FA78-13CE709D4A27}"/>
              </a:ext>
            </a:extLst>
          </p:cNvPr>
          <p:cNvSpPr/>
          <p:nvPr/>
        </p:nvSpPr>
        <p:spPr>
          <a:xfrm>
            <a:off x="4663440" y="1325880"/>
            <a:ext cx="4114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Md. </a:t>
            </a:r>
            <a:r>
              <a:rPr lang="en-US" sz="1400" b="1" dirty="0" err="1">
                <a:solidFill>
                  <a:srgbClr val="FFFFFF"/>
                </a:solidFill>
                <a:latin typeface="Times New Roman" pitchFamily="34" charset="0"/>
                <a:ea typeface="Times New Roman" pitchFamily="34" charset="-122"/>
                <a:cs typeface="Times New Roman" pitchFamily="34" charset="-120"/>
              </a:rPr>
              <a:t>Maniruzzaman</a:t>
            </a:r>
            <a:r>
              <a:rPr lang="en-US" sz="1400" b="1" dirty="0">
                <a:solidFill>
                  <a:srgbClr val="FFFFFF"/>
                </a:solidFill>
                <a:latin typeface="Times New Roman" pitchFamily="34" charset="0"/>
                <a:ea typeface="Times New Roman" pitchFamily="34" charset="-122"/>
                <a:cs typeface="Times New Roman" pitchFamily="34" charset="-120"/>
              </a:rPr>
              <a:t> (2018) - Medical Systems (Springer)</a:t>
            </a:r>
            <a:endParaRPr lang="en-US" sz="1400" dirty="0"/>
          </a:p>
        </p:txBody>
      </p:sp>
      <p:sp>
        <p:nvSpPr>
          <p:cNvPr id="24" name="Shape 21">
            <a:extLst>
              <a:ext uri="{FF2B5EF4-FFF2-40B4-BE49-F238E27FC236}">
                <a16:creationId xmlns:a16="http://schemas.microsoft.com/office/drawing/2014/main" id="{ACE55E36-428C-8CCF-933E-93CBBEE35E86}"/>
              </a:ext>
            </a:extLst>
          </p:cNvPr>
          <p:cNvSpPr/>
          <p:nvPr/>
        </p:nvSpPr>
        <p:spPr>
          <a:xfrm>
            <a:off x="4663440" y="1673352"/>
            <a:ext cx="1417320" cy="862965"/>
          </a:xfrm>
          <a:prstGeom prst="rect">
            <a:avLst/>
          </a:prstGeom>
          <a:solidFill>
            <a:srgbClr val="E8EDF5"/>
          </a:solidFill>
          <a:ln w="12700">
            <a:solidFill>
              <a:srgbClr val="D0D0D0"/>
            </a:solidFill>
            <a:prstDash val="solid"/>
          </a:ln>
        </p:spPr>
      </p:sp>
      <p:sp>
        <p:nvSpPr>
          <p:cNvPr id="25" name="Text 22">
            <a:extLst>
              <a:ext uri="{FF2B5EF4-FFF2-40B4-BE49-F238E27FC236}">
                <a16:creationId xmlns:a16="http://schemas.microsoft.com/office/drawing/2014/main" id="{665D156C-4A21-4903-11E6-B6AD363B6E43}"/>
              </a:ext>
            </a:extLst>
          </p:cNvPr>
          <p:cNvSpPr/>
          <p:nvPr/>
        </p:nvSpPr>
        <p:spPr>
          <a:xfrm>
            <a:off x="4709160" y="1673352"/>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Aim</a:t>
            </a:r>
            <a:endParaRPr lang="en-US" sz="1200" dirty="0"/>
          </a:p>
        </p:txBody>
      </p:sp>
      <p:sp>
        <p:nvSpPr>
          <p:cNvPr id="26" name="Text 23">
            <a:extLst>
              <a:ext uri="{FF2B5EF4-FFF2-40B4-BE49-F238E27FC236}">
                <a16:creationId xmlns:a16="http://schemas.microsoft.com/office/drawing/2014/main" id="{BC58D87E-27CC-2B30-5270-DE1C65776E0E}"/>
              </a:ext>
            </a:extLst>
          </p:cNvPr>
          <p:cNvSpPr/>
          <p:nvPr/>
        </p:nvSpPr>
        <p:spPr>
          <a:xfrm>
            <a:off x="6126480" y="1673352"/>
            <a:ext cx="2456586"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To evaluate and identify the most accurate risk-prediction machine learning classifiers for Type 2 Diabetes based on clinical demographic factors.</a:t>
            </a:r>
            <a:endParaRPr lang="en-US" sz="1200" dirty="0"/>
          </a:p>
        </p:txBody>
      </p:sp>
      <p:sp>
        <p:nvSpPr>
          <p:cNvPr id="27" name="Shape 24">
            <a:extLst>
              <a:ext uri="{FF2B5EF4-FFF2-40B4-BE49-F238E27FC236}">
                <a16:creationId xmlns:a16="http://schemas.microsoft.com/office/drawing/2014/main" id="{B6CB7881-E70C-1FE3-A16D-D81BA1074644}"/>
              </a:ext>
            </a:extLst>
          </p:cNvPr>
          <p:cNvSpPr/>
          <p:nvPr/>
        </p:nvSpPr>
        <p:spPr>
          <a:xfrm>
            <a:off x="4663440" y="2536317"/>
            <a:ext cx="4114800" cy="862965"/>
          </a:xfrm>
          <a:prstGeom prst="rect">
            <a:avLst/>
          </a:prstGeom>
          <a:solidFill>
            <a:srgbClr val="FFFFFF"/>
          </a:solidFill>
          <a:ln w="12700">
            <a:solidFill>
              <a:srgbClr val="D8D8D8"/>
            </a:solidFill>
            <a:prstDash val="solid"/>
          </a:ln>
        </p:spPr>
      </p:sp>
      <p:sp>
        <p:nvSpPr>
          <p:cNvPr id="28" name="Shape 25">
            <a:extLst>
              <a:ext uri="{FF2B5EF4-FFF2-40B4-BE49-F238E27FC236}">
                <a16:creationId xmlns:a16="http://schemas.microsoft.com/office/drawing/2014/main" id="{C8DAD4B1-E848-5CF5-3456-3574FCBC9DAD}"/>
              </a:ext>
            </a:extLst>
          </p:cNvPr>
          <p:cNvSpPr/>
          <p:nvPr/>
        </p:nvSpPr>
        <p:spPr>
          <a:xfrm>
            <a:off x="4663440" y="2536317"/>
            <a:ext cx="1417320" cy="862965"/>
          </a:xfrm>
          <a:prstGeom prst="rect">
            <a:avLst/>
          </a:prstGeom>
          <a:solidFill>
            <a:srgbClr val="E8EDF5"/>
          </a:solidFill>
          <a:ln w="12700">
            <a:solidFill>
              <a:srgbClr val="D0D0D0"/>
            </a:solidFill>
            <a:prstDash val="solid"/>
          </a:ln>
        </p:spPr>
      </p:sp>
      <p:sp>
        <p:nvSpPr>
          <p:cNvPr id="29" name="Text 26">
            <a:extLst>
              <a:ext uri="{FF2B5EF4-FFF2-40B4-BE49-F238E27FC236}">
                <a16:creationId xmlns:a16="http://schemas.microsoft.com/office/drawing/2014/main" id="{A434E923-79E4-511A-D357-C6ABAFEF49B9}"/>
              </a:ext>
            </a:extLst>
          </p:cNvPr>
          <p:cNvSpPr/>
          <p:nvPr/>
        </p:nvSpPr>
        <p:spPr>
          <a:xfrm>
            <a:off x="4709160" y="2536317"/>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Dataset</a:t>
            </a:r>
            <a:endParaRPr lang="en-US" sz="1200" dirty="0"/>
          </a:p>
        </p:txBody>
      </p:sp>
      <p:sp>
        <p:nvSpPr>
          <p:cNvPr id="30" name="Text 27">
            <a:extLst>
              <a:ext uri="{FF2B5EF4-FFF2-40B4-BE49-F238E27FC236}">
                <a16:creationId xmlns:a16="http://schemas.microsoft.com/office/drawing/2014/main" id="{56535633-F482-7467-4809-EE7A0A23A260}"/>
              </a:ext>
            </a:extLst>
          </p:cNvPr>
          <p:cNvSpPr/>
          <p:nvPr/>
        </p:nvSpPr>
        <p:spPr>
          <a:xfrm>
            <a:off x="6126480" y="2536317"/>
            <a:ext cx="2651760" cy="862965"/>
          </a:xfrm>
          <a:prstGeom prst="rect">
            <a:avLst/>
          </a:prstGeom>
          <a:noFill/>
          <a:ln/>
        </p:spPr>
        <p:txBody>
          <a:bodyPr wrap="square" lIns="0" tIns="0" rIns="0" bIns="0" rtlCol="0" anchor="ctr"/>
          <a:lstStyle/>
          <a:p>
            <a:pPr marL="0" indent="0">
              <a:buNone/>
            </a:pPr>
            <a:r>
              <a:rPr lang="pt-BR" sz="1200" dirty="0">
                <a:solidFill>
                  <a:srgbClr val="3D3D3D"/>
                </a:solidFill>
                <a:latin typeface="Times New Roman" pitchFamily="34" charset="0"/>
                <a:ea typeface="Times New Roman" pitchFamily="34" charset="-122"/>
                <a:cs typeface="Times New Roman" pitchFamily="34" charset="-120"/>
              </a:rPr>
              <a:t>Pima Indians Diabetes Dataset (PIDD)</a:t>
            </a:r>
            <a:endParaRPr lang="en-US" sz="1200" dirty="0"/>
          </a:p>
        </p:txBody>
      </p:sp>
      <p:sp>
        <p:nvSpPr>
          <p:cNvPr id="31" name="Shape 28">
            <a:extLst>
              <a:ext uri="{FF2B5EF4-FFF2-40B4-BE49-F238E27FC236}">
                <a16:creationId xmlns:a16="http://schemas.microsoft.com/office/drawing/2014/main" id="{520C09E2-8C6B-6FCC-2FC0-050B0618B0B6}"/>
              </a:ext>
            </a:extLst>
          </p:cNvPr>
          <p:cNvSpPr/>
          <p:nvPr/>
        </p:nvSpPr>
        <p:spPr>
          <a:xfrm>
            <a:off x="4663440" y="3399282"/>
            <a:ext cx="4114800" cy="862965"/>
          </a:xfrm>
          <a:prstGeom prst="rect">
            <a:avLst/>
          </a:prstGeom>
          <a:solidFill>
            <a:srgbClr val="F5F8FF"/>
          </a:solidFill>
          <a:ln w="12700">
            <a:solidFill>
              <a:srgbClr val="D8D8D8"/>
            </a:solidFill>
            <a:prstDash val="solid"/>
          </a:ln>
        </p:spPr>
      </p:sp>
      <p:sp>
        <p:nvSpPr>
          <p:cNvPr id="32" name="Shape 29">
            <a:extLst>
              <a:ext uri="{FF2B5EF4-FFF2-40B4-BE49-F238E27FC236}">
                <a16:creationId xmlns:a16="http://schemas.microsoft.com/office/drawing/2014/main" id="{74034C6F-143C-D344-0251-D982497E951E}"/>
              </a:ext>
            </a:extLst>
          </p:cNvPr>
          <p:cNvSpPr/>
          <p:nvPr/>
        </p:nvSpPr>
        <p:spPr>
          <a:xfrm>
            <a:off x="4663440" y="3399282"/>
            <a:ext cx="1417320" cy="862965"/>
          </a:xfrm>
          <a:prstGeom prst="rect">
            <a:avLst/>
          </a:prstGeom>
          <a:solidFill>
            <a:srgbClr val="E8EDF5"/>
          </a:solidFill>
          <a:ln w="12700">
            <a:solidFill>
              <a:srgbClr val="D0D0D0"/>
            </a:solidFill>
            <a:prstDash val="solid"/>
          </a:ln>
        </p:spPr>
      </p:sp>
      <p:sp>
        <p:nvSpPr>
          <p:cNvPr id="33" name="Text 30">
            <a:extLst>
              <a:ext uri="{FF2B5EF4-FFF2-40B4-BE49-F238E27FC236}">
                <a16:creationId xmlns:a16="http://schemas.microsoft.com/office/drawing/2014/main" id="{D4BECA28-D46E-630C-86FD-49B0EBCB69C1}"/>
              </a:ext>
            </a:extLst>
          </p:cNvPr>
          <p:cNvSpPr/>
          <p:nvPr/>
        </p:nvSpPr>
        <p:spPr>
          <a:xfrm>
            <a:off x="4709160" y="3399282"/>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Performance</a:t>
            </a:r>
            <a:endParaRPr lang="en-US" sz="1200" dirty="0"/>
          </a:p>
        </p:txBody>
      </p:sp>
      <p:sp>
        <p:nvSpPr>
          <p:cNvPr id="34" name="Text 31">
            <a:extLst>
              <a:ext uri="{FF2B5EF4-FFF2-40B4-BE49-F238E27FC236}">
                <a16:creationId xmlns:a16="http://schemas.microsoft.com/office/drawing/2014/main" id="{D8BFB8AF-D873-AD5F-B3E7-636597F99522}"/>
              </a:ext>
            </a:extLst>
          </p:cNvPr>
          <p:cNvSpPr/>
          <p:nvPr/>
        </p:nvSpPr>
        <p:spPr>
          <a:xfrm>
            <a:off x="6126480" y="3399282"/>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Logistic Regression [~78.0%]</a:t>
            </a:r>
            <a:endParaRPr lang="en-US" sz="1200" dirty="0"/>
          </a:p>
        </p:txBody>
      </p:sp>
      <p:pic>
        <p:nvPicPr>
          <p:cNvPr id="35" name="Image 0" descr="preencoded.png">
            <a:extLst>
              <a:ext uri="{FF2B5EF4-FFF2-40B4-BE49-F238E27FC236}">
                <a16:creationId xmlns:a16="http://schemas.microsoft.com/office/drawing/2014/main" id="{7A93791A-1772-DE88-BA95-88E7A01AFEA6}"/>
              </a:ext>
            </a:extLst>
          </p:cNvPr>
          <p:cNvPicPr>
            <a:picLocks noChangeAspect="1"/>
          </p:cNvPicPr>
          <p:nvPr/>
        </p:nvPicPr>
        <p:blipFill>
          <a:blip r:embed="rId3"/>
          <a:stretch>
            <a:fillRect/>
          </a:stretch>
        </p:blipFill>
        <p:spPr>
          <a:xfrm>
            <a:off x="0" y="126492"/>
            <a:ext cx="1143000" cy="475488"/>
          </a:xfrm>
          <a:prstGeom prst="rect">
            <a:avLst/>
          </a:prstGeom>
        </p:spPr>
      </p:pic>
      <p:grpSp>
        <p:nvGrpSpPr>
          <p:cNvPr id="36" name="Group 35">
            <a:extLst>
              <a:ext uri="{FF2B5EF4-FFF2-40B4-BE49-F238E27FC236}">
                <a16:creationId xmlns:a16="http://schemas.microsoft.com/office/drawing/2014/main" id="{568AD2AE-9861-42B8-D0F5-935A0EA31D87}"/>
              </a:ext>
            </a:extLst>
          </p:cNvPr>
          <p:cNvGrpSpPr/>
          <p:nvPr/>
        </p:nvGrpSpPr>
        <p:grpSpPr>
          <a:xfrm>
            <a:off x="7960583" y="126493"/>
            <a:ext cx="1143001" cy="475487"/>
            <a:chOff x="6173572" y="2276778"/>
            <a:chExt cx="2555268" cy="1333578"/>
          </a:xfrm>
        </p:grpSpPr>
        <p:pic>
          <p:nvPicPr>
            <p:cNvPr id="37" name="Picture 36" descr="A logo with blue and orange lines  AI-generated content may be incorrect.">
              <a:extLst>
                <a:ext uri="{FF2B5EF4-FFF2-40B4-BE49-F238E27FC236}">
                  <a16:creationId xmlns:a16="http://schemas.microsoft.com/office/drawing/2014/main" id="{887517A4-F199-07E8-1D2A-E3C2160F097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173572" y="2276778"/>
              <a:ext cx="936104" cy="1295756"/>
            </a:xfrm>
            <a:prstGeom prst="rect">
              <a:avLst/>
            </a:prstGeom>
            <a:noFill/>
            <a:ln>
              <a:noFill/>
            </a:ln>
          </p:spPr>
        </p:pic>
        <p:pic>
          <p:nvPicPr>
            <p:cNvPr id="38" name="Picture 37">
              <a:extLst>
                <a:ext uri="{FF2B5EF4-FFF2-40B4-BE49-F238E27FC236}">
                  <a16:creationId xmlns:a16="http://schemas.microsoft.com/office/drawing/2014/main" id="{23360A0C-BA79-482D-2FF3-C738441EE3D0}"/>
                </a:ext>
              </a:extLst>
            </p:cNvPr>
            <p:cNvPicPr>
              <a:picLocks noChangeAspect="1"/>
            </p:cNvPicPr>
            <p:nvPr/>
          </p:nvPicPr>
          <p:blipFill rotWithShape="1">
            <a:blip r:embed="rId5">
              <a:extLst>
                <a:ext uri="{28A0092B-C50C-407E-A947-70E740481C1C}">
                  <a14:useLocalDpi xmlns:a14="http://schemas.microsoft.com/office/drawing/2010/main" val="0"/>
                </a:ext>
              </a:extLst>
            </a:blip>
            <a:srcRect l="30270" r="31417" b="2264"/>
            <a:stretch/>
          </p:blipFill>
          <p:spPr bwMode="auto">
            <a:xfrm>
              <a:off x="7178602" y="2276778"/>
              <a:ext cx="1550238" cy="1333578"/>
            </a:xfrm>
            <a:prstGeom prst="rect">
              <a:avLst/>
            </a:prstGeom>
            <a:ln>
              <a:noFill/>
            </a:ln>
            <a:extLst>
              <a:ext uri="{53640926-AAD7-44D8-BBD7-CCE9431645EC}">
                <a14:shadowObscured xmlns:a14="http://schemas.microsoft.com/office/drawing/2010/main"/>
              </a:ext>
            </a:extLst>
          </p:spPr>
        </p:pic>
      </p:grpSp>
    </p:spTree>
    <p:extLst>
      <p:ext uri="{BB962C8B-B14F-4D97-AF65-F5344CB8AC3E}">
        <p14:creationId xmlns:p14="http://schemas.microsoft.com/office/powerpoint/2010/main" val="24379292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ea typeface="Times New Roman" pitchFamily="34" charset="-122"/>
                <a:cs typeface="Times New Roman" pitchFamily="34" charset="-120"/>
              </a:rPr>
              <a:t>Literature Review: Foundational ML Methodologies</a:t>
            </a:r>
            <a:endParaRPr lang="en-US" sz="2600" dirty="0"/>
          </a:p>
        </p:txBody>
      </p:sp>
      <p:sp>
        <p:nvSpPr>
          <p:cNvPr id="4" name="Shape 1"/>
          <p:cNvSpPr/>
          <p:nvPr/>
        </p:nvSpPr>
        <p:spPr>
          <a:xfrm>
            <a:off x="365760" y="1069848"/>
            <a:ext cx="8412480" cy="20117"/>
          </a:xfrm>
          <a:prstGeom prst="rect">
            <a:avLst/>
          </a:prstGeom>
          <a:solidFill>
            <a:srgbClr val="3D3D3D"/>
          </a:solidFill>
          <a:ln w="12700">
            <a:solidFill>
              <a:srgbClr val="3D3D3D"/>
            </a:solidFill>
            <a:prstDash val="solid"/>
          </a:ln>
        </p:spPr>
      </p:sp>
      <p:sp>
        <p:nvSpPr>
          <p:cNvPr id="5" name="Shape 2"/>
          <p:cNvSpPr/>
          <p:nvPr/>
        </p:nvSpPr>
        <p:spPr>
          <a:xfrm>
            <a:off x="0" y="4850892"/>
            <a:ext cx="9144000" cy="292608"/>
          </a:xfrm>
          <a:prstGeom prst="rect">
            <a:avLst/>
          </a:prstGeom>
          <a:solidFill>
            <a:srgbClr val="E87722"/>
          </a:solidFill>
          <a:ln w="12700">
            <a:solidFill>
              <a:srgbClr val="E87722"/>
            </a:solidFill>
            <a:prstDash val="solid"/>
          </a:ln>
        </p:spPr>
      </p:sp>
      <p:sp>
        <p:nvSpPr>
          <p:cNvPr id="6" name="Text 3"/>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cs typeface="Times New Roman" pitchFamily="34" charset="-120"/>
              </a:rPr>
              <a:t>12</a:t>
            </a:r>
            <a:endParaRPr lang="en-US" sz="1400" dirty="0"/>
          </a:p>
        </p:txBody>
      </p:sp>
      <p:sp>
        <p:nvSpPr>
          <p:cNvPr id="7" name="Shape 4"/>
          <p:cNvSpPr/>
          <p:nvPr/>
        </p:nvSpPr>
        <p:spPr>
          <a:xfrm>
            <a:off x="365760" y="1325880"/>
            <a:ext cx="4114800" cy="347472"/>
          </a:xfrm>
          <a:prstGeom prst="rect">
            <a:avLst/>
          </a:prstGeom>
          <a:solidFill>
            <a:srgbClr val="1F3864"/>
          </a:solidFill>
          <a:ln w="12700">
            <a:solidFill>
              <a:srgbClr val="1F3864"/>
            </a:solidFill>
            <a:prstDash val="solid"/>
          </a:ln>
        </p:spPr>
      </p:sp>
      <p:sp>
        <p:nvSpPr>
          <p:cNvPr id="8" name="Text 5"/>
          <p:cNvSpPr/>
          <p:nvPr/>
        </p:nvSpPr>
        <p:spPr>
          <a:xfrm>
            <a:off x="365760" y="1325880"/>
            <a:ext cx="4114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Scott M. Lundberg (2017) — NeurIPS</a:t>
            </a:r>
            <a:endParaRPr lang="en-US" sz="1400" dirty="0"/>
          </a:p>
        </p:txBody>
      </p:sp>
      <p:sp>
        <p:nvSpPr>
          <p:cNvPr id="9" name="Shape 6"/>
          <p:cNvSpPr/>
          <p:nvPr/>
        </p:nvSpPr>
        <p:spPr>
          <a:xfrm>
            <a:off x="365760" y="1673352"/>
            <a:ext cx="4114800" cy="862965"/>
          </a:xfrm>
          <a:prstGeom prst="rect">
            <a:avLst/>
          </a:prstGeom>
          <a:solidFill>
            <a:srgbClr val="F5F8FF"/>
          </a:solidFill>
          <a:ln w="12700">
            <a:solidFill>
              <a:srgbClr val="D8D8D8"/>
            </a:solidFill>
            <a:prstDash val="solid"/>
          </a:ln>
        </p:spPr>
      </p:sp>
      <p:sp>
        <p:nvSpPr>
          <p:cNvPr id="10" name="Shape 7"/>
          <p:cNvSpPr/>
          <p:nvPr/>
        </p:nvSpPr>
        <p:spPr>
          <a:xfrm>
            <a:off x="365760" y="1673352"/>
            <a:ext cx="1417320" cy="862965"/>
          </a:xfrm>
          <a:prstGeom prst="rect">
            <a:avLst/>
          </a:prstGeom>
          <a:solidFill>
            <a:srgbClr val="E8EDF5"/>
          </a:solidFill>
          <a:ln w="12700">
            <a:solidFill>
              <a:srgbClr val="D0D0D0"/>
            </a:solidFill>
            <a:prstDash val="solid"/>
          </a:ln>
        </p:spPr>
      </p:sp>
      <p:sp>
        <p:nvSpPr>
          <p:cNvPr id="11" name="Text 8"/>
          <p:cNvSpPr/>
          <p:nvPr/>
        </p:nvSpPr>
        <p:spPr>
          <a:xfrm>
            <a:off x="411480" y="1673352"/>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Aim</a:t>
            </a:r>
            <a:endParaRPr lang="en-US" sz="1200" dirty="0"/>
          </a:p>
        </p:txBody>
      </p:sp>
      <p:sp>
        <p:nvSpPr>
          <p:cNvPr id="12" name="Text 9"/>
          <p:cNvSpPr/>
          <p:nvPr/>
        </p:nvSpPr>
        <p:spPr>
          <a:xfrm>
            <a:off x="1828800" y="1673352"/>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A unified approach to model interpretation</a:t>
            </a:r>
            <a:endParaRPr lang="en-US" sz="1200" dirty="0"/>
          </a:p>
        </p:txBody>
      </p:sp>
      <p:sp>
        <p:nvSpPr>
          <p:cNvPr id="13" name="Shape 10"/>
          <p:cNvSpPr/>
          <p:nvPr/>
        </p:nvSpPr>
        <p:spPr>
          <a:xfrm>
            <a:off x="365760" y="2536317"/>
            <a:ext cx="4114800" cy="862965"/>
          </a:xfrm>
          <a:prstGeom prst="rect">
            <a:avLst/>
          </a:prstGeom>
          <a:solidFill>
            <a:srgbClr val="FFFFFF"/>
          </a:solidFill>
          <a:ln w="12700">
            <a:solidFill>
              <a:srgbClr val="D8D8D8"/>
            </a:solidFill>
            <a:prstDash val="solid"/>
          </a:ln>
        </p:spPr>
      </p:sp>
      <p:sp>
        <p:nvSpPr>
          <p:cNvPr id="14" name="Shape 11"/>
          <p:cNvSpPr/>
          <p:nvPr/>
        </p:nvSpPr>
        <p:spPr>
          <a:xfrm>
            <a:off x="365760" y="2536317"/>
            <a:ext cx="1417320" cy="862965"/>
          </a:xfrm>
          <a:prstGeom prst="rect">
            <a:avLst/>
          </a:prstGeom>
          <a:solidFill>
            <a:srgbClr val="E8EDF5"/>
          </a:solidFill>
          <a:ln w="12700">
            <a:solidFill>
              <a:srgbClr val="D0D0D0"/>
            </a:solidFill>
            <a:prstDash val="solid"/>
          </a:ln>
        </p:spPr>
      </p:sp>
      <p:sp>
        <p:nvSpPr>
          <p:cNvPr id="15" name="Text 12"/>
          <p:cNvSpPr/>
          <p:nvPr/>
        </p:nvSpPr>
        <p:spPr>
          <a:xfrm>
            <a:off x="411480" y="2536317"/>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Method</a:t>
            </a:r>
            <a:endParaRPr lang="en-US" sz="1200" dirty="0"/>
          </a:p>
        </p:txBody>
      </p:sp>
      <p:sp>
        <p:nvSpPr>
          <p:cNvPr id="16" name="Text 13"/>
          <p:cNvSpPr/>
          <p:nvPr/>
        </p:nvSpPr>
        <p:spPr>
          <a:xfrm>
            <a:off x="1828800" y="2536317"/>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SHAP (SHapley Additive exPlanations)</a:t>
            </a:r>
            <a:endParaRPr lang="en-US" sz="1200" dirty="0"/>
          </a:p>
        </p:txBody>
      </p:sp>
      <p:sp>
        <p:nvSpPr>
          <p:cNvPr id="17" name="Shape 14"/>
          <p:cNvSpPr/>
          <p:nvPr/>
        </p:nvSpPr>
        <p:spPr>
          <a:xfrm>
            <a:off x="365760" y="3399282"/>
            <a:ext cx="4114800" cy="862965"/>
          </a:xfrm>
          <a:prstGeom prst="rect">
            <a:avLst/>
          </a:prstGeom>
          <a:solidFill>
            <a:srgbClr val="F5F8FF"/>
          </a:solidFill>
          <a:ln w="12700">
            <a:solidFill>
              <a:srgbClr val="D8D8D8"/>
            </a:solidFill>
            <a:prstDash val="solid"/>
          </a:ln>
        </p:spPr>
      </p:sp>
      <p:sp>
        <p:nvSpPr>
          <p:cNvPr id="18" name="Shape 15"/>
          <p:cNvSpPr/>
          <p:nvPr/>
        </p:nvSpPr>
        <p:spPr>
          <a:xfrm>
            <a:off x="365760" y="3399282"/>
            <a:ext cx="1417320" cy="862965"/>
          </a:xfrm>
          <a:prstGeom prst="rect">
            <a:avLst/>
          </a:prstGeom>
          <a:solidFill>
            <a:srgbClr val="E8EDF5"/>
          </a:solidFill>
          <a:ln w="12700">
            <a:solidFill>
              <a:srgbClr val="D0D0D0"/>
            </a:solidFill>
            <a:prstDash val="solid"/>
          </a:ln>
        </p:spPr>
      </p:sp>
      <p:sp>
        <p:nvSpPr>
          <p:cNvPr id="19" name="Text 16"/>
          <p:cNvSpPr/>
          <p:nvPr/>
        </p:nvSpPr>
        <p:spPr>
          <a:xfrm>
            <a:off x="411480" y="3399282"/>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Significance</a:t>
            </a:r>
            <a:endParaRPr lang="en-US" sz="1200" dirty="0"/>
          </a:p>
        </p:txBody>
      </p:sp>
      <p:sp>
        <p:nvSpPr>
          <p:cNvPr id="20" name="Text 17"/>
          <p:cNvSpPr/>
          <p:nvPr/>
        </p:nvSpPr>
        <p:spPr>
          <a:xfrm>
            <a:off x="1828800" y="3399282"/>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Foundational paper for XAI</a:t>
            </a:r>
            <a:endParaRPr lang="en-US" sz="1200" dirty="0"/>
          </a:p>
        </p:txBody>
      </p:sp>
      <p:sp>
        <p:nvSpPr>
          <p:cNvPr id="21" name="Shape 18"/>
          <p:cNvSpPr/>
          <p:nvPr/>
        </p:nvSpPr>
        <p:spPr>
          <a:xfrm>
            <a:off x="4663440" y="1325880"/>
            <a:ext cx="4114800" cy="347472"/>
          </a:xfrm>
          <a:prstGeom prst="rect">
            <a:avLst/>
          </a:prstGeom>
          <a:solidFill>
            <a:srgbClr val="1F3864"/>
          </a:solidFill>
          <a:ln w="12700">
            <a:solidFill>
              <a:srgbClr val="1F3864"/>
            </a:solidFill>
            <a:prstDash val="solid"/>
          </a:ln>
        </p:spPr>
      </p:sp>
      <p:sp>
        <p:nvSpPr>
          <p:cNvPr id="22" name="Text 19"/>
          <p:cNvSpPr/>
          <p:nvPr/>
        </p:nvSpPr>
        <p:spPr>
          <a:xfrm>
            <a:off x="4663440" y="1325880"/>
            <a:ext cx="4114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Nitesh V. Chawla (2002) — Journal of AI Research (JAIR)</a:t>
            </a:r>
            <a:endParaRPr lang="en-US" sz="1400" dirty="0"/>
          </a:p>
        </p:txBody>
      </p:sp>
      <p:sp>
        <p:nvSpPr>
          <p:cNvPr id="23" name="Shape 20"/>
          <p:cNvSpPr/>
          <p:nvPr/>
        </p:nvSpPr>
        <p:spPr>
          <a:xfrm>
            <a:off x="4663440" y="1673352"/>
            <a:ext cx="4114800" cy="862965"/>
          </a:xfrm>
          <a:prstGeom prst="rect">
            <a:avLst/>
          </a:prstGeom>
          <a:solidFill>
            <a:srgbClr val="F5F8FF"/>
          </a:solidFill>
          <a:ln w="12700">
            <a:solidFill>
              <a:srgbClr val="D8D8D8"/>
            </a:solidFill>
            <a:prstDash val="solid"/>
          </a:ln>
        </p:spPr>
      </p:sp>
      <p:sp>
        <p:nvSpPr>
          <p:cNvPr id="24" name="Shape 21"/>
          <p:cNvSpPr/>
          <p:nvPr/>
        </p:nvSpPr>
        <p:spPr>
          <a:xfrm>
            <a:off x="4663440" y="1673352"/>
            <a:ext cx="1417320" cy="862965"/>
          </a:xfrm>
          <a:prstGeom prst="rect">
            <a:avLst/>
          </a:prstGeom>
          <a:solidFill>
            <a:srgbClr val="E8EDF5"/>
          </a:solidFill>
          <a:ln w="12700">
            <a:solidFill>
              <a:srgbClr val="D0D0D0"/>
            </a:solidFill>
            <a:prstDash val="solid"/>
          </a:ln>
        </p:spPr>
      </p:sp>
      <p:sp>
        <p:nvSpPr>
          <p:cNvPr id="25" name="Text 22"/>
          <p:cNvSpPr/>
          <p:nvPr/>
        </p:nvSpPr>
        <p:spPr>
          <a:xfrm>
            <a:off x="4709160" y="1673352"/>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Aim</a:t>
            </a:r>
            <a:endParaRPr lang="en-US" sz="1200" dirty="0"/>
          </a:p>
        </p:txBody>
      </p:sp>
      <p:sp>
        <p:nvSpPr>
          <p:cNvPr id="26" name="Text 23"/>
          <p:cNvSpPr/>
          <p:nvPr/>
        </p:nvSpPr>
        <p:spPr>
          <a:xfrm>
            <a:off x="6126480" y="1673352"/>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Solving the class imbalance problem</a:t>
            </a:r>
            <a:endParaRPr lang="en-US" sz="1200" dirty="0"/>
          </a:p>
        </p:txBody>
      </p:sp>
      <p:sp>
        <p:nvSpPr>
          <p:cNvPr id="27" name="Shape 24"/>
          <p:cNvSpPr/>
          <p:nvPr/>
        </p:nvSpPr>
        <p:spPr>
          <a:xfrm>
            <a:off x="4663440" y="2536317"/>
            <a:ext cx="4114800" cy="862965"/>
          </a:xfrm>
          <a:prstGeom prst="rect">
            <a:avLst/>
          </a:prstGeom>
          <a:solidFill>
            <a:srgbClr val="FFFFFF"/>
          </a:solidFill>
          <a:ln w="12700">
            <a:solidFill>
              <a:srgbClr val="D8D8D8"/>
            </a:solidFill>
            <a:prstDash val="solid"/>
          </a:ln>
        </p:spPr>
      </p:sp>
      <p:sp>
        <p:nvSpPr>
          <p:cNvPr id="28" name="Shape 25"/>
          <p:cNvSpPr/>
          <p:nvPr/>
        </p:nvSpPr>
        <p:spPr>
          <a:xfrm>
            <a:off x="4663440" y="2536317"/>
            <a:ext cx="1417320" cy="862965"/>
          </a:xfrm>
          <a:prstGeom prst="rect">
            <a:avLst/>
          </a:prstGeom>
          <a:solidFill>
            <a:srgbClr val="E8EDF5"/>
          </a:solidFill>
          <a:ln w="12700">
            <a:solidFill>
              <a:srgbClr val="D0D0D0"/>
            </a:solidFill>
            <a:prstDash val="solid"/>
          </a:ln>
        </p:spPr>
      </p:sp>
      <p:sp>
        <p:nvSpPr>
          <p:cNvPr id="29" name="Text 26"/>
          <p:cNvSpPr/>
          <p:nvPr/>
        </p:nvSpPr>
        <p:spPr>
          <a:xfrm>
            <a:off x="4709160" y="2536317"/>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Method</a:t>
            </a:r>
            <a:endParaRPr lang="en-US" sz="1200" dirty="0"/>
          </a:p>
        </p:txBody>
      </p:sp>
      <p:sp>
        <p:nvSpPr>
          <p:cNvPr id="30" name="Text 27"/>
          <p:cNvSpPr/>
          <p:nvPr/>
        </p:nvSpPr>
        <p:spPr>
          <a:xfrm>
            <a:off x="6126480" y="2536317"/>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SMOTE (Synthetic Minority Over-sampling)</a:t>
            </a:r>
            <a:endParaRPr lang="en-US" sz="1200" dirty="0"/>
          </a:p>
        </p:txBody>
      </p:sp>
      <p:sp>
        <p:nvSpPr>
          <p:cNvPr id="31" name="Shape 28"/>
          <p:cNvSpPr/>
          <p:nvPr/>
        </p:nvSpPr>
        <p:spPr>
          <a:xfrm>
            <a:off x="4663440" y="3399282"/>
            <a:ext cx="4114800" cy="862965"/>
          </a:xfrm>
          <a:prstGeom prst="rect">
            <a:avLst/>
          </a:prstGeom>
          <a:solidFill>
            <a:srgbClr val="F5F8FF"/>
          </a:solidFill>
          <a:ln w="12700">
            <a:solidFill>
              <a:srgbClr val="D8D8D8"/>
            </a:solidFill>
            <a:prstDash val="solid"/>
          </a:ln>
        </p:spPr>
      </p:sp>
      <p:sp>
        <p:nvSpPr>
          <p:cNvPr id="32" name="Shape 29"/>
          <p:cNvSpPr/>
          <p:nvPr/>
        </p:nvSpPr>
        <p:spPr>
          <a:xfrm>
            <a:off x="4663440" y="3399282"/>
            <a:ext cx="1417320" cy="862965"/>
          </a:xfrm>
          <a:prstGeom prst="rect">
            <a:avLst/>
          </a:prstGeom>
          <a:solidFill>
            <a:srgbClr val="E8EDF5"/>
          </a:solidFill>
          <a:ln w="12700">
            <a:solidFill>
              <a:srgbClr val="D0D0D0"/>
            </a:solidFill>
            <a:prstDash val="solid"/>
          </a:ln>
        </p:spPr>
      </p:sp>
      <p:sp>
        <p:nvSpPr>
          <p:cNvPr id="33" name="Text 30"/>
          <p:cNvSpPr/>
          <p:nvPr/>
        </p:nvSpPr>
        <p:spPr>
          <a:xfrm>
            <a:off x="4709160" y="3399282"/>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Significance</a:t>
            </a:r>
            <a:endParaRPr lang="en-US" sz="1200" dirty="0"/>
          </a:p>
        </p:txBody>
      </p:sp>
      <p:sp>
        <p:nvSpPr>
          <p:cNvPr id="34" name="Text 31"/>
          <p:cNvSpPr/>
          <p:nvPr/>
        </p:nvSpPr>
        <p:spPr>
          <a:xfrm>
            <a:off x="6126480" y="3399282"/>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Standard for medical data balancing</a:t>
            </a:r>
            <a:endParaRPr lang="en-US" sz="1200" dirty="0"/>
          </a:p>
        </p:txBody>
      </p:sp>
      <p:pic>
        <p:nvPicPr>
          <p:cNvPr id="35" name="Image 0" descr="preencoded.png">
            <a:extLst>
              <a:ext uri="{FF2B5EF4-FFF2-40B4-BE49-F238E27FC236}">
                <a16:creationId xmlns:a16="http://schemas.microsoft.com/office/drawing/2014/main" id="{BCAAA096-3BEA-6EC4-8179-220837FBAC0E}"/>
              </a:ext>
            </a:extLst>
          </p:cNvPr>
          <p:cNvPicPr>
            <a:picLocks noChangeAspect="1"/>
          </p:cNvPicPr>
          <p:nvPr/>
        </p:nvPicPr>
        <p:blipFill>
          <a:blip r:embed="rId3"/>
          <a:stretch>
            <a:fillRect/>
          </a:stretch>
        </p:blipFill>
        <p:spPr>
          <a:xfrm>
            <a:off x="0" y="126492"/>
            <a:ext cx="1143000" cy="475488"/>
          </a:xfrm>
          <a:prstGeom prst="rect">
            <a:avLst/>
          </a:prstGeom>
        </p:spPr>
      </p:pic>
      <p:grpSp>
        <p:nvGrpSpPr>
          <p:cNvPr id="36" name="Group 35">
            <a:extLst>
              <a:ext uri="{FF2B5EF4-FFF2-40B4-BE49-F238E27FC236}">
                <a16:creationId xmlns:a16="http://schemas.microsoft.com/office/drawing/2014/main" id="{FDFEE4EB-0DCC-8A3F-FF4D-821C4010F3C6}"/>
              </a:ext>
            </a:extLst>
          </p:cNvPr>
          <p:cNvGrpSpPr/>
          <p:nvPr/>
        </p:nvGrpSpPr>
        <p:grpSpPr>
          <a:xfrm>
            <a:off x="7960583" y="126493"/>
            <a:ext cx="1143001" cy="475487"/>
            <a:chOff x="6173572" y="2276778"/>
            <a:chExt cx="2555268" cy="1333578"/>
          </a:xfrm>
        </p:grpSpPr>
        <p:pic>
          <p:nvPicPr>
            <p:cNvPr id="37" name="Picture 36" descr="A logo with blue and orange lines  AI-generated content may be incorrect.">
              <a:extLst>
                <a:ext uri="{FF2B5EF4-FFF2-40B4-BE49-F238E27FC236}">
                  <a16:creationId xmlns:a16="http://schemas.microsoft.com/office/drawing/2014/main" id="{AAAAF21C-0720-BB22-E314-B3327B4A810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173572" y="2276778"/>
              <a:ext cx="936104" cy="1295756"/>
            </a:xfrm>
            <a:prstGeom prst="rect">
              <a:avLst/>
            </a:prstGeom>
            <a:noFill/>
            <a:ln>
              <a:noFill/>
            </a:ln>
          </p:spPr>
        </p:pic>
        <p:pic>
          <p:nvPicPr>
            <p:cNvPr id="38" name="Picture 37">
              <a:extLst>
                <a:ext uri="{FF2B5EF4-FFF2-40B4-BE49-F238E27FC236}">
                  <a16:creationId xmlns:a16="http://schemas.microsoft.com/office/drawing/2014/main" id="{13721D57-D181-1E36-F99D-B53772DF431B}"/>
                </a:ext>
              </a:extLst>
            </p:cNvPr>
            <p:cNvPicPr>
              <a:picLocks noChangeAspect="1"/>
            </p:cNvPicPr>
            <p:nvPr/>
          </p:nvPicPr>
          <p:blipFill rotWithShape="1">
            <a:blip r:embed="rId5">
              <a:extLst>
                <a:ext uri="{28A0092B-C50C-407E-A947-70E740481C1C}">
                  <a14:useLocalDpi xmlns:a14="http://schemas.microsoft.com/office/drawing/2010/main" val="0"/>
                </a:ext>
              </a:extLst>
            </a:blip>
            <a:srcRect l="30270" r="31417" b="2264"/>
            <a:stretch/>
          </p:blipFill>
          <p:spPr bwMode="auto">
            <a:xfrm>
              <a:off x="7178602" y="2276778"/>
              <a:ext cx="1550238" cy="1333578"/>
            </a:xfrm>
            <a:prstGeom prst="rect">
              <a:avLst/>
            </a:prstGeom>
            <a:ln>
              <a:noFill/>
            </a:ln>
            <a:extLst>
              <a:ext uri="{53640926-AAD7-44D8-BBD7-CCE9431645EC}">
                <a14:shadowObscured xmlns:a14="http://schemas.microsoft.com/office/drawing/2010/main"/>
              </a:ext>
            </a:extLst>
          </p:spPr>
        </p:pic>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ea typeface="Times New Roman" pitchFamily="34" charset="-122"/>
                <a:cs typeface="Times New Roman" pitchFamily="34" charset="-120"/>
              </a:rPr>
              <a:t>Datasets</a:t>
            </a:r>
            <a:endParaRPr lang="en-US" sz="2600" dirty="0"/>
          </a:p>
        </p:txBody>
      </p:sp>
      <p:sp>
        <p:nvSpPr>
          <p:cNvPr id="4" name="Shape 1"/>
          <p:cNvSpPr/>
          <p:nvPr/>
        </p:nvSpPr>
        <p:spPr>
          <a:xfrm>
            <a:off x="365760" y="1069848"/>
            <a:ext cx="8412480" cy="20117"/>
          </a:xfrm>
          <a:prstGeom prst="rect">
            <a:avLst/>
          </a:prstGeom>
          <a:solidFill>
            <a:srgbClr val="3D3D3D"/>
          </a:solidFill>
          <a:ln w="12700">
            <a:solidFill>
              <a:srgbClr val="3D3D3D"/>
            </a:solidFill>
            <a:prstDash val="solid"/>
          </a:ln>
        </p:spPr>
      </p:sp>
      <p:sp>
        <p:nvSpPr>
          <p:cNvPr id="5" name="Shape 2"/>
          <p:cNvSpPr/>
          <p:nvPr/>
        </p:nvSpPr>
        <p:spPr>
          <a:xfrm>
            <a:off x="0" y="4850892"/>
            <a:ext cx="9144000" cy="292608"/>
          </a:xfrm>
          <a:prstGeom prst="rect">
            <a:avLst/>
          </a:prstGeom>
          <a:solidFill>
            <a:srgbClr val="E87722"/>
          </a:solidFill>
          <a:ln w="12700">
            <a:solidFill>
              <a:srgbClr val="E87722"/>
            </a:solidFill>
            <a:prstDash val="solid"/>
          </a:ln>
        </p:spPr>
      </p:sp>
      <p:sp>
        <p:nvSpPr>
          <p:cNvPr id="6" name="Text 3"/>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ea typeface="Times New Roman" pitchFamily="34" charset="-122"/>
                <a:cs typeface="Times New Roman" pitchFamily="34" charset="-120"/>
              </a:rPr>
              <a:t>13</a:t>
            </a:r>
            <a:endParaRPr lang="en-US" sz="1400" dirty="0"/>
          </a:p>
        </p:txBody>
      </p:sp>
      <p:sp>
        <p:nvSpPr>
          <p:cNvPr id="7" name="Text 4"/>
          <p:cNvSpPr/>
          <p:nvPr/>
        </p:nvSpPr>
        <p:spPr>
          <a:xfrm>
            <a:off x="365760" y="1325880"/>
            <a:ext cx="8412480" cy="457200"/>
          </a:xfrm>
          <a:prstGeom prst="rect">
            <a:avLst/>
          </a:prstGeom>
          <a:noFill/>
          <a:ln/>
        </p:spPr>
        <p:txBody>
          <a:bodyPr wrap="square" rtlCol="0" anchor="ctr"/>
          <a:lstStyle/>
          <a:p>
            <a:pPr marL="0" indent="0">
              <a:buNone/>
            </a:pPr>
            <a:r>
              <a:rPr lang="en-US" sz="1500" i="1" dirty="0">
                <a:solidFill>
                  <a:srgbClr val="3D3D3D"/>
                </a:solidFill>
                <a:latin typeface="Times New Roman" pitchFamily="34" charset="0"/>
                <a:ea typeface="Times New Roman" pitchFamily="34" charset="-122"/>
                <a:cs typeface="Times New Roman" pitchFamily="34" charset="-120"/>
              </a:rPr>
              <a:t>We validate our approach on two benchmark datasets representing different levels of diagnostic complexity.</a:t>
            </a:r>
            <a:endParaRPr lang="en-US" sz="1500" dirty="0"/>
          </a:p>
        </p:txBody>
      </p:sp>
      <p:sp>
        <p:nvSpPr>
          <p:cNvPr id="8" name="Shape 5"/>
          <p:cNvSpPr/>
          <p:nvPr/>
        </p:nvSpPr>
        <p:spPr>
          <a:xfrm>
            <a:off x="365760" y="1901952"/>
            <a:ext cx="4114800" cy="2875788"/>
          </a:xfrm>
          <a:prstGeom prst="rect">
            <a:avLst/>
          </a:prstGeom>
          <a:solidFill>
            <a:srgbClr val="F5F8FF"/>
          </a:solidFill>
          <a:ln w="12700">
            <a:solidFill>
              <a:srgbClr val="1F3864"/>
            </a:solidFill>
            <a:prstDash val="solid"/>
          </a:ln>
        </p:spPr>
      </p:sp>
      <p:sp>
        <p:nvSpPr>
          <p:cNvPr id="9" name="Shape 6"/>
          <p:cNvSpPr/>
          <p:nvPr/>
        </p:nvSpPr>
        <p:spPr>
          <a:xfrm>
            <a:off x="365760" y="1901952"/>
            <a:ext cx="4114800" cy="365760"/>
          </a:xfrm>
          <a:prstGeom prst="rect">
            <a:avLst/>
          </a:prstGeom>
          <a:solidFill>
            <a:srgbClr val="1F3864"/>
          </a:solidFill>
          <a:ln w="12700">
            <a:solidFill>
              <a:srgbClr val="1F3864"/>
            </a:solidFill>
            <a:prstDash val="solid"/>
          </a:ln>
        </p:spPr>
      </p:sp>
      <p:sp>
        <p:nvSpPr>
          <p:cNvPr id="10" name="Text 7"/>
          <p:cNvSpPr/>
          <p:nvPr/>
        </p:nvSpPr>
        <p:spPr>
          <a:xfrm>
            <a:off x="365760" y="1901952"/>
            <a:ext cx="4114800" cy="365760"/>
          </a:xfrm>
          <a:prstGeom prst="rect">
            <a:avLst/>
          </a:prstGeom>
          <a:noFill/>
          <a:ln/>
        </p:spPr>
        <p:txBody>
          <a:bodyPr wrap="square" lIns="0" tIns="0" rIns="0" bIns="0" rtlCol="0" anchor="ctr"/>
          <a:lstStyle/>
          <a:p>
            <a:pPr marL="0" indent="0" algn="ctr">
              <a:buNone/>
            </a:pPr>
            <a:r>
              <a:rPr lang="en-US" sz="1700" b="1" dirty="0">
                <a:solidFill>
                  <a:srgbClr val="FFFFFF"/>
                </a:solidFill>
                <a:latin typeface="Times New Roman" pitchFamily="34" charset="0"/>
                <a:ea typeface="Times New Roman" pitchFamily="34" charset="-122"/>
                <a:cs typeface="Times New Roman" pitchFamily="34" charset="-120"/>
              </a:rPr>
              <a:t>CKD Dataset</a:t>
            </a:r>
            <a:endParaRPr lang="en-US" sz="1700" dirty="0"/>
          </a:p>
        </p:txBody>
      </p:sp>
      <p:sp>
        <p:nvSpPr>
          <p:cNvPr id="11" name="Text 8"/>
          <p:cNvSpPr/>
          <p:nvPr/>
        </p:nvSpPr>
        <p:spPr>
          <a:xfrm>
            <a:off x="365760" y="2313432"/>
            <a:ext cx="2057400" cy="566928"/>
          </a:xfrm>
          <a:prstGeom prst="rect">
            <a:avLst/>
          </a:prstGeom>
          <a:noFill/>
          <a:ln/>
        </p:spPr>
        <p:txBody>
          <a:bodyPr wrap="square" lIns="0" tIns="0" rIns="0" bIns="0" rtlCol="0" anchor="ctr"/>
          <a:lstStyle/>
          <a:p>
            <a:pPr marL="0" indent="0" algn="ctr">
              <a:buNone/>
            </a:pPr>
            <a:r>
              <a:rPr lang="en-US" sz="3600" b="1" dirty="0">
                <a:solidFill>
                  <a:srgbClr val="E87722"/>
                </a:solidFill>
                <a:latin typeface="Times New Roman" pitchFamily="34" charset="0"/>
                <a:ea typeface="Times New Roman" pitchFamily="34" charset="-122"/>
                <a:cs typeface="Times New Roman" pitchFamily="34" charset="-120"/>
              </a:rPr>
              <a:t>400</a:t>
            </a:r>
            <a:endParaRPr lang="en-US" sz="3600" dirty="0"/>
          </a:p>
        </p:txBody>
      </p:sp>
      <p:sp>
        <p:nvSpPr>
          <p:cNvPr id="12" name="Text 9"/>
          <p:cNvSpPr/>
          <p:nvPr/>
        </p:nvSpPr>
        <p:spPr>
          <a:xfrm>
            <a:off x="365760" y="2889504"/>
            <a:ext cx="2057400" cy="274320"/>
          </a:xfrm>
          <a:prstGeom prst="rect">
            <a:avLst/>
          </a:prstGeom>
          <a:noFill/>
          <a:ln/>
        </p:spPr>
        <p:txBody>
          <a:bodyPr wrap="square" lIns="0" tIns="0" rIns="0" bIns="0" rtlCol="0" anchor="ctr"/>
          <a:lstStyle/>
          <a:p>
            <a:pPr marL="0" indent="0" algn="ctr">
              <a:buNone/>
            </a:pPr>
            <a:r>
              <a:rPr lang="en-US" sz="1300" dirty="0">
                <a:solidFill>
                  <a:srgbClr val="3D3D3D"/>
                </a:solidFill>
                <a:latin typeface="Times New Roman" pitchFamily="34" charset="0"/>
                <a:ea typeface="Times New Roman" pitchFamily="34" charset="-122"/>
                <a:cs typeface="Times New Roman" pitchFamily="34" charset="-120"/>
              </a:rPr>
              <a:t>Clinical Cases</a:t>
            </a:r>
            <a:endParaRPr lang="en-US" sz="1300" dirty="0"/>
          </a:p>
        </p:txBody>
      </p:sp>
      <p:sp>
        <p:nvSpPr>
          <p:cNvPr id="13" name="Text 10"/>
          <p:cNvSpPr/>
          <p:nvPr/>
        </p:nvSpPr>
        <p:spPr>
          <a:xfrm>
            <a:off x="2423160" y="2313432"/>
            <a:ext cx="2057400" cy="566928"/>
          </a:xfrm>
          <a:prstGeom prst="rect">
            <a:avLst/>
          </a:prstGeom>
          <a:noFill/>
          <a:ln/>
        </p:spPr>
        <p:txBody>
          <a:bodyPr wrap="square" lIns="0" tIns="0" rIns="0" bIns="0" rtlCol="0" anchor="ctr"/>
          <a:lstStyle/>
          <a:p>
            <a:pPr marL="0" indent="0" algn="ctr">
              <a:buNone/>
            </a:pPr>
            <a:r>
              <a:rPr lang="en-US" sz="3600" b="1" dirty="0">
                <a:solidFill>
                  <a:srgbClr val="E87722"/>
                </a:solidFill>
                <a:latin typeface="Times New Roman" pitchFamily="34" charset="0"/>
                <a:ea typeface="Times New Roman" pitchFamily="34" charset="-122"/>
                <a:cs typeface="Times New Roman" pitchFamily="34" charset="-120"/>
              </a:rPr>
              <a:t>24</a:t>
            </a:r>
            <a:endParaRPr lang="en-US" sz="3600" dirty="0"/>
          </a:p>
        </p:txBody>
      </p:sp>
      <p:sp>
        <p:nvSpPr>
          <p:cNvPr id="14" name="Text 11"/>
          <p:cNvSpPr/>
          <p:nvPr/>
        </p:nvSpPr>
        <p:spPr>
          <a:xfrm>
            <a:off x="2423160" y="2889504"/>
            <a:ext cx="2057400" cy="274320"/>
          </a:xfrm>
          <a:prstGeom prst="rect">
            <a:avLst/>
          </a:prstGeom>
          <a:noFill/>
          <a:ln/>
        </p:spPr>
        <p:txBody>
          <a:bodyPr wrap="square" lIns="0" tIns="0" rIns="0" bIns="0" rtlCol="0" anchor="ctr"/>
          <a:lstStyle/>
          <a:p>
            <a:pPr marL="0" indent="0" algn="ctr">
              <a:buNone/>
            </a:pPr>
            <a:r>
              <a:rPr lang="en-US" sz="1300" dirty="0">
                <a:solidFill>
                  <a:srgbClr val="3D3D3D"/>
                </a:solidFill>
                <a:latin typeface="Times New Roman" pitchFamily="34" charset="0"/>
                <a:ea typeface="Times New Roman" pitchFamily="34" charset="-122"/>
                <a:cs typeface="Times New Roman" pitchFamily="34" charset="-120"/>
              </a:rPr>
              <a:t>Medical Attributes</a:t>
            </a:r>
            <a:endParaRPr lang="en-US" sz="1300" dirty="0"/>
          </a:p>
        </p:txBody>
      </p:sp>
      <p:sp>
        <p:nvSpPr>
          <p:cNvPr id="15" name="Text 12"/>
          <p:cNvSpPr/>
          <p:nvPr/>
        </p:nvSpPr>
        <p:spPr>
          <a:xfrm>
            <a:off x="475488" y="3227832"/>
            <a:ext cx="3895344" cy="1485900"/>
          </a:xfrm>
          <a:prstGeom prst="rect">
            <a:avLst/>
          </a:prstGeom>
          <a:noFill/>
          <a:ln/>
        </p:spPr>
        <p:txBody>
          <a:bodyPr wrap="square" rtlCol="0" anchor="ctr"/>
          <a:lstStyle/>
          <a:p>
            <a:pPr marL="0" indent="0">
              <a:buNone/>
            </a:pPr>
            <a:r>
              <a:rPr lang="en-US" sz="1300" dirty="0">
                <a:solidFill>
                  <a:srgbClr val="3D3D3D"/>
                </a:solidFill>
                <a:latin typeface="Times New Roman" pitchFamily="34" charset="0"/>
                <a:ea typeface="Times New Roman" pitchFamily="34" charset="-122"/>
                <a:cs typeface="Times New Roman" pitchFamily="34" charset="-120"/>
              </a:rPr>
              <a:t>Key features: Hemoglobin, Specific Gravity, and Albumin levels. Benchmark for high-precision detection due to separable features.</a:t>
            </a:r>
          </a:p>
          <a:p>
            <a:pPr marL="0" indent="0">
              <a:buNone/>
            </a:pPr>
            <a:endParaRPr lang="en-US" sz="1300" dirty="0">
              <a:solidFill>
                <a:srgbClr val="3D3D3D"/>
              </a:solidFill>
              <a:latin typeface="Times New Roman" pitchFamily="34" charset="0"/>
              <a:cs typeface="Times New Roman" pitchFamily="34" charset="-120"/>
            </a:endParaRPr>
          </a:p>
          <a:p>
            <a:pPr marL="0" indent="0">
              <a:buNone/>
            </a:pPr>
            <a:r>
              <a:rPr lang="en-US" sz="1300" dirty="0">
                <a:solidFill>
                  <a:srgbClr val="3D3D3D"/>
                </a:solidFill>
                <a:latin typeface="Times New Roman" pitchFamily="34" charset="0"/>
                <a:cs typeface="Times New Roman" pitchFamily="34" charset="-120"/>
              </a:rPr>
              <a:t>Link: https://archive.ics.uci.edu/dataset/336/chronic+kidney+disease</a:t>
            </a:r>
            <a:endParaRPr lang="en-US" sz="1300" dirty="0"/>
          </a:p>
        </p:txBody>
      </p:sp>
      <p:sp>
        <p:nvSpPr>
          <p:cNvPr id="16" name="Shape 13"/>
          <p:cNvSpPr/>
          <p:nvPr/>
        </p:nvSpPr>
        <p:spPr>
          <a:xfrm>
            <a:off x="4663440" y="1901952"/>
            <a:ext cx="4114800" cy="2875788"/>
          </a:xfrm>
          <a:prstGeom prst="rect">
            <a:avLst/>
          </a:prstGeom>
          <a:solidFill>
            <a:srgbClr val="F5F8FF"/>
          </a:solidFill>
          <a:ln w="12700">
            <a:solidFill>
              <a:srgbClr val="1F3864"/>
            </a:solidFill>
            <a:prstDash val="solid"/>
          </a:ln>
        </p:spPr>
      </p:sp>
      <p:sp>
        <p:nvSpPr>
          <p:cNvPr id="17" name="Shape 14"/>
          <p:cNvSpPr/>
          <p:nvPr/>
        </p:nvSpPr>
        <p:spPr>
          <a:xfrm>
            <a:off x="4663440" y="1901952"/>
            <a:ext cx="4114800" cy="365760"/>
          </a:xfrm>
          <a:prstGeom prst="rect">
            <a:avLst/>
          </a:prstGeom>
          <a:solidFill>
            <a:srgbClr val="1F3864"/>
          </a:solidFill>
          <a:ln w="12700">
            <a:solidFill>
              <a:srgbClr val="1F3864"/>
            </a:solidFill>
            <a:prstDash val="solid"/>
          </a:ln>
        </p:spPr>
      </p:sp>
      <p:sp>
        <p:nvSpPr>
          <p:cNvPr id="18" name="Text 15"/>
          <p:cNvSpPr/>
          <p:nvPr/>
        </p:nvSpPr>
        <p:spPr>
          <a:xfrm>
            <a:off x="4663440" y="1901952"/>
            <a:ext cx="4114800" cy="365760"/>
          </a:xfrm>
          <a:prstGeom prst="rect">
            <a:avLst/>
          </a:prstGeom>
          <a:noFill/>
          <a:ln/>
        </p:spPr>
        <p:txBody>
          <a:bodyPr wrap="square" lIns="0" tIns="0" rIns="0" bIns="0" rtlCol="0" anchor="ctr"/>
          <a:lstStyle/>
          <a:p>
            <a:pPr marL="0" indent="0" algn="ctr">
              <a:buNone/>
            </a:pPr>
            <a:r>
              <a:rPr lang="en-US" sz="1700" b="1" dirty="0">
                <a:solidFill>
                  <a:srgbClr val="FFFFFF"/>
                </a:solidFill>
                <a:latin typeface="Times New Roman" pitchFamily="34" charset="0"/>
                <a:ea typeface="Times New Roman" pitchFamily="34" charset="-122"/>
                <a:cs typeface="Times New Roman" pitchFamily="34" charset="-120"/>
              </a:rPr>
              <a:t>Diabetes Dataset</a:t>
            </a:r>
            <a:endParaRPr lang="en-US" sz="1700" dirty="0"/>
          </a:p>
        </p:txBody>
      </p:sp>
      <p:sp>
        <p:nvSpPr>
          <p:cNvPr id="19" name="Text 16"/>
          <p:cNvSpPr/>
          <p:nvPr/>
        </p:nvSpPr>
        <p:spPr>
          <a:xfrm>
            <a:off x="4663440" y="2313432"/>
            <a:ext cx="2057400" cy="566928"/>
          </a:xfrm>
          <a:prstGeom prst="rect">
            <a:avLst/>
          </a:prstGeom>
          <a:noFill/>
          <a:ln/>
        </p:spPr>
        <p:txBody>
          <a:bodyPr wrap="square" lIns="0" tIns="0" rIns="0" bIns="0" rtlCol="0" anchor="ctr"/>
          <a:lstStyle/>
          <a:p>
            <a:pPr marL="0" indent="0" algn="ctr">
              <a:buNone/>
            </a:pPr>
            <a:r>
              <a:rPr lang="en-US" sz="3600" b="1" dirty="0">
                <a:solidFill>
                  <a:srgbClr val="E87722"/>
                </a:solidFill>
                <a:latin typeface="Times New Roman" pitchFamily="34" charset="0"/>
                <a:ea typeface="Times New Roman" pitchFamily="34" charset="-122"/>
                <a:cs typeface="Times New Roman" pitchFamily="34" charset="-120"/>
              </a:rPr>
              <a:t>768</a:t>
            </a:r>
            <a:endParaRPr lang="en-US" sz="3600" dirty="0"/>
          </a:p>
        </p:txBody>
      </p:sp>
      <p:sp>
        <p:nvSpPr>
          <p:cNvPr id="20" name="Text 17"/>
          <p:cNvSpPr/>
          <p:nvPr/>
        </p:nvSpPr>
        <p:spPr>
          <a:xfrm>
            <a:off x="4663440" y="2889504"/>
            <a:ext cx="2057400" cy="274320"/>
          </a:xfrm>
          <a:prstGeom prst="rect">
            <a:avLst/>
          </a:prstGeom>
          <a:noFill/>
          <a:ln/>
        </p:spPr>
        <p:txBody>
          <a:bodyPr wrap="square" lIns="0" tIns="0" rIns="0" bIns="0" rtlCol="0" anchor="ctr"/>
          <a:lstStyle/>
          <a:p>
            <a:pPr marL="0" indent="0" algn="ctr">
              <a:buNone/>
            </a:pPr>
            <a:r>
              <a:rPr lang="en-US" sz="1300" dirty="0">
                <a:solidFill>
                  <a:srgbClr val="3D3D3D"/>
                </a:solidFill>
                <a:latin typeface="Times New Roman" pitchFamily="34" charset="0"/>
                <a:ea typeface="Times New Roman" pitchFamily="34" charset="-122"/>
                <a:cs typeface="Times New Roman" pitchFamily="34" charset="-120"/>
              </a:rPr>
              <a:t>Patient Samples</a:t>
            </a:r>
            <a:endParaRPr lang="en-US" sz="1300" dirty="0"/>
          </a:p>
        </p:txBody>
      </p:sp>
      <p:sp>
        <p:nvSpPr>
          <p:cNvPr id="21" name="Text 18"/>
          <p:cNvSpPr/>
          <p:nvPr/>
        </p:nvSpPr>
        <p:spPr>
          <a:xfrm>
            <a:off x="6720840" y="2313432"/>
            <a:ext cx="2057400" cy="566928"/>
          </a:xfrm>
          <a:prstGeom prst="rect">
            <a:avLst/>
          </a:prstGeom>
          <a:noFill/>
          <a:ln/>
        </p:spPr>
        <p:txBody>
          <a:bodyPr wrap="square" lIns="0" tIns="0" rIns="0" bIns="0" rtlCol="0" anchor="ctr"/>
          <a:lstStyle/>
          <a:p>
            <a:pPr marL="0" indent="0" algn="ctr">
              <a:buNone/>
            </a:pPr>
            <a:r>
              <a:rPr lang="en-US" sz="3600" b="1" dirty="0">
                <a:solidFill>
                  <a:srgbClr val="E87722"/>
                </a:solidFill>
                <a:latin typeface="Times New Roman" pitchFamily="34" charset="0"/>
                <a:ea typeface="Times New Roman" pitchFamily="34" charset="-122"/>
                <a:cs typeface="Times New Roman" pitchFamily="34" charset="-120"/>
              </a:rPr>
              <a:t>8</a:t>
            </a:r>
            <a:endParaRPr lang="en-US" sz="3600" dirty="0"/>
          </a:p>
        </p:txBody>
      </p:sp>
      <p:sp>
        <p:nvSpPr>
          <p:cNvPr id="22" name="Text 19"/>
          <p:cNvSpPr/>
          <p:nvPr/>
        </p:nvSpPr>
        <p:spPr>
          <a:xfrm>
            <a:off x="6720840" y="2889504"/>
            <a:ext cx="2057400" cy="274320"/>
          </a:xfrm>
          <a:prstGeom prst="rect">
            <a:avLst/>
          </a:prstGeom>
          <a:noFill/>
          <a:ln/>
        </p:spPr>
        <p:txBody>
          <a:bodyPr wrap="square" lIns="0" tIns="0" rIns="0" bIns="0" rtlCol="0" anchor="ctr"/>
          <a:lstStyle/>
          <a:p>
            <a:pPr marL="0" indent="0" algn="ctr">
              <a:buNone/>
            </a:pPr>
            <a:r>
              <a:rPr lang="en-US" sz="1300" dirty="0">
                <a:solidFill>
                  <a:srgbClr val="3D3D3D"/>
                </a:solidFill>
                <a:latin typeface="Times New Roman" pitchFamily="34" charset="0"/>
                <a:ea typeface="Times New Roman" pitchFamily="34" charset="-122"/>
                <a:cs typeface="Times New Roman" pitchFamily="34" charset="-120"/>
              </a:rPr>
              <a:t>Diagnostic Variables</a:t>
            </a:r>
            <a:endParaRPr lang="en-US" sz="1300" dirty="0"/>
          </a:p>
        </p:txBody>
      </p:sp>
      <p:sp>
        <p:nvSpPr>
          <p:cNvPr id="23" name="Text 20"/>
          <p:cNvSpPr/>
          <p:nvPr/>
        </p:nvSpPr>
        <p:spPr>
          <a:xfrm>
            <a:off x="4773168" y="3227832"/>
            <a:ext cx="3895344" cy="1485900"/>
          </a:xfrm>
          <a:prstGeom prst="rect">
            <a:avLst/>
          </a:prstGeom>
          <a:noFill/>
          <a:ln/>
        </p:spPr>
        <p:txBody>
          <a:bodyPr wrap="square" rtlCol="0" anchor="ctr"/>
          <a:lstStyle/>
          <a:p>
            <a:pPr marL="0" indent="0">
              <a:buNone/>
            </a:pPr>
            <a:r>
              <a:rPr lang="en-US" sz="1300" dirty="0">
                <a:solidFill>
                  <a:srgbClr val="3D3D3D"/>
                </a:solidFill>
                <a:latin typeface="Times New Roman" pitchFamily="34" charset="0"/>
                <a:ea typeface="Times New Roman" pitchFamily="34" charset="-122"/>
                <a:cs typeface="Times New Roman" pitchFamily="34" charset="-120"/>
              </a:rPr>
              <a:t>Features: Glucose, BMI, and Blood Pressure. Evaluates model robustness against noise and class overlap.</a:t>
            </a:r>
          </a:p>
          <a:p>
            <a:pPr marL="0" indent="0">
              <a:buNone/>
            </a:pPr>
            <a:endParaRPr lang="en-US" sz="1300" dirty="0">
              <a:solidFill>
                <a:srgbClr val="3D3D3D"/>
              </a:solidFill>
              <a:latin typeface="Times New Roman" pitchFamily="34" charset="0"/>
              <a:cs typeface="Times New Roman" pitchFamily="34" charset="-120"/>
            </a:endParaRPr>
          </a:p>
          <a:p>
            <a:pPr marL="0" indent="0">
              <a:buNone/>
            </a:pPr>
            <a:r>
              <a:rPr lang="en-US" sz="1300" dirty="0">
                <a:solidFill>
                  <a:srgbClr val="3D3D3D"/>
                </a:solidFill>
                <a:latin typeface="Times New Roman" pitchFamily="34" charset="0"/>
                <a:cs typeface="Times New Roman" pitchFamily="34" charset="-120"/>
              </a:rPr>
              <a:t>Link: https://www.openml.org/search?type=data&amp;sort=version&amp;status=any&amp;order=asc&amp;exact_name=diabetes&amp;id=37</a:t>
            </a:r>
            <a:endParaRPr lang="en-US" sz="1300" dirty="0"/>
          </a:p>
        </p:txBody>
      </p:sp>
      <p:pic>
        <p:nvPicPr>
          <p:cNvPr id="24" name="Image 0" descr="preencoded.png">
            <a:extLst>
              <a:ext uri="{FF2B5EF4-FFF2-40B4-BE49-F238E27FC236}">
                <a16:creationId xmlns:a16="http://schemas.microsoft.com/office/drawing/2014/main" id="{4E71E4A3-6E05-C572-E850-D79CB5FF4A90}"/>
              </a:ext>
            </a:extLst>
          </p:cNvPr>
          <p:cNvPicPr>
            <a:picLocks noChangeAspect="1"/>
          </p:cNvPicPr>
          <p:nvPr/>
        </p:nvPicPr>
        <p:blipFill>
          <a:blip r:embed="rId3"/>
          <a:stretch>
            <a:fillRect/>
          </a:stretch>
        </p:blipFill>
        <p:spPr>
          <a:xfrm>
            <a:off x="0" y="126492"/>
            <a:ext cx="1143000" cy="475488"/>
          </a:xfrm>
          <a:prstGeom prst="rect">
            <a:avLst/>
          </a:prstGeom>
        </p:spPr>
      </p:pic>
      <p:grpSp>
        <p:nvGrpSpPr>
          <p:cNvPr id="25" name="Group 24">
            <a:extLst>
              <a:ext uri="{FF2B5EF4-FFF2-40B4-BE49-F238E27FC236}">
                <a16:creationId xmlns:a16="http://schemas.microsoft.com/office/drawing/2014/main" id="{A0D6897C-5AF5-A644-2B2E-05FD81B17026}"/>
              </a:ext>
            </a:extLst>
          </p:cNvPr>
          <p:cNvGrpSpPr/>
          <p:nvPr/>
        </p:nvGrpSpPr>
        <p:grpSpPr>
          <a:xfrm>
            <a:off x="7960583" y="126493"/>
            <a:ext cx="1143001" cy="475487"/>
            <a:chOff x="6173572" y="2276778"/>
            <a:chExt cx="2555268" cy="1333578"/>
          </a:xfrm>
        </p:grpSpPr>
        <p:pic>
          <p:nvPicPr>
            <p:cNvPr id="26" name="Picture 25" descr="A logo with blue and orange lines  AI-generated content may be incorrect.">
              <a:extLst>
                <a:ext uri="{FF2B5EF4-FFF2-40B4-BE49-F238E27FC236}">
                  <a16:creationId xmlns:a16="http://schemas.microsoft.com/office/drawing/2014/main" id="{741F4AF6-A30C-9F19-A82B-392BE1D1C5B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173572" y="2276778"/>
              <a:ext cx="936104" cy="1295756"/>
            </a:xfrm>
            <a:prstGeom prst="rect">
              <a:avLst/>
            </a:prstGeom>
            <a:noFill/>
            <a:ln>
              <a:noFill/>
            </a:ln>
          </p:spPr>
        </p:pic>
        <p:pic>
          <p:nvPicPr>
            <p:cNvPr id="27" name="Picture 26">
              <a:extLst>
                <a:ext uri="{FF2B5EF4-FFF2-40B4-BE49-F238E27FC236}">
                  <a16:creationId xmlns:a16="http://schemas.microsoft.com/office/drawing/2014/main" id="{70E32920-CB2F-ECC7-4B03-9F9130EC3308}"/>
                </a:ext>
              </a:extLst>
            </p:cNvPr>
            <p:cNvPicPr>
              <a:picLocks noChangeAspect="1"/>
            </p:cNvPicPr>
            <p:nvPr/>
          </p:nvPicPr>
          <p:blipFill rotWithShape="1">
            <a:blip r:embed="rId5">
              <a:extLst>
                <a:ext uri="{28A0092B-C50C-407E-A947-70E740481C1C}">
                  <a14:useLocalDpi xmlns:a14="http://schemas.microsoft.com/office/drawing/2010/main" val="0"/>
                </a:ext>
              </a:extLst>
            </a:blip>
            <a:srcRect l="30270" r="31417" b="2264"/>
            <a:stretch/>
          </p:blipFill>
          <p:spPr bwMode="auto">
            <a:xfrm>
              <a:off x="7178602" y="2276778"/>
              <a:ext cx="1550238" cy="1333578"/>
            </a:xfrm>
            <a:prstGeom prst="rect">
              <a:avLst/>
            </a:prstGeom>
            <a:ln>
              <a:noFill/>
            </a:ln>
            <a:extLst>
              <a:ext uri="{53640926-AAD7-44D8-BBD7-CCE9431645EC}">
                <a14:shadowObscured xmlns:a14="http://schemas.microsoft.com/office/drawing/2010/main"/>
              </a:ext>
            </a:extLst>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ea typeface="Times New Roman" pitchFamily="34" charset="-122"/>
                <a:cs typeface="Times New Roman" pitchFamily="34" charset="-120"/>
              </a:rPr>
              <a:t>Our Approach</a:t>
            </a:r>
            <a:endParaRPr lang="en-US" sz="2600" dirty="0"/>
          </a:p>
        </p:txBody>
      </p:sp>
      <p:sp>
        <p:nvSpPr>
          <p:cNvPr id="4" name="Shape 1"/>
          <p:cNvSpPr/>
          <p:nvPr/>
        </p:nvSpPr>
        <p:spPr>
          <a:xfrm>
            <a:off x="365760" y="1069848"/>
            <a:ext cx="8412480" cy="20117"/>
          </a:xfrm>
          <a:prstGeom prst="rect">
            <a:avLst/>
          </a:prstGeom>
          <a:solidFill>
            <a:srgbClr val="3D3D3D"/>
          </a:solidFill>
          <a:ln w="12700">
            <a:solidFill>
              <a:srgbClr val="3D3D3D"/>
            </a:solidFill>
            <a:prstDash val="solid"/>
          </a:ln>
        </p:spPr>
      </p:sp>
      <p:sp>
        <p:nvSpPr>
          <p:cNvPr id="5" name="Shape 2"/>
          <p:cNvSpPr/>
          <p:nvPr/>
        </p:nvSpPr>
        <p:spPr>
          <a:xfrm>
            <a:off x="0" y="4850892"/>
            <a:ext cx="9144000" cy="292608"/>
          </a:xfrm>
          <a:prstGeom prst="rect">
            <a:avLst/>
          </a:prstGeom>
          <a:solidFill>
            <a:srgbClr val="E87722"/>
          </a:solidFill>
          <a:ln w="12700">
            <a:solidFill>
              <a:srgbClr val="E87722"/>
            </a:solidFill>
            <a:prstDash val="solid"/>
          </a:ln>
        </p:spPr>
      </p:sp>
      <p:sp>
        <p:nvSpPr>
          <p:cNvPr id="6" name="Text 3"/>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cs typeface="Times New Roman" pitchFamily="34" charset="-120"/>
              </a:rPr>
              <a:t>14</a:t>
            </a:r>
            <a:endParaRPr lang="en-US" sz="1400" dirty="0"/>
          </a:p>
        </p:txBody>
      </p:sp>
      <p:sp>
        <p:nvSpPr>
          <p:cNvPr id="7" name="Text 4"/>
          <p:cNvSpPr/>
          <p:nvPr/>
        </p:nvSpPr>
        <p:spPr>
          <a:xfrm>
            <a:off x="365760" y="1325880"/>
            <a:ext cx="8412480" cy="502920"/>
          </a:xfrm>
          <a:prstGeom prst="rect">
            <a:avLst/>
          </a:prstGeom>
          <a:noFill/>
          <a:ln/>
        </p:spPr>
        <p:txBody>
          <a:bodyPr wrap="square" rtlCol="0" anchor="ctr"/>
          <a:lstStyle/>
          <a:p>
            <a:pPr marL="0" indent="0">
              <a:buNone/>
            </a:pPr>
            <a:r>
              <a:rPr lang="en-US" sz="1600" i="1" dirty="0">
                <a:solidFill>
                  <a:srgbClr val="3D3D3D"/>
                </a:solidFill>
                <a:latin typeface="Times New Roman" pitchFamily="34" charset="0"/>
                <a:ea typeface="Times New Roman" pitchFamily="34" charset="-122"/>
                <a:cs typeface="Times New Roman" pitchFamily="34" charset="-120"/>
              </a:rPr>
              <a:t>We present a robust framework that addresses all three fundamental flaws identified in existing ML studies.</a:t>
            </a:r>
            <a:endParaRPr lang="en-US" sz="1600" dirty="0"/>
          </a:p>
        </p:txBody>
      </p:sp>
      <p:sp>
        <p:nvSpPr>
          <p:cNvPr id="8" name="Text 5"/>
          <p:cNvSpPr/>
          <p:nvPr/>
        </p:nvSpPr>
        <p:spPr>
          <a:xfrm>
            <a:off x="365760" y="1938528"/>
            <a:ext cx="8412480" cy="292608"/>
          </a:xfrm>
          <a:prstGeom prst="rect">
            <a:avLst/>
          </a:prstGeom>
          <a:noFill/>
          <a:ln/>
        </p:spPr>
        <p:txBody>
          <a:bodyPr wrap="square" rtlCol="0" anchor="ctr"/>
          <a:lstStyle/>
          <a:p>
            <a:pPr marL="0" indent="0">
              <a:buNone/>
            </a:pPr>
            <a:r>
              <a:rPr lang="en-US" sz="1800" b="1" dirty="0">
                <a:solidFill>
                  <a:srgbClr val="1F3864"/>
                </a:solidFill>
                <a:latin typeface="Times New Roman" pitchFamily="34" charset="0"/>
                <a:ea typeface="Times New Roman" pitchFamily="34" charset="-122"/>
                <a:cs typeface="Times New Roman" pitchFamily="34" charset="-120"/>
              </a:rPr>
              <a:t>Methodology Pipeline</a:t>
            </a:r>
            <a:endParaRPr lang="en-US" sz="1800" dirty="0"/>
          </a:p>
        </p:txBody>
      </p:sp>
      <p:grpSp>
        <p:nvGrpSpPr>
          <p:cNvPr id="25" name="Group 24">
            <a:extLst>
              <a:ext uri="{FF2B5EF4-FFF2-40B4-BE49-F238E27FC236}">
                <a16:creationId xmlns:a16="http://schemas.microsoft.com/office/drawing/2014/main" id="{A6EA8A30-D21D-550F-BE1B-DDCEFE169033}"/>
              </a:ext>
            </a:extLst>
          </p:cNvPr>
          <p:cNvGrpSpPr/>
          <p:nvPr/>
        </p:nvGrpSpPr>
        <p:grpSpPr>
          <a:xfrm>
            <a:off x="365760" y="2542032"/>
            <a:ext cx="5318760" cy="1994916"/>
            <a:chOff x="365760" y="2286000"/>
            <a:chExt cx="8412480" cy="2491740"/>
          </a:xfrm>
        </p:grpSpPr>
        <p:sp>
          <p:nvSpPr>
            <p:cNvPr id="9" name="Shape 6"/>
            <p:cNvSpPr/>
            <p:nvPr/>
          </p:nvSpPr>
          <p:spPr>
            <a:xfrm>
              <a:off x="365760" y="2286000"/>
              <a:ext cx="2743200" cy="2491740"/>
            </a:xfrm>
            <a:prstGeom prst="rect">
              <a:avLst/>
            </a:prstGeom>
            <a:solidFill>
              <a:srgbClr val="F9F9F9"/>
            </a:solidFill>
            <a:ln w="12700">
              <a:solidFill>
                <a:srgbClr val="E0E0E0"/>
              </a:solidFill>
              <a:prstDash val="solid"/>
            </a:ln>
          </p:spPr>
        </p:sp>
        <p:sp>
          <p:nvSpPr>
            <p:cNvPr id="10" name="Shape 7"/>
            <p:cNvSpPr/>
            <p:nvPr/>
          </p:nvSpPr>
          <p:spPr>
            <a:xfrm>
              <a:off x="457200" y="2377440"/>
              <a:ext cx="365760" cy="365760"/>
            </a:xfrm>
            <a:prstGeom prst="ellipse">
              <a:avLst/>
            </a:prstGeom>
            <a:solidFill>
              <a:srgbClr val="E87722"/>
            </a:solidFill>
            <a:ln w="12700">
              <a:solidFill>
                <a:srgbClr val="E87722"/>
              </a:solidFill>
              <a:prstDash val="solid"/>
            </a:ln>
          </p:spPr>
        </p:sp>
        <p:sp>
          <p:nvSpPr>
            <p:cNvPr id="11" name="Text 8"/>
            <p:cNvSpPr/>
            <p:nvPr/>
          </p:nvSpPr>
          <p:spPr>
            <a:xfrm>
              <a:off x="457200" y="23774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1</a:t>
              </a:r>
              <a:endParaRPr lang="en-US" sz="1400" dirty="0"/>
            </a:p>
          </p:txBody>
        </p:sp>
        <p:sp>
          <p:nvSpPr>
            <p:cNvPr id="12" name="Text 9"/>
            <p:cNvSpPr/>
            <p:nvPr/>
          </p:nvSpPr>
          <p:spPr>
            <a:xfrm>
              <a:off x="896112" y="2377440"/>
              <a:ext cx="2121408" cy="292608"/>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Stratified 10-Fold Cross-Validation</a:t>
              </a:r>
              <a:endParaRPr lang="en-US" sz="1200" dirty="0"/>
            </a:p>
          </p:txBody>
        </p:sp>
        <p:sp>
          <p:nvSpPr>
            <p:cNvPr id="13" name="Text 10"/>
            <p:cNvSpPr/>
            <p:nvPr/>
          </p:nvSpPr>
          <p:spPr>
            <a:xfrm>
              <a:off x="493776" y="2743200"/>
              <a:ext cx="2523744" cy="1943100"/>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Ensures statistical rigor and prevents overfitting on small medical samples</a:t>
              </a:r>
              <a:endParaRPr lang="en-US" sz="1200" dirty="0"/>
            </a:p>
          </p:txBody>
        </p:sp>
        <p:sp>
          <p:nvSpPr>
            <p:cNvPr id="14" name="Shape 11"/>
            <p:cNvSpPr/>
            <p:nvPr/>
          </p:nvSpPr>
          <p:spPr>
            <a:xfrm>
              <a:off x="3200400" y="2286000"/>
              <a:ext cx="2743200" cy="2491740"/>
            </a:xfrm>
            <a:prstGeom prst="rect">
              <a:avLst/>
            </a:prstGeom>
            <a:solidFill>
              <a:srgbClr val="F9F9F9"/>
            </a:solidFill>
            <a:ln w="12700">
              <a:solidFill>
                <a:srgbClr val="E0E0E0"/>
              </a:solidFill>
              <a:prstDash val="solid"/>
            </a:ln>
          </p:spPr>
        </p:sp>
        <p:sp>
          <p:nvSpPr>
            <p:cNvPr id="15" name="Shape 12"/>
            <p:cNvSpPr/>
            <p:nvPr/>
          </p:nvSpPr>
          <p:spPr>
            <a:xfrm>
              <a:off x="3291840" y="2377440"/>
              <a:ext cx="365760" cy="365760"/>
            </a:xfrm>
            <a:prstGeom prst="ellipse">
              <a:avLst/>
            </a:prstGeom>
            <a:solidFill>
              <a:srgbClr val="E87722"/>
            </a:solidFill>
            <a:ln w="12700">
              <a:solidFill>
                <a:srgbClr val="E87722"/>
              </a:solidFill>
              <a:prstDash val="solid"/>
            </a:ln>
          </p:spPr>
        </p:sp>
        <p:sp>
          <p:nvSpPr>
            <p:cNvPr id="16" name="Text 13"/>
            <p:cNvSpPr/>
            <p:nvPr/>
          </p:nvSpPr>
          <p:spPr>
            <a:xfrm>
              <a:off x="3291840" y="23774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2</a:t>
              </a:r>
              <a:endParaRPr lang="en-US" sz="1400" dirty="0"/>
            </a:p>
          </p:txBody>
        </p:sp>
        <p:sp>
          <p:nvSpPr>
            <p:cNvPr id="17" name="Text 14"/>
            <p:cNvSpPr/>
            <p:nvPr/>
          </p:nvSpPr>
          <p:spPr>
            <a:xfrm>
              <a:off x="3730752" y="2377440"/>
              <a:ext cx="2121408" cy="292608"/>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SMOTE Integration</a:t>
              </a:r>
              <a:endParaRPr lang="en-US" sz="1200" dirty="0"/>
            </a:p>
          </p:txBody>
        </p:sp>
        <p:sp>
          <p:nvSpPr>
            <p:cNvPr id="18" name="Text 15"/>
            <p:cNvSpPr/>
            <p:nvPr/>
          </p:nvSpPr>
          <p:spPr>
            <a:xfrm>
              <a:off x="3328416" y="2743200"/>
              <a:ext cx="2523744" cy="1943100"/>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Handles class imbalance by creating balanced training data through synthetic sampling</a:t>
              </a:r>
              <a:endParaRPr lang="en-US" sz="1200" dirty="0"/>
            </a:p>
          </p:txBody>
        </p:sp>
        <p:sp>
          <p:nvSpPr>
            <p:cNvPr id="19" name="Shape 16"/>
            <p:cNvSpPr/>
            <p:nvPr/>
          </p:nvSpPr>
          <p:spPr>
            <a:xfrm>
              <a:off x="6035040" y="2286000"/>
              <a:ext cx="2743200" cy="2491740"/>
            </a:xfrm>
            <a:prstGeom prst="rect">
              <a:avLst/>
            </a:prstGeom>
            <a:solidFill>
              <a:srgbClr val="F9F9F9"/>
            </a:solidFill>
            <a:ln w="12700">
              <a:solidFill>
                <a:srgbClr val="E0E0E0"/>
              </a:solidFill>
              <a:prstDash val="solid"/>
            </a:ln>
          </p:spPr>
        </p:sp>
        <p:sp>
          <p:nvSpPr>
            <p:cNvPr id="20" name="Shape 17"/>
            <p:cNvSpPr/>
            <p:nvPr/>
          </p:nvSpPr>
          <p:spPr>
            <a:xfrm>
              <a:off x="6126480" y="2377440"/>
              <a:ext cx="365760" cy="365760"/>
            </a:xfrm>
            <a:prstGeom prst="ellipse">
              <a:avLst/>
            </a:prstGeom>
            <a:solidFill>
              <a:srgbClr val="E87722"/>
            </a:solidFill>
            <a:ln w="12700">
              <a:solidFill>
                <a:srgbClr val="E87722"/>
              </a:solidFill>
              <a:prstDash val="solid"/>
            </a:ln>
          </p:spPr>
        </p:sp>
        <p:sp>
          <p:nvSpPr>
            <p:cNvPr id="21" name="Text 18"/>
            <p:cNvSpPr/>
            <p:nvPr/>
          </p:nvSpPr>
          <p:spPr>
            <a:xfrm>
              <a:off x="6126480" y="23774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3</a:t>
              </a:r>
              <a:endParaRPr lang="en-US" sz="1400" dirty="0"/>
            </a:p>
          </p:txBody>
        </p:sp>
        <p:sp>
          <p:nvSpPr>
            <p:cNvPr id="22" name="Text 19"/>
            <p:cNvSpPr/>
            <p:nvPr/>
          </p:nvSpPr>
          <p:spPr>
            <a:xfrm>
              <a:off x="6565392" y="2377440"/>
              <a:ext cx="2121408" cy="292608"/>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SHAP Explainability</a:t>
              </a:r>
              <a:endParaRPr lang="en-US" sz="1200" dirty="0"/>
            </a:p>
          </p:txBody>
        </p:sp>
        <p:sp>
          <p:nvSpPr>
            <p:cNvPr id="23" name="Text 20"/>
            <p:cNvSpPr/>
            <p:nvPr/>
          </p:nvSpPr>
          <p:spPr>
            <a:xfrm>
              <a:off x="6163056" y="2743200"/>
              <a:ext cx="2523744" cy="1943100"/>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Provides model interpretability for clinical trust through feature importance visualization</a:t>
              </a:r>
              <a:endParaRPr lang="en-US" sz="1200" dirty="0"/>
            </a:p>
          </p:txBody>
        </p:sp>
      </p:grpSp>
      <p:pic>
        <p:nvPicPr>
          <p:cNvPr id="24" name="Image 1" descr="preencoded.png"/>
          <p:cNvPicPr>
            <a:picLocks noChangeAspect="1"/>
          </p:cNvPicPr>
          <p:nvPr/>
        </p:nvPicPr>
        <p:blipFill>
          <a:blip r:embed="rId3">
            <a:alphaModFix amt="12000"/>
          </a:blip>
          <a:stretch>
            <a:fillRect/>
          </a:stretch>
        </p:blipFill>
        <p:spPr>
          <a:xfrm>
            <a:off x="365760" y="1280160"/>
            <a:ext cx="8412480" cy="640080"/>
          </a:xfrm>
          <a:prstGeom prst="rect">
            <a:avLst/>
          </a:prstGeom>
        </p:spPr>
      </p:pic>
      <p:pic>
        <p:nvPicPr>
          <p:cNvPr id="27" name="Picture 26">
            <a:extLst>
              <a:ext uri="{FF2B5EF4-FFF2-40B4-BE49-F238E27FC236}">
                <a16:creationId xmlns:a16="http://schemas.microsoft.com/office/drawing/2014/main" id="{86514BB8-55E8-CB63-74C5-7C053309063C}"/>
              </a:ext>
            </a:extLst>
          </p:cNvPr>
          <p:cNvPicPr>
            <a:picLocks noChangeAspect="1"/>
          </p:cNvPicPr>
          <p:nvPr/>
        </p:nvPicPr>
        <p:blipFill>
          <a:blip r:embed="rId4"/>
          <a:srcRect/>
          <a:stretch/>
        </p:blipFill>
        <p:spPr>
          <a:xfrm>
            <a:off x="5715957" y="1874520"/>
            <a:ext cx="3070596" cy="2662428"/>
          </a:xfrm>
          <a:prstGeom prst="rect">
            <a:avLst/>
          </a:prstGeom>
        </p:spPr>
      </p:pic>
      <p:pic>
        <p:nvPicPr>
          <p:cNvPr id="26" name="Image 0" descr="preencoded.png">
            <a:extLst>
              <a:ext uri="{FF2B5EF4-FFF2-40B4-BE49-F238E27FC236}">
                <a16:creationId xmlns:a16="http://schemas.microsoft.com/office/drawing/2014/main" id="{67491B2C-B182-1880-8A56-D8B79CB25840}"/>
              </a:ext>
            </a:extLst>
          </p:cNvPr>
          <p:cNvPicPr>
            <a:picLocks noChangeAspect="1"/>
          </p:cNvPicPr>
          <p:nvPr/>
        </p:nvPicPr>
        <p:blipFill>
          <a:blip r:embed="rId5"/>
          <a:stretch>
            <a:fillRect/>
          </a:stretch>
        </p:blipFill>
        <p:spPr>
          <a:xfrm>
            <a:off x="0" y="126492"/>
            <a:ext cx="1143000" cy="475488"/>
          </a:xfrm>
          <a:prstGeom prst="rect">
            <a:avLst/>
          </a:prstGeom>
        </p:spPr>
      </p:pic>
      <p:grpSp>
        <p:nvGrpSpPr>
          <p:cNvPr id="28" name="Group 27">
            <a:extLst>
              <a:ext uri="{FF2B5EF4-FFF2-40B4-BE49-F238E27FC236}">
                <a16:creationId xmlns:a16="http://schemas.microsoft.com/office/drawing/2014/main" id="{2207B90F-7DAA-D4CA-CFDA-EF43203227BE}"/>
              </a:ext>
            </a:extLst>
          </p:cNvPr>
          <p:cNvGrpSpPr/>
          <p:nvPr/>
        </p:nvGrpSpPr>
        <p:grpSpPr>
          <a:xfrm>
            <a:off x="7960583" y="126493"/>
            <a:ext cx="1143001" cy="475487"/>
            <a:chOff x="6173572" y="2276778"/>
            <a:chExt cx="2555268" cy="1333578"/>
          </a:xfrm>
        </p:grpSpPr>
        <p:pic>
          <p:nvPicPr>
            <p:cNvPr id="29" name="Picture 28" descr="A logo with blue and orange lines  AI-generated content may be incorrect.">
              <a:extLst>
                <a:ext uri="{FF2B5EF4-FFF2-40B4-BE49-F238E27FC236}">
                  <a16:creationId xmlns:a16="http://schemas.microsoft.com/office/drawing/2014/main" id="{DA82E530-8E94-0E69-0EC2-7E777C249858}"/>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6173572" y="2276778"/>
              <a:ext cx="936104" cy="1295756"/>
            </a:xfrm>
            <a:prstGeom prst="rect">
              <a:avLst/>
            </a:prstGeom>
            <a:noFill/>
            <a:ln>
              <a:noFill/>
            </a:ln>
          </p:spPr>
        </p:pic>
        <p:pic>
          <p:nvPicPr>
            <p:cNvPr id="30" name="Picture 29">
              <a:extLst>
                <a:ext uri="{FF2B5EF4-FFF2-40B4-BE49-F238E27FC236}">
                  <a16:creationId xmlns:a16="http://schemas.microsoft.com/office/drawing/2014/main" id="{1E97AA6F-BAC2-A32E-EC1F-EDE49E2933AB}"/>
                </a:ext>
              </a:extLst>
            </p:cNvPr>
            <p:cNvPicPr>
              <a:picLocks noChangeAspect="1"/>
            </p:cNvPicPr>
            <p:nvPr/>
          </p:nvPicPr>
          <p:blipFill rotWithShape="1">
            <a:blip r:embed="rId7">
              <a:extLst>
                <a:ext uri="{28A0092B-C50C-407E-A947-70E740481C1C}">
                  <a14:useLocalDpi xmlns:a14="http://schemas.microsoft.com/office/drawing/2010/main" val="0"/>
                </a:ext>
              </a:extLst>
            </a:blip>
            <a:srcRect l="30270" r="31417" b="2264"/>
            <a:stretch/>
          </p:blipFill>
          <p:spPr bwMode="auto">
            <a:xfrm>
              <a:off x="7178602" y="2276778"/>
              <a:ext cx="1550238" cy="1333578"/>
            </a:xfrm>
            <a:prstGeom prst="rect">
              <a:avLst/>
            </a:prstGeom>
            <a:ln>
              <a:noFill/>
            </a:ln>
            <a:extLst>
              <a:ext uri="{53640926-AAD7-44D8-BBD7-CCE9431645EC}">
                <a14:shadowObscured xmlns:a14="http://schemas.microsoft.com/office/drawing/2010/main"/>
              </a:ext>
            </a:extLst>
          </p:spPr>
        </p:pic>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rPr>
              <a:t>System Architecture</a:t>
            </a:r>
          </a:p>
        </p:txBody>
      </p:sp>
      <p:sp>
        <p:nvSpPr>
          <p:cNvPr id="4" name="Div"/>
          <p:cNvSpPr/>
          <p:nvPr/>
        </p:nvSpPr>
        <p:spPr>
          <a:xfrm>
            <a:off x="365760" y="1069848"/>
            <a:ext cx="8412480" cy="20117"/>
          </a:xfrm>
          <a:prstGeom prst="rect">
            <a:avLst/>
          </a:prstGeom>
          <a:solidFill>
            <a:srgbClr val="3D3D3D"/>
          </a:solidFill>
          <a:ln w="12700">
            <a:solidFill>
              <a:srgbClr val="3D3D3D"/>
            </a:solidFill>
          </a:ln>
        </p:spPr>
      </p:sp>
      <p:sp>
        <p:nvSpPr>
          <p:cNvPr id="5" name="Shape 2"/>
          <p:cNvSpPr/>
          <p:nvPr/>
        </p:nvSpPr>
        <p:spPr>
          <a:xfrm>
            <a:off x="0" y="4850892"/>
            <a:ext cx="9144000" cy="292608"/>
          </a:xfrm>
          <a:prstGeom prst="rect">
            <a:avLst/>
          </a:prstGeom>
          <a:solidFill>
            <a:srgbClr val="E87722"/>
          </a:solidFill>
          <a:ln w="12700">
            <a:solidFill>
              <a:srgbClr val="E87722"/>
            </a:solidFill>
            <a:prstDash val="solid"/>
          </a:ln>
        </p:spPr>
      </p:sp>
      <p:sp>
        <p:nvSpPr>
          <p:cNvPr id="6" name="Pg"/>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rPr>
              <a:t>19</a:t>
            </a:r>
          </a:p>
        </p:txBody>
      </p:sp>
      <p:pic>
        <p:nvPicPr>
          <p:cNvPr id="200" name="I200"/>
          <p:cNvPicPr>
            <a:picLocks noChangeAspect="1"/>
          </p:cNvPicPr>
          <p:nvPr/>
        </p:nvPicPr>
        <p:blipFill>
          <a:blip r:embed="rId3"/>
          <a:srcRect/>
          <a:stretch/>
        </p:blipFill>
        <p:spPr>
          <a:xfrm>
            <a:off x="2062682" y="1326503"/>
            <a:ext cx="5018636" cy="3186993"/>
          </a:xfrm>
          <a:prstGeom prst="rect">
            <a:avLst/>
          </a:prstGeom>
        </p:spPr>
      </p:pic>
      <p:pic>
        <p:nvPicPr>
          <p:cNvPr id="7" name="Image 0" descr="preencoded.png">
            <a:extLst>
              <a:ext uri="{FF2B5EF4-FFF2-40B4-BE49-F238E27FC236}">
                <a16:creationId xmlns:a16="http://schemas.microsoft.com/office/drawing/2014/main" id="{15BDA90C-8770-76F9-9989-DA9FB4E2413E}"/>
              </a:ext>
            </a:extLst>
          </p:cNvPr>
          <p:cNvPicPr>
            <a:picLocks noChangeAspect="1"/>
          </p:cNvPicPr>
          <p:nvPr/>
        </p:nvPicPr>
        <p:blipFill>
          <a:blip r:embed="rId4"/>
          <a:stretch>
            <a:fillRect/>
          </a:stretch>
        </p:blipFill>
        <p:spPr>
          <a:xfrm>
            <a:off x="0" y="126492"/>
            <a:ext cx="1143000" cy="475488"/>
          </a:xfrm>
          <a:prstGeom prst="rect">
            <a:avLst/>
          </a:prstGeom>
        </p:spPr>
      </p:pic>
      <p:grpSp>
        <p:nvGrpSpPr>
          <p:cNvPr id="8" name="Group 7">
            <a:extLst>
              <a:ext uri="{FF2B5EF4-FFF2-40B4-BE49-F238E27FC236}">
                <a16:creationId xmlns:a16="http://schemas.microsoft.com/office/drawing/2014/main" id="{F2F682F2-5599-F19A-4F70-9A9F287D7426}"/>
              </a:ext>
            </a:extLst>
          </p:cNvPr>
          <p:cNvGrpSpPr/>
          <p:nvPr/>
        </p:nvGrpSpPr>
        <p:grpSpPr>
          <a:xfrm>
            <a:off x="7960583" y="126493"/>
            <a:ext cx="1143001" cy="475487"/>
            <a:chOff x="6173572" y="2276778"/>
            <a:chExt cx="2555268" cy="1333578"/>
          </a:xfrm>
        </p:grpSpPr>
        <p:pic>
          <p:nvPicPr>
            <p:cNvPr id="9" name="Picture 8" descr="A logo with blue and orange lines  AI-generated content may be incorrect.">
              <a:extLst>
                <a:ext uri="{FF2B5EF4-FFF2-40B4-BE49-F238E27FC236}">
                  <a16:creationId xmlns:a16="http://schemas.microsoft.com/office/drawing/2014/main" id="{3224D182-F19B-BAEE-97D1-1C4E547E88B1}"/>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173572" y="2276778"/>
              <a:ext cx="936104" cy="1295756"/>
            </a:xfrm>
            <a:prstGeom prst="rect">
              <a:avLst/>
            </a:prstGeom>
            <a:noFill/>
            <a:ln>
              <a:noFill/>
            </a:ln>
          </p:spPr>
        </p:pic>
        <p:pic>
          <p:nvPicPr>
            <p:cNvPr id="10" name="Picture 9">
              <a:extLst>
                <a:ext uri="{FF2B5EF4-FFF2-40B4-BE49-F238E27FC236}">
                  <a16:creationId xmlns:a16="http://schemas.microsoft.com/office/drawing/2014/main" id="{F1453231-DE04-86C3-8986-1B7CF0B323FF}"/>
                </a:ext>
              </a:extLst>
            </p:cNvPr>
            <p:cNvPicPr>
              <a:picLocks noChangeAspect="1"/>
            </p:cNvPicPr>
            <p:nvPr/>
          </p:nvPicPr>
          <p:blipFill rotWithShape="1">
            <a:blip r:embed="rId6">
              <a:extLst>
                <a:ext uri="{28A0092B-C50C-407E-A947-70E740481C1C}">
                  <a14:useLocalDpi xmlns:a14="http://schemas.microsoft.com/office/drawing/2010/main" val="0"/>
                </a:ext>
              </a:extLst>
            </a:blip>
            <a:srcRect l="30270" r="31417" b="2264"/>
            <a:stretch/>
          </p:blipFill>
          <p:spPr bwMode="auto">
            <a:xfrm>
              <a:off x="7178602" y="2276778"/>
              <a:ext cx="1550238" cy="1333578"/>
            </a:xfrm>
            <a:prstGeom prst="rect">
              <a:avLst/>
            </a:prstGeom>
            <a:ln>
              <a:noFill/>
            </a:ln>
            <a:extLst>
              <a:ext uri="{53640926-AAD7-44D8-BBD7-CCE9431645EC}">
                <a14:shadowObscured xmlns:a14="http://schemas.microsoft.com/office/drawing/2010/main"/>
              </a:ext>
            </a:extLst>
          </p:spPr>
        </p:pic>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CFD67-07B4-D951-5C94-4C9507EEBB1A}"/>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39B76B7D-BD02-F336-F825-FCF146767DF2}"/>
              </a:ext>
            </a:extLst>
          </p:cNvPr>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ea typeface="Times New Roman" pitchFamily="34" charset="-122"/>
                <a:cs typeface="Times New Roman" pitchFamily="34" charset="-120"/>
              </a:rPr>
              <a:t>Addressing Class Imbalance with SMOTE</a:t>
            </a:r>
            <a:endParaRPr lang="en-US" sz="2600" dirty="0"/>
          </a:p>
        </p:txBody>
      </p:sp>
      <p:sp>
        <p:nvSpPr>
          <p:cNvPr id="4" name="Shape 1">
            <a:extLst>
              <a:ext uri="{FF2B5EF4-FFF2-40B4-BE49-F238E27FC236}">
                <a16:creationId xmlns:a16="http://schemas.microsoft.com/office/drawing/2014/main" id="{6B16CC76-F3A7-3EB1-4F9F-DE07FEE4E77D}"/>
              </a:ext>
            </a:extLst>
          </p:cNvPr>
          <p:cNvSpPr/>
          <p:nvPr/>
        </p:nvSpPr>
        <p:spPr>
          <a:xfrm>
            <a:off x="365760" y="1069848"/>
            <a:ext cx="8412480" cy="20117"/>
          </a:xfrm>
          <a:prstGeom prst="rect">
            <a:avLst/>
          </a:prstGeom>
          <a:solidFill>
            <a:srgbClr val="3D3D3D"/>
          </a:solidFill>
          <a:ln w="12700">
            <a:solidFill>
              <a:srgbClr val="3D3D3D"/>
            </a:solidFill>
            <a:prstDash val="solid"/>
          </a:ln>
        </p:spPr>
      </p:sp>
      <p:sp>
        <p:nvSpPr>
          <p:cNvPr id="5" name="Shape 2">
            <a:extLst>
              <a:ext uri="{FF2B5EF4-FFF2-40B4-BE49-F238E27FC236}">
                <a16:creationId xmlns:a16="http://schemas.microsoft.com/office/drawing/2014/main" id="{E3B51C5C-9D12-CF72-19F9-DC64902D40BA}"/>
              </a:ext>
            </a:extLst>
          </p:cNvPr>
          <p:cNvSpPr/>
          <p:nvPr/>
        </p:nvSpPr>
        <p:spPr>
          <a:xfrm>
            <a:off x="0" y="4850892"/>
            <a:ext cx="9144000" cy="292608"/>
          </a:xfrm>
          <a:prstGeom prst="rect">
            <a:avLst/>
          </a:prstGeom>
          <a:solidFill>
            <a:srgbClr val="E87722"/>
          </a:solidFill>
          <a:ln w="12700">
            <a:solidFill>
              <a:srgbClr val="E87722"/>
            </a:solidFill>
            <a:prstDash val="solid"/>
          </a:ln>
        </p:spPr>
      </p:sp>
      <p:sp>
        <p:nvSpPr>
          <p:cNvPr id="6" name="Text 3">
            <a:extLst>
              <a:ext uri="{FF2B5EF4-FFF2-40B4-BE49-F238E27FC236}">
                <a16:creationId xmlns:a16="http://schemas.microsoft.com/office/drawing/2014/main" id="{6018D0FD-C10C-D67F-1B47-4D95EE9BAC3E}"/>
              </a:ext>
            </a:extLst>
          </p:cNvPr>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cs typeface="Times New Roman" pitchFamily="34" charset="-120"/>
              </a:rPr>
              <a:t>15</a:t>
            </a:r>
            <a:endParaRPr lang="en-US" sz="1400" dirty="0"/>
          </a:p>
        </p:txBody>
      </p:sp>
      <p:sp>
        <p:nvSpPr>
          <p:cNvPr id="7" name="Text 4">
            <a:extLst>
              <a:ext uri="{FF2B5EF4-FFF2-40B4-BE49-F238E27FC236}">
                <a16:creationId xmlns:a16="http://schemas.microsoft.com/office/drawing/2014/main" id="{90BAB834-6962-987D-3ACB-4608BBE49692}"/>
              </a:ext>
            </a:extLst>
          </p:cNvPr>
          <p:cNvSpPr/>
          <p:nvPr/>
        </p:nvSpPr>
        <p:spPr>
          <a:xfrm>
            <a:off x="365760" y="1115569"/>
            <a:ext cx="8412480" cy="1031467"/>
          </a:xfrm>
          <a:prstGeom prst="rect">
            <a:avLst/>
          </a:prstGeom>
          <a:noFill/>
          <a:ln/>
        </p:spPr>
        <p:txBody>
          <a:bodyPr wrap="square" rtlCol="0" anchor="t"/>
          <a:lstStyle/>
          <a:p>
            <a:r>
              <a:rPr lang="en-US" sz="1400" i="1" dirty="0">
                <a:solidFill>
                  <a:srgbClr val="3D3D3D"/>
                </a:solidFill>
                <a:latin typeface="Times New Roman" pitchFamily="34" charset="0"/>
                <a:ea typeface="Times New Roman" pitchFamily="34" charset="-122"/>
                <a:cs typeface="Times New Roman" pitchFamily="34" charset="-120"/>
              </a:rPr>
              <a:t>Standard medical datasets are inherently imbalanced, heavily favoring negative/healthy cases. Without intervention, models become biased toward the majority class, resulting in high "fake" accuracy but terrible recall for actual sick patients. We utilized SMOTE (Synthetic Minority Over-sampling Technique) exclusively within our training folds to generate synthetic data points and balance the classes.</a:t>
            </a:r>
            <a:endParaRPr lang="en-US" sz="1600" b="1" i="1" dirty="0">
              <a:solidFill>
                <a:srgbClr val="1F3864"/>
              </a:solidFill>
              <a:latin typeface="Times New Roman" pitchFamily="34" charset="0"/>
              <a:ea typeface="Times New Roman" pitchFamily="34" charset="-122"/>
              <a:cs typeface="Times New Roman" pitchFamily="34" charset="-120"/>
            </a:endParaRPr>
          </a:p>
        </p:txBody>
      </p:sp>
      <p:graphicFrame>
        <p:nvGraphicFramePr>
          <p:cNvPr id="8" name="Table 7">
            <a:extLst>
              <a:ext uri="{FF2B5EF4-FFF2-40B4-BE49-F238E27FC236}">
                <a16:creationId xmlns:a16="http://schemas.microsoft.com/office/drawing/2014/main" id="{6B02CBBC-31C3-EC02-7B25-25E0BDF69908}"/>
              </a:ext>
            </a:extLst>
          </p:cNvPr>
          <p:cNvGraphicFramePr>
            <a:graphicFrameLocks noGrp="1"/>
          </p:cNvGraphicFramePr>
          <p:nvPr>
            <p:extLst>
              <p:ext uri="{D42A27DB-BD31-4B8C-83A1-F6EECF244321}">
                <p14:modId xmlns:p14="http://schemas.microsoft.com/office/powerpoint/2010/main" val="178311958"/>
              </p:ext>
            </p:extLst>
          </p:nvPr>
        </p:nvGraphicFramePr>
        <p:xfrm>
          <a:off x="559398" y="2147035"/>
          <a:ext cx="8025204" cy="2471069"/>
        </p:xfrm>
        <a:graphic>
          <a:graphicData uri="http://schemas.openxmlformats.org/drawingml/2006/table">
            <a:tbl>
              <a:tblPr firstRow="1" bandRow="1">
                <a:tableStyleId>{5C22544A-7EE6-4342-B048-85BDC9FD1C3A}</a:tableStyleId>
              </a:tblPr>
              <a:tblGrid>
                <a:gridCol w="4012602">
                  <a:extLst>
                    <a:ext uri="{9D8B030D-6E8A-4147-A177-3AD203B41FA5}">
                      <a16:colId xmlns:a16="http://schemas.microsoft.com/office/drawing/2014/main" val="221814654"/>
                    </a:ext>
                  </a:extLst>
                </a:gridCol>
                <a:gridCol w="4012602">
                  <a:extLst>
                    <a:ext uri="{9D8B030D-6E8A-4147-A177-3AD203B41FA5}">
                      <a16:colId xmlns:a16="http://schemas.microsoft.com/office/drawing/2014/main" val="2461259412"/>
                    </a:ext>
                  </a:extLst>
                </a:gridCol>
              </a:tblGrid>
              <a:tr h="43654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F3864"/>
                          </a:solidFill>
                          <a:effectLst/>
                          <a:uLnTx/>
                          <a:uFillTx/>
                          <a:latin typeface="Times New Roman" pitchFamily="34" charset="0"/>
                          <a:ea typeface="Times New Roman" pitchFamily="34" charset="-122"/>
                          <a:cs typeface="Times New Roman" pitchFamily="34" charset="-120"/>
                        </a:rPr>
                        <a:t>Chronic Kidney Disease (CKD)</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0" lang="en-US" sz="1600" b="1" i="0" u="none" strike="noStrike" kern="1200" cap="none" spc="0" normalizeH="0" baseline="0" noProof="0" dirty="0">
                          <a:ln>
                            <a:noFill/>
                          </a:ln>
                          <a:solidFill>
                            <a:srgbClr val="1F3864"/>
                          </a:solidFill>
                          <a:effectLst/>
                          <a:uLnTx/>
                          <a:uFillTx/>
                          <a:latin typeface="Times New Roman" pitchFamily="34" charset="0"/>
                          <a:ea typeface="Times New Roman" pitchFamily="34" charset="-122"/>
                          <a:cs typeface="Times New Roman" pitchFamily="34" charset="-120"/>
                        </a:rPr>
                        <a:t>Pima Diabetes Dataset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2529505"/>
                  </a:ext>
                </a:extLst>
              </a:tr>
              <a:tr h="958755">
                <a:tc>
                  <a:txBody>
                    <a:bodyPr/>
                    <a:lstStyle/>
                    <a:p>
                      <a:r>
                        <a:rPr kumimoji="0" lang="en-US" sz="1400" b="0" i="1" u="none" strike="noStrike" kern="1200" cap="none" spc="0" normalizeH="0" baseline="0" noProof="0" dirty="0">
                          <a:ln>
                            <a:noFill/>
                          </a:ln>
                          <a:solidFill>
                            <a:srgbClr val="3D3D3D"/>
                          </a:solidFill>
                          <a:effectLst/>
                          <a:uLnTx/>
                          <a:uFillTx/>
                          <a:latin typeface="Times New Roman" pitchFamily="34" charset="0"/>
                          <a:ea typeface="Times New Roman" pitchFamily="34" charset="-122"/>
                          <a:cs typeface="Times New Roman" pitchFamily="34" charset="-120"/>
                        </a:rPr>
                        <a:t>Before SMOTE (Original Data):</a:t>
                      </a:r>
                    </a:p>
                    <a:p>
                      <a:pPr marL="742950" lvl="1" indent="-285750">
                        <a:buFont typeface="Arial" panose="020B0604020202020204" pitchFamily="34" charset="0"/>
                        <a:buChar char="•"/>
                      </a:pPr>
                      <a:r>
                        <a:rPr kumimoji="0" lang="en-US" sz="1400" b="0" i="1" u="none" strike="noStrike" kern="1200" cap="none" spc="0" normalizeH="0" baseline="0" noProof="0" dirty="0">
                          <a:ln>
                            <a:noFill/>
                          </a:ln>
                          <a:solidFill>
                            <a:srgbClr val="3D3D3D"/>
                          </a:solidFill>
                          <a:effectLst/>
                          <a:uLnTx/>
                          <a:uFillTx/>
                          <a:latin typeface="Times New Roman" pitchFamily="34" charset="0"/>
                          <a:ea typeface="Times New Roman" pitchFamily="34" charset="-122"/>
                          <a:cs typeface="Times New Roman" pitchFamily="34" charset="-120"/>
                        </a:rPr>
                        <a:t>Healthy (Not CKD): 250 </a:t>
                      </a:r>
                    </a:p>
                    <a:p>
                      <a:pPr marL="742950" lvl="1" indent="-285750">
                        <a:buFont typeface="Arial" panose="020B0604020202020204" pitchFamily="34" charset="0"/>
                        <a:buChar char="•"/>
                      </a:pPr>
                      <a:r>
                        <a:rPr kumimoji="0" lang="en-US" sz="1400" b="0" i="1" u="none" strike="noStrike" kern="1200" cap="none" spc="0" normalizeH="0" baseline="0" noProof="0" dirty="0" err="1">
                          <a:ln>
                            <a:noFill/>
                          </a:ln>
                          <a:solidFill>
                            <a:srgbClr val="3D3D3D"/>
                          </a:solidFill>
                          <a:effectLst/>
                          <a:uLnTx/>
                          <a:uFillTx/>
                          <a:latin typeface="Times New Roman" pitchFamily="34" charset="0"/>
                          <a:ea typeface="Times New Roman" pitchFamily="34" charset="-122"/>
                          <a:cs typeface="Times New Roman" pitchFamily="34" charset="-120"/>
                        </a:rPr>
                        <a:t>casesSick</a:t>
                      </a:r>
                      <a:r>
                        <a:rPr kumimoji="0" lang="en-US" sz="1400" b="0" i="1" u="none" strike="noStrike" kern="1200" cap="none" spc="0" normalizeH="0" baseline="0" noProof="0" dirty="0">
                          <a:ln>
                            <a:noFill/>
                          </a:ln>
                          <a:solidFill>
                            <a:srgbClr val="3D3D3D"/>
                          </a:solidFill>
                          <a:effectLst/>
                          <a:uLnTx/>
                          <a:uFillTx/>
                          <a:latin typeface="Times New Roman" pitchFamily="34" charset="0"/>
                          <a:ea typeface="Times New Roman" pitchFamily="34" charset="-122"/>
                          <a:cs typeface="Times New Roman" pitchFamily="34" charset="-120"/>
                        </a:rPr>
                        <a:t> (CKD): 150 </a:t>
                      </a:r>
                    </a:p>
                    <a:p>
                      <a:pPr marL="742950" lvl="1" indent="-285750">
                        <a:buFont typeface="Arial" panose="020B0604020202020204" pitchFamily="34" charset="0"/>
                        <a:buChar char="•"/>
                      </a:pPr>
                      <a:r>
                        <a:rPr kumimoji="0" lang="en-US" sz="1400" b="0" i="1" u="none" strike="noStrike" kern="1200" cap="none" spc="0" normalizeH="0" baseline="0" noProof="0" dirty="0" err="1">
                          <a:ln>
                            <a:noFill/>
                          </a:ln>
                          <a:solidFill>
                            <a:srgbClr val="3D3D3D"/>
                          </a:solidFill>
                          <a:effectLst/>
                          <a:uLnTx/>
                          <a:uFillTx/>
                          <a:latin typeface="Times New Roman" pitchFamily="34" charset="0"/>
                          <a:ea typeface="Times New Roman" pitchFamily="34" charset="-122"/>
                          <a:cs typeface="Times New Roman" pitchFamily="34" charset="-120"/>
                        </a:rPr>
                        <a:t>casesImbalance</a:t>
                      </a:r>
                      <a:r>
                        <a:rPr kumimoji="0" lang="en-US" sz="1400" b="0" i="1" u="none" strike="noStrike" kern="1200" cap="none" spc="0" normalizeH="0" baseline="0" noProof="0" dirty="0">
                          <a:ln>
                            <a:noFill/>
                          </a:ln>
                          <a:solidFill>
                            <a:srgbClr val="3D3D3D"/>
                          </a:solidFill>
                          <a:effectLst/>
                          <a:uLnTx/>
                          <a:uFillTx/>
                          <a:latin typeface="Times New Roman" pitchFamily="34" charset="0"/>
                          <a:ea typeface="Times New Roman" pitchFamily="34" charset="-122"/>
                          <a:cs typeface="Times New Roman" pitchFamily="34" charset="-120"/>
                        </a:rPr>
                        <a:t> Ratio: 62.5% vs 37.5%</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3D3D3D"/>
                          </a:solidFill>
                          <a:effectLst/>
                          <a:uLnTx/>
                          <a:uFillTx/>
                          <a:latin typeface="Times New Roman" pitchFamily="34" charset="0"/>
                          <a:ea typeface="Times New Roman" pitchFamily="34" charset="-122"/>
                          <a:cs typeface="Times New Roman" pitchFamily="34" charset="-120"/>
                        </a:rPr>
                        <a:t>Before SMOTE (Original Data):</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1" u="none" strike="noStrike" kern="1200" cap="none" spc="0" normalizeH="0" baseline="0" noProof="0" dirty="0">
                          <a:ln>
                            <a:noFill/>
                          </a:ln>
                          <a:solidFill>
                            <a:srgbClr val="3D3D3D"/>
                          </a:solidFill>
                          <a:effectLst/>
                          <a:uLnTx/>
                          <a:uFillTx/>
                          <a:latin typeface="Times New Roman" pitchFamily="34" charset="0"/>
                          <a:ea typeface="Times New Roman" pitchFamily="34" charset="-122"/>
                          <a:cs typeface="Times New Roman" pitchFamily="34" charset="-120"/>
                        </a:rPr>
                        <a:t>Healthy (Negative): 500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1" u="none" strike="noStrike" kern="1200" cap="none" spc="0" normalizeH="0" baseline="0" noProof="0" dirty="0" err="1">
                          <a:ln>
                            <a:noFill/>
                          </a:ln>
                          <a:solidFill>
                            <a:srgbClr val="3D3D3D"/>
                          </a:solidFill>
                          <a:effectLst/>
                          <a:uLnTx/>
                          <a:uFillTx/>
                          <a:latin typeface="Times New Roman" pitchFamily="34" charset="0"/>
                          <a:ea typeface="Times New Roman" pitchFamily="34" charset="-122"/>
                          <a:cs typeface="Times New Roman" pitchFamily="34" charset="-120"/>
                        </a:rPr>
                        <a:t>casesSick</a:t>
                      </a:r>
                      <a:r>
                        <a:rPr kumimoji="0" lang="en-US" sz="1400" b="0" i="1" u="none" strike="noStrike" kern="1200" cap="none" spc="0" normalizeH="0" baseline="0" noProof="0" dirty="0">
                          <a:ln>
                            <a:noFill/>
                          </a:ln>
                          <a:solidFill>
                            <a:srgbClr val="3D3D3D"/>
                          </a:solidFill>
                          <a:effectLst/>
                          <a:uLnTx/>
                          <a:uFillTx/>
                          <a:latin typeface="Times New Roman" pitchFamily="34" charset="0"/>
                          <a:ea typeface="Times New Roman" pitchFamily="34" charset="-122"/>
                          <a:cs typeface="Times New Roman" pitchFamily="34" charset="-120"/>
                        </a:rPr>
                        <a:t> (Positive): 268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1" u="none" strike="noStrike" kern="1200" cap="none" spc="0" normalizeH="0" baseline="0" noProof="0" dirty="0" err="1">
                          <a:ln>
                            <a:noFill/>
                          </a:ln>
                          <a:solidFill>
                            <a:srgbClr val="3D3D3D"/>
                          </a:solidFill>
                          <a:effectLst/>
                          <a:uLnTx/>
                          <a:uFillTx/>
                          <a:latin typeface="Times New Roman" pitchFamily="34" charset="0"/>
                          <a:ea typeface="Times New Roman" pitchFamily="34" charset="-122"/>
                          <a:cs typeface="Times New Roman" pitchFamily="34" charset="-120"/>
                        </a:rPr>
                        <a:t>casesImbalance</a:t>
                      </a:r>
                      <a:r>
                        <a:rPr kumimoji="0" lang="en-US" sz="1400" b="0" i="1" u="none" strike="noStrike" kern="1200" cap="none" spc="0" normalizeH="0" baseline="0" noProof="0" dirty="0">
                          <a:ln>
                            <a:noFill/>
                          </a:ln>
                          <a:solidFill>
                            <a:srgbClr val="3D3D3D"/>
                          </a:solidFill>
                          <a:effectLst/>
                          <a:uLnTx/>
                          <a:uFillTx/>
                          <a:latin typeface="Times New Roman" pitchFamily="34" charset="0"/>
                          <a:ea typeface="Times New Roman" pitchFamily="34" charset="-122"/>
                          <a:cs typeface="Times New Roman" pitchFamily="34" charset="-120"/>
                        </a:rPr>
                        <a:t> Ratio: 65% vs 35%</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0961620"/>
                  </a:ext>
                </a:extLst>
              </a:tr>
              <a:tr h="10757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3D3D3D"/>
                          </a:solidFill>
                          <a:effectLst/>
                          <a:uLnTx/>
                          <a:uFillTx/>
                          <a:latin typeface="Times New Roman" pitchFamily="34" charset="0"/>
                          <a:ea typeface="Times New Roman" pitchFamily="34" charset="-122"/>
                          <a:cs typeface="Times New Roman" pitchFamily="34" charset="-120"/>
                        </a:rPr>
                        <a:t>After SMOTE (Training Folds):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1" u="none" strike="noStrike" kern="1200" cap="none" spc="0" normalizeH="0" baseline="0" noProof="0" dirty="0">
                          <a:ln>
                            <a:noFill/>
                          </a:ln>
                          <a:solidFill>
                            <a:srgbClr val="3D3D3D"/>
                          </a:solidFill>
                          <a:effectLst/>
                          <a:uLnTx/>
                          <a:uFillTx/>
                          <a:latin typeface="Times New Roman" pitchFamily="34" charset="0"/>
                          <a:ea typeface="Times New Roman" pitchFamily="34" charset="-122"/>
                          <a:cs typeface="Times New Roman" pitchFamily="34" charset="-120"/>
                        </a:rPr>
                        <a:t>Healthy: 250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1" u="none" strike="noStrike" kern="1200" cap="none" spc="0" normalizeH="0" baseline="0" noProof="0" dirty="0" err="1">
                          <a:ln>
                            <a:noFill/>
                          </a:ln>
                          <a:solidFill>
                            <a:srgbClr val="3D3D3D"/>
                          </a:solidFill>
                          <a:effectLst/>
                          <a:uLnTx/>
                          <a:uFillTx/>
                          <a:latin typeface="Times New Roman" pitchFamily="34" charset="0"/>
                          <a:ea typeface="Times New Roman" pitchFamily="34" charset="-122"/>
                          <a:cs typeface="Times New Roman" pitchFamily="34" charset="-120"/>
                        </a:rPr>
                        <a:t>casesSick</a:t>
                      </a:r>
                      <a:r>
                        <a:rPr kumimoji="0" lang="en-US" sz="1400" b="0" i="1" u="none" strike="noStrike" kern="1200" cap="none" spc="0" normalizeH="0" baseline="0" noProof="0" dirty="0">
                          <a:ln>
                            <a:noFill/>
                          </a:ln>
                          <a:solidFill>
                            <a:srgbClr val="3D3D3D"/>
                          </a:solidFill>
                          <a:effectLst/>
                          <a:uLnTx/>
                          <a:uFillTx/>
                          <a:latin typeface="Times New Roman" pitchFamily="34" charset="0"/>
                          <a:ea typeface="Times New Roman" pitchFamily="34" charset="-122"/>
                          <a:cs typeface="Times New Roman" pitchFamily="34" charset="-120"/>
                        </a:rPr>
                        <a:t>: 250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1" u="none" strike="noStrike" kern="1200" cap="none" spc="0" normalizeH="0" baseline="0" noProof="0" dirty="0" err="1">
                          <a:ln>
                            <a:noFill/>
                          </a:ln>
                          <a:solidFill>
                            <a:srgbClr val="3D3D3D"/>
                          </a:solidFill>
                          <a:effectLst/>
                          <a:uLnTx/>
                          <a:uFillTx/>
                          <a:latin typeface="Times New Roman" pitchFamily="34" charset="0"/>
                          <a:ea typeface="Times New Roman" pitchFamily="34" charset="-122"/>
                          <a:cs typeface="Times New Roman" pitchFamily="34" charset="-120"/>
                        </a:rPr>
                        <a:t>casesPerfectly</a:t>
                      </a:r>
                      <a:r>
                        <a:rPr kumimoji="0" lang="en-US" sz="1400" b="0" i="1" u="none" strike="noStrike" kern="1200" cap="none" spc="0" normalizeH="0" baseline="0" noProof="0" dirty="0">
                          <a:ln>
                            <a:noFill/>
                          </a:ln>
                          <a:solidFill>
                            <a:srgbClr val="3D3D3D"/>
                          </a:solidFill>
                          <a:effectLst/>
                          <a:uLnTx/>
                          <a:uFillTx/>
                          <a:latin typeface="Times New Roman" pitchFamily="34" charset="0"/>
                          <a:ea typeface="Times New Roman" pitchFamily="34" charset="-122"/>
                          <a:cs typeface="Times New Roman" pitchFamily="34" charset="-120"/>
                        </a:rPr>
                        <a:t> Balanced (1:1 Ratio)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3D3D3D"/>
                          </a:solidFill>
                          <a:effectLst/>
                          <a:uLnTx/>
                          <a:uFillTx/>
                          <a:latin typeface="Times New Roman" pitchFamily="34" charset="0"/>
                          <a:ea typeface="Times New Roman" pitchFamily="34" charset="-122"/>
                          <a:cs typeface="Times New Roman" pitchFamily="34" charset="-120"/>
                        </a:rPr>
                        <a:t>After SMOTE (Training Folds):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1" u="none" strike="noStrike" kern="1200" cap="none" spc="0" normalizeH="0" baseline="0" noProof="0" dirty="0">
                          <a:ln>
                            <a:noFill/>
                          </a:ln>
                          <a:solidFill>
                            <a:srgbClr val="3D3D3D"/>
                          </a:solidFill>
                          <a:effectLst/>
                          <a:uLnTx/>
                          <a:uFillTx/>
                          <a:latin typeface="Times New Roman" pitchFamily="34" charset="0"/>
                          <a:ea typeface="Times New Roman" pitchFamily="34" charset="-122"/>
                          <a:cs typeface="Times New Roman" pitchFamily="34" charset="-120"/>
                        </a:rPr>
                        <a:t>Healthy: 500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1" u="none" strike="noStrike" kern="1200" cap="none" spc="0" normalizeH="0" baseline="0" noProof="0" dirty="0" err="1">
                          <a:ln>
                            <a:noFill/>
                          </a:ln>
                          <a:solidFill>
                            <a:srgbClr val="3D3D3D"/>
                          </a:solidFill>
                          <a:effectLst/>
                          <a:uLnTx/>
                          <a:uFillTx/>
                          <a:latin typeface="Times New Roman" pitchFamily="34" charset="0"/>
                          <a:ea typeface="Times New Roman" pitchFamily="34" charset="-122"/>
                          <a:cs typeface="Times New Roman" pitchFamily="34" charset="-120"/>
                        </a:rPr>
                        <a:t>casesSick</a:t>
                      </a:r>
                      <a:r>
                        <a:rPr kumimoji="0" lang="en-US" sz="1400" b="0" i="1" u="none" strike="noStrike" kern="1200" cap="none" spc="0" normalizeH="0" baseline="0" noProof="0" dirty="0">
                          <a:ln>
                            <a:noFill/>
                          </a:ln>
                          <a:solidFill>
                            <a:srgbClr val="3D3D3D"/>
                          </a:solidFill>
                          <a:effectLst/>
                          <a:uLnTx/>
                          <a:uFillTx/>
                          <a:latin typeface="Times New Roman" pitchFamily="34" charset="0"/>
                          <a:ea typeface="Times New Roman" pitchFamily="34" charset="-122"/>
                          <a:cs typeface="Times New Roman" pitchFamily="34" charset="-120"/>
                        </a:rPr>
                        <a:t>: 500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1" u="none" strike="noStrike" kern="1200" cap="none" spc="0" normalizeH="0" baseline="0" noProof="0" dirty="0" err="1">
                          <a:ln>
                            <a:noFill/>
                          </a:ln>
                          <a:solidFill>
                            <a:srgbClr val="3D3D3D"/>
                          </a:solidFill>
                          <a:effectLst/>
                          <a:uLnTx/>
                          <a:uFillTx/>
                          <a:latin typeface="Times New Roman" pitchFamily="34" charset="0"/>
                          <a:ea typeface="Times New Roman" pitchFamily="34" charset="-122"/>
                          <a:cs typeface="Times New Roman" pitchFamily="34" charset="-120"/>
                        </a:rPr>
                        <a:t>casesPerfectly</a:t>
                      </a:r>
                      <a:r>
                        <a:rPr kumimoji="0" lang="en-US" sz="1400" b="0" i="1" u="none" strike="noStrike" kern="1200" cap="none" spc="0" normalizeH="0" baseline="0" noProof="0" dirty="0">
                          <a:ln>
                            <a:noFill/>
                          </a:ln>
                          <a:solidFill>
                            <a:srgbClr val="3D3D3D"/>
                          </a:solidFill>
                          <a:effectLst/>
                          <a:uLnTx/>
                          <a:uFillTx/>
                          <a:latin typeface="Times New Roman" pitchFamily="34" charset="0"/>
                          <a:ea typeface="Times New Roman" pitchFamily="34" charset="-122"/>
                          <a:cs typeface="Times New Roman" pitchFamily="34" charset="-120"/>
                        </a:rPr>
                        <a:t> Balanced (1:1 Ratio)</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92269638"/>
                  </a:ext>
                </a:extLst>
              </a:tr>
            </a:tbl>
          </a:graphicData>
        </a:graphic>
      </p:graphicFrame>
      <p:pic>
        <p:nvPicPr>
          <p:cNvPr id="9" name="Image 0" descr="preencoded.png">
            <a:extLst>
              <a:ext uri="{FF2B5EF4-FFF2-40B4-BE49-F238E27FC236}">
                <a16:creationId xmlns:a16="http://schemas.microsoft.com/office/drawing/2014/main" id="{0CA5C4DE-BCEB-2764-C9AA-D388320CF375}"/>
              </a:ext>
            </a:extLst>
          </p:cNvPr>
          <p:cNvPicPr>
            <a:picLocks noChangeAspect="1"/>
          </p:cNvPicPr>
          <p:nvPr/>
        </p:nvPicPr>
        <p:blipFill>
          <a:blip r:embed="rId3"/>
          <a:stretch>
            <a:fillRect/>
          </a:stretch>
        </p:blipFill>
        <p:spPr>
          <a:xfrm>
            <a:off x="0" y="126492"/>
            <a:ext cx="1143000" cy="475488"/>
          </a:xfrm>
          <a:prstGeom prst="rect">
            <a:avLst/>
          </a:prstGeom>
        </p:spPr>
      </p:pic>
      <p:grpSp>
        <p:nvGrpSpPr>
          <p:cNvPr id="10" name="Group 9">
            <a:extLst>
              <a:ext uri="{FF2B5EF4-FFF2-40B4-BE49-F238E27FC236}">
                <a16:creationId xmlns:a16="http://schemas.microsoft.com/office/drawing/2014/main" id="{BFC53E68-6819-5C41-3392-CD5AEC7AFA7D}"/>
              </a:ext>
            </a:extLst>
          </p:cNvPr>
          <p:cNvGrpSpPr/>
          <p:nvPr/>
        </p:nvGrpSpPr>
        <p:grpSpPr>
          <a:xfrm>
            <a:off x="7960583" y="126493"/>
            <a:ext cx="1143001" cy="475487"/>
            <a:chOff x="6173572" y="2276778"/>
            <a:chExt cx="2555268" cy="1333578"/>
          </a:xfrm>
        </p:grpSpPr>
        <p:pic>
          <p:nvPicPr>
            <p:cNvPr id="11" name="Picture 10" descr="A logo with blue and orange lines  AI-generated content may be incorrect.">
              <a:extLst>
                <a:ext uri="{FF2B5EF4-FFF2-40B4-BE49-F238E27FC236}">
                  <a16:creationId xmlns:a16="http://schemas.microsoft.com/office/drawing/2014/main" id="{049A7425-9209-8B1E-CA9A-5687FDAB8F9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173572" y="2276778"/>
              <a:ext cx="936104" cy="1295756"/>
            </a:xfrm>
            <a:prstGeom prst="rect">
              <a:avLst/>
            </a:prstGeom>
            <a:noFill/>
            <a:ln>
              <a:noFill/>
            </a:ln>
          </p:spPr>
        </p:pic>
        <p:pic>
          <p:nvPicPr>
            <p:cNvPr id="12" name="Picture 11">
              <a:extLst>
                <a:ext uri="{FF2B5EF4-FFF2-40B4-BE49-F238E27FC236}">
                  <a16:creationId xmlns:a16="http://schemas.microsoft.com/office/drawing/2014/main" id="{901759F2-5714-BF98-F739-67D3C5D16DE0}"/>
                </a:ext>
              </a:extLst>
            </p:cNvPr>
            <p:cNvPicPr>
              <a:picLocks noChangeAspect="1"/>
            </p:cNvPicPr>
            <p:nvPr/>
          </p:nvPicPr>
          <p:blipFill rotWithShape="1">
            <a:blip r:embed="rId5">
              <a:extLst>
                <a:ext uri="{28A0092B-C50C-407E-A947-70E740481C1C}">
                  <a14:useLocalDpi xmlns:a14="http://schemas.microsoft.com/office/drawing/2010/main" val="0"/>
                </a:ext>
              </a:extLst>
            </a:blip>
            <a:srcRect l="30270" r="31417" b="2264"/>
            <a:stretch/>
          </p:blipFill>
          <p:spPr bwMode="auto">
            <a:xfrm>
              <a:off x="7178602" y="2276778"/>
              <a:ext cx="1550238" cy="1333578"/>
            </a:xfrm>
            <a:prstGeom prst="rect">
              <a:avLst/>
            </a:prstGeom>
            <a:ln>
              <a:noFill/>
            </a:ln>
            <a:extLst>
              <a:ext uri="{53640926-AAD7-44D8-BBD7-CCE9431645EC}">
                <a14:shadowObscured xmlns:a14="http://schemas.microsoft.com/office/drawing/2010/main"/>
              </a:ext>
            </a:extLst>
          </p:spPr>
        </p:pic>
      </p:grpSp>
    </p:spTree>
    <p:extLst>
      <p:ext uri="{BB962C8B-B14F-4D97-AF65-F5344CB8AC3E}">
        <p14:creationId xmlns:p14="http://schemas.microsoft.com/office/powerpoint/2010/main" val="38183131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rPr>
              <a:t>Class Balancing with SMOTE &amp; CV Stability</a:t>
            </a:r>
          </a:p>
        </p:txBody>
      </p:sp>
      <p:sp>
        <p:nvSpPr>
          <p:cNvPr id="4" name="Divider"/>
          <p:cNvSpPr/>
          <p:nvPr/>
        </p:nvSpPr>
        <p:spPr>
          <a:xfrm>
            <a:off x="365760" y="1069848"/>
            <a:ext cx="8412480" cy="20117"/>
          </a:xfrm>
          <a:prstGeom prst="rect">
            <a:avLst/>
          </a:prstGeom>
          <a:solidFill>
            <a:srgbClr val="3D3D3D"/>
          </a:solidFill>
          <a:ln w="12700">
            <a:solidFill>
              <a:srgbClr val="3D3D3D"/>
            </a:solidFill>
          </a:ln>
        </p:spPr>
      </p:sp>
      <p:sp>
        <p:nvSpPr>
          <p:cNvPr id="5" name="Shape 2"/>
          <p:cNvSpPr/>
          <p:nvPr/>
        </p:nvSpPr>
        <p:spPr>
          <a:xfrm>
            <a:off x="0" y="4850892"/>
            <a:ext cx="9144000" cy="292608"/>
          </a:xfrm>
          <a:prstGeom prst="rect">
            <a:avLst/>
          </a:prstGeom>
          <a:solidFill>
            <a:srgbClr val="E87722"/>
          </a:solidFill>
          <a:ln w="12700">
            <a:solidFill>
              <a:srgbClr val="E87722"/>
            </a:solidFill>
            <a:prstDash val="solid"/>
          </a:ln>
        </p:spPr>
      </p:sp>
      <p:sp>
        <p:nvSpPr>
          <p:cNvPr id="6" name="PageNum"/>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rPr>
              <a:t>18</a:t>
            </a:r>
          </a:p>
        </p:txBody>
      </p:sp>
      <p:pic>
        <p:nvPicPr>
          <p:cNvPr id="200" name="Img200"/>
          <p:cNvPicPr>
            <a:picLocks noChangeAspect="1"/>
          </p:cNvPicPr>
          <p:nvPr/>
        </p:nvPicPr>
        <p:blipFill>
          <a:blip r:embed="rId3"/>
          <a:srcRect/>
          <a:stretch/>
        </p:blipFill>
        <p:spPr>
          <a:xfrm>
            <a:off x="182880" y="1365000"/>
            <a:ext cx="4100000" cy="1639999"/>
          </a:xfrm>
          <a:prstGeom prst="rect">
            <a:avLst/>
          </a:prstGeom>
        </p:spPr>
      </p:pic>
      <p:pic>
        <p:nvPicPr>
          <p:cNvPr id="201" name="Img201"/>
          <p:cNvPicPr>
            <a:picLocks noChangeAspect="1"/>
          </p:cNvPicPr>
          <p:nvPr/>
        </p:nvPicPr>
        <p:blipFill>
          <a:blip r:embed="rId4"/>
          <a:srcRect/>
          <a:stretch/>
        </p:blipFill>
        <p:spPr>
          <a:xfrm>
            <a:off x="4500000" y="1293000"/>
            <a:ext cx="4460000" cy="1783999"/>
          </a:xfrm>
          <a:prstGeom prst="rect">
            <a:avLst/>
          </a:prstGeom>
        </p:spPr>
      </p:pic>
      <p:sp>
        <p:nvSpPr>
          <p:cNvPr id="210" name="Box210"/>
          <p:cNvSpPr/>
          <p:nvPr/>
        </p:nvSpPr>
        <p:spPr>
          <a:xfrm>
            <a:off x="182880" y="3330000"/>
            <a:ext cx="8778240" cy="240000"/>
          </a:xfrm>
          <a:prstGeom prst="rect">
            <a:avLst/>
          </a:prstGeom>
          <a:solidFill>
            <a:srgbClr val="1F3864"/>
          </a:solidFill>
          <a:ln w="12700">
            <a:solidFill>
              <a:srgbClr val="1F3864"/>
            </a:solidFill>
          </a:ln>
        </p:spPr>
      </p:sp>
      <p:sp>
        <p:nvSpPr>
          <p:cNvPr id="211" name="T211"/>
          <p:cNvSpPr/>
          <p:nvPr/>
        </p:nvSpPr>
        <p:spPr>
          <a:xfrm>
            <a:off x="182880" y="3330000"/>
            <a:ext cx="8778240" cy="240000"/>
          </a:xfrm>
          <a:prstGeom prst="rect">
            <a:avLst/>
          </a:prstGeom>
          <a:solidFill>
            <a:srgbClr val="1F3864"/>
          </a:solidFill>
          <a:ln>
            <a:solidFill>
              <a:srgbClr val="1F3864"/>
            </a:solidFill>
          </a:ln>
        </p:spPr>
        <p:txBody>
          <a:bodyPr wrap="square" lIns="91440" tIns="45720" rIns="91440" bIns="45720" rtlCol="0" anchor="ctr"/>
          <a:lstStyle/>
          <a:p>
            <a:pPr marL="0" indent="0" algn="ctr">
              <a:buNone/>
            </a:pPr>
            <a:r>
              <a:rPr lang="en-US" sz="1200" b="1" dirty="0">
                <a:solidFill>
                  <a:srgbClr val="FFFFFF"/>
                </a:solidFill>
                <a:latin typeface="Times New Roman" pitchFamily="34" charset="0"/>
              </a:rPr>
              <a:t>Our Key Differentiator: SMOTE Applied INSIDE Each CV Fold — Base Papers Apply BEFORE (inflates AUC 3–8%)</a:t>
            </a:r>
          </a:p>
        </p:txBody>
      </p:sp>
      <p:sp>
        <p:nvSpPr>
          <p:cNvPr id="212" name="Box212"/>
          <p:cNvSpPr/>
          <p:nvPr/>
        </p:nvSpPr>
        <p:spPr>
          <a:xfrm>
            <a:off x="182880" y="3600000"/>
            <a:ext cx="2850000" cy="1100000"/>
          </a:xfrm>
          <a:prstGeom prst="rect">
            <a:avLst/>
          </a:prstGeom>
          <a:solidFill>
            <a:srgbClr val="FFF4EC"/>
          </a:solidFill>
          <a:ln w="12700">
            <a:solidFill>
              <a:srgbClr val="E87722"/>
            </a:solidFill>
          </a:ln>
        </p:spPr>
      </p:sp>
      <p:sp>
        <p:nvSpPr>
          <p:cNvPr id="213" name="T213"/>
          <p:cNvSpPr/>
          <p:nvPr/>
        </p:nvSpPr>
        <p:spPr>
          <a:xfrm>
            <a:off x="182880" y="3600000"/>
            <a:ext cx="2850000" cy="280000"/>
          </a:xfrm>
          <a:prstGeom prst="rect">
            <a:avLst/>
          </a:prstGeom>
          <a:noFill/>
          <a:ln>
            <a:noFill/>
          </a:ln>
        </p:spPr>
        <p:txBody>
          <a:bodyPr wrap="square" lIns="91440" tIns="45720" rIns="91440" bIns="45720" rtlCol="0" anchor="ctr"/>
          <a:lstStyle/>
          <a:p>
            <a:pPr marL="0" indent="0" algn="ctr">
              <a:buNone/>
            </a:pPr>
            <a:r>
              <a:rPr lang="en-US" sz="920" b="1" dirty="0">
                <a:solidFill>
                  <a:srgbClr val="E87722"/>
                </a:solidFill>
                <a:latin typeface="Times New Roman" pitchFamily="34" charset="0"/>
              </a:rPr>
              <a:t>Step 1 — Apply SMOTE inside each fold</a:t>
            </a:r>
          </a:p>
        </p:txBody>
      </p:sp>
      <p:sp>
        <p:nvSpPr>
          <p:cNvPr id="214" name="T214"/>
          <p:cNvSpPr/>
          <p:nvPr/>
        </p:nvSpPr>
        <p:spPr>
          <a:xfrm>
            <a:off x="230000" y="3895000"/>
            <a:ext cx="2750000" cy="780000"/>
          </a:xfrm>
          <a:prstGeom prst="rect">
            <a:avLst/>
          </a:prstGeom>
          <a:noFill/>
          <a:ln>
            <a:noFill/>
          </a:ln>
        </p:spPr>
        <p:txBody>
          <a:bodyPr wrap="square" lIns="91440" tIns="45720" rIns="91440" bIns="45720" rtlCol="0" anchor="t"/>
          <a:lstStyle/>
          <a:p>
            <a:pPr marL="0" indent="0">
              <a:buNone/>
            </a:pPr>
            <a:r>
              <a:rPr lang="en-US" sz="920" dirty="0">
                <a:solidFill>
                  <a:srgbClr val="3D3D3D"/>
                </a:solidFill>
                <a:latin typeface="Times New Roman" pitchFamily="34" charset="0"/>
              </a:rPr>
              <a:t>SMOTE called ONLY on train portion of each fold. Test split NEVER exposed to synthetic samples.</a:t>
            </a:r>
          </a:p>
          <a:p>
            <a:pPr marL="0" indent="0">
              <a:buNone/>
            </a:pPr>
            <a:r>
              <a:rPr lang="en-US" sz="920" dirty="0">
                <a:solidFill>
                  <a:srgbClr val="3D3D3D"/>
                </a:solidFill>
                <a:latin typeface="Times New Roman" pitchFamily="34" charset="0"/>
              </a:rPr>
              <a:t>CKD: 250/150 → 200/200 (inside fold)</a:t>
            </a:r>
          </a:p>
          <a:p>
            <a:pPr marL="0" indent="0">
              <a:buNone/>
            </a:pPr>
            <a:r>
              <a:rPr lang="en-US" sz="920" dirty="0">
                <a:solidFill>
                  <a:srgbClr val="3D3D3D"/>
                </a:solidFill>
                <a:latin typeface="Times New Roman" pitchFamily="34" charset="0"/>
              </a:rPr>
              <a:t>Diabetes: 500/268 → 400/400 (inside fold)</a:t>
            </a:r>
          </a:p>
          <a:p>
            <a:endParaRPr lang="en-US" dirty="0"/>
          </a:p>
        </p:txBody>
      </p:sp>
      <p:sp>
        <p:nvSpPr>
          <p:cNvPr id="215" name="Box215"/>
          <p:cNvSpPr/>
          <p:nvPr/>
        </p:nvSpPr>
        <p:spPr>
          <a:xfrm>
            <a:off x="3120000" y="3600000"/>
            <a:ext cx="2850000" cy="1100000"/>
          </a:xfrm>
          <a:prstGeom prst="rect">
            <a:avLst/>
          </a:prstGeom>
          <a:solidFill>
            <a:srgbClr val="F0F4FF"/>
          </a:solidFill>
          <a:ln w="12700">
            <a:solidFill>
              <a:srgbClr val="1F3864"/>
            </a:solidFill>
          </a:ln>
        </p:spPr>
      </p:sp>
      <p:sp>
        <p:nvSpPr>
          <p:cNvPr id="216" name="T216"/>
          <p:cNvSpPr/>
          <p:nvPr/>
        </p:nvSpPr>
        <p:spPr>
          <a:xfrm>
            <a:off x="3120000" y="3600000"/>
            <a:ext cx="2850000" cy="280000"/>
          </a:xfrm>
          <a:prstGeom prst="rect">
            <a:avLst/>
          </a:prstGeom>
          <a:noFill/>
          <a:ln>
            <a:noFill/>
          </a:ln>
        </p:spPr>
        <p:txBody>
          <a:bodyPr wrap="square" lIns="91440" tIns="45720" rIns="91440" bIns="45720" rtlCol="0" anchor="ctr"/>
          <a:lstStyle/>
          <a:p>
            <a:pPr marL="0" indent="0" algn="ctr">
              <a:buNone/>
            </a:pPr>
            <a:r>
              <a:rPr lang="en-US" sz="920" b="1" dirty="0">
                <a:solidFill>
                  <a:srgbClr val="1F3864"/>
                </a:solidFill>
                <a:latin typeface="Times New Roman" pitchFamily="34" charset="0"/>
              </a:rPr>
              <a:t>Step 2 — Clamp synthetic values</a:t>
            </a:r>
          </a:p>
        </p:txBody>
      </p:sp>
      <p:sp>
        <p:nvSpPr>
          <p:cNvPr id="217" name="T217"/>
          <p:cNvSpPr/>
          <p:nvPr/>
        </p:nvSpPr>
        <p:spPr>
          <a:xfrm>
            <a:off x="3168000" y="3895000"/>
            <a:ext cx="2750000" cy="780000"/>
          </a:xfrm>
          <a:prstGeom prst="rect">
            <a:avLst/>
          </a:prstGeom>
          <a:noFill/>
          <a:ln>
            <a:noFill/>
          </a:ln>
        </p:spPr>
        <p:txBody>
          <a:bodyPr wrap="square" lIns="91440" tIns="45720" rIns="91440" bIns="45720" rtlCol="0" anchor="t"/>
          <a:lstStyle/>
          <a:p>
            <a:pPr marL="0" indent="0" algn="l">
              <a:buNone/>
            </a:pPr>
            <a:r>
              <a:rPr lang="en-US" sz="920" b="0" dirty="0">
                <a:solidFill>
                  <a:srgbClr val="3D3D3D"/>
                </a:solidFill>
                <a:latin typeface="Times New Roman" pitchFamily="34" charset="0"/>
              </a:rPr>
              <a:t>Synthetic samples are clipped to the min/max of the real training data to prevent out-of-distribution extrapolation. CKD uses SMOTEENN for stronger noise removal.</a:t>
            </a:r>
          </a:p>
        </p:txBody>
      </p:sp>
      <p:sp>
        <p:nvSpPr>
          <p:cNvPr id="218" name="Box218"/>
          <p:cNvSpPr/>
          <p:nvPr/>
        </p:nvSpPr>
        <p:spPr>
          <a:xfrm>
            <a:off x="6060000" y="3600000"/>
            <a:ext cx="2900000" cy="1100000"/>
          </a:xfrm>
          <a:prstGeom prst="rect">
            <a:avLst/>
          </a:prstGeom>
          <a:solidFill>
            <a:srgbClr val="F0F8EC"/>
          </a:solidFill>
          <a:ln w="12700">
            <a:solidFill>
              <a:srgbClr val="2D6A2D"/>
            </a:solidFill>
          </a:ln>
        </p:spPr>
      </p:sp>
      <p:sp>
        <p:nvSpPr>
          <p:cNvPr id="219" name="T219"/>
          <p:cNvSpPr/>
          <p:nvPr/>
        </p:nvSpPr>
        <p:spPr>
          <a:xfrm>
            <a:off x="6060000" y="3600000"/>
            <a:ext cx="2900000" cy="280000"/>
          </a:xfrm>
          <a:prstGeom prst="rect">
            <a:avLst/>
          </a:prstGeom>
          <a:noFill/>
          <a:ln>
            <a:noFill/>
          </a:ln>
        </p:spPr>
        <p:txBody>
          <a:bodyPr wrap="square" lIns="91440" tIns="45720" rIns="91440" bIns="45720" rtlCol="0" anchor="ctr"/>
          <a:lstStyle/>
          <a:p>
            <a:pPr marL="0" indent="0" algn="ctr">
              <a:buNone/>
            </a:pPr>
            <a:r>
              <a:rPr lang="en-US" sz="920" b="1" dirty="0">
                <a:solidFill>
                  <a:srgbClr val="2D6A2D"/>
                </a:solidFill>
                <a:latin typeface="Times New Roman" pitchFamily="34" charset="0"/>
              </a:rPr>
              <a:t>Result — 10-fold CV stability</a:t>
            </a:r>
          </a:p>
        </p:txBody>
      </p:sp>
      <p:sp>
        <p:nvSpPr>
          <p:cNvPr id="220" name="T220"/>
          <p:cNvSpPr/>
          <p:nvPr/>
        </p:nvSpPr>
        <p:spPr>
          <a:xfrm>
            <a:off x="6108000" y="3895000"/>
            <a:ext cx="2800000" cy="780000"/>
          </a:xfrm>
          <a:prstGeom prst="rect">
            <a:avLst/>
          </a:prstGeom>
          <a:noFill/>
          <a:ln>
            <a:noFill/>
          </a:ln>
        </p:spPr>
        <p:txBody>
          <a:bodyPr wrap="square" lIns="91440" tIns="45720" rIns="91440" bIns="45720" rtlCol="0" anchor="t"/>
          <a:lstStyle/>
          <a:p>
            <a:pPr marL="0" indent="0" algn="l">
              <a:buNone/>
            </a:pPr>
            <a:r>
              <a:rPr lang="en-US" sz="920" b="0" dirty="0">
                <a:solidFill>
                  <a:srgbClr val="3D3D3D"/>
                </a:solidFill>
                <a:latin typeface="Times New Roman" pitchFamily="34" charset="0"/>
              </a:rPr>
              <a:t>Per-fold AUC std ≤0.059 for Diabetes, ≤0.019 for CKD (right chart). Tight bands confirm the pipeline generalises reliably across all 10 stratified folds.</a:t>
            </a:r>
          </a:p>
        </p:txBody>
      </p:sp>
      <p:pic>
        <p:nvPicPr>
          <p:cNvPr id="7" name="Image 0" descr="preencoded.png">
            <a:extLst>
              <a:ext uri="{FF2B5EF4-FFF2-40B4-BE49-F238E27FC236}">
                <a16:creationId xmlns:a16="http://schemas.microsoft.com/office/drawing/2014/main" id="{E64C3C09-FAA3-44F9-8C67-1DB0BFF0F61A}"/>
              </a:ext>
            </a:extLst>
          </p:cNvPr>
          <p:cNvPicPr>
            <a:picLocks noChangeAspect="1"/>
          </p:cNvPicPr>
          <p:nvPr/>
        </p:nvPicPr>
        <p:blipFill>
          <a:blip r:embed="rId5"/>
          <a:stretch>
            <a:fillRect/>
          </a:stretch>
        </p:blipFill>
        <p:spPr>
          <a:xfrm>
            <a:off x="0" y="126492"/>
            <a:ext cx="1143000" cy="475488"/>
          </a:xfrm>
          <a:prstGeom prst="rect">
            <a:avLst/>
          </a:prstGeom>
        </p:spPr>
      </p:pic>
      <p:grpSp>
        <p:nvGrpSpPr>
          <p:cNvPr id="8" name="Group 7">
            <a:extLst>
              <a:ext uri="{FF2B5EF4-FFF2-40B4-BE49-F238E27FC236}">
                <a16:creationId xmlns:a16="http://schemas.microsoft.com/office/drawing/2014/main" id="{41455488-03E3-ED55-5C92-6F5AD7E098F0}"/>
              </a:ext>
            </a:extLst>
          </p:cNvPr>
          <p:cNvGrpSpPr/>
          <p:nvPr/>
        </p:nvGrpSpPr>
        <p:grpSpPr>
          <a:xfrm>
            <a:off x="7960583" y="126493"/>
            <a:ext cx="1143001" cy="475487"/>
            <a:chOff x="6173572" y="2276778"/>
            <a:chExt cx="2555268" cy="1333578"/>
          </a:xfrm>
        </p:grpSpPr>
        <p:pic>
          <p:nvPicPr>
            <p:cNvPr id="9" name="Picture 8" descr="A logo with blue and orange lines  AI-generated content may be incorrect.">
              <a:extLst>
                <a:ext uri="{FF2B5EF4-FFF2-40B4-BE49-F238E27FC236}">
                  <a16:creationId xmlns:a16="http://schemas.microsoft.com/office/drawing/2014/main" id="{523BDB47-DAB8-5387-E0C4-B29325FB47ED}"/>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6173572" y="2276778"/>
              <a:ext cx="936104" cy="1295756"/>
            </a:xfrm>
            <a:prstGeom prst="rect">
              <a:avLst/>
            </a:prstGeom>
            <a:noFill/>
            <a:ln>
              <a:noFill/>
            </a:ln>
          </p:spPr>
        </p:pic>
        <p:pic>
          <p:nvPicPr>
            <p:cNvPr id="10" name="Picture 9">
              <a:extLst>
                <a:ext uri="{FF2B5EF4-FFF2-40B4-BE49-F238E27FC236}">
                  <a16:creationId xmlns:a16="http://schemas.microsoft.com/office/drawing/2014/main" id="{C5A60B49-908D-D4E7-9F05-5C8D861FB0F3}"/>
                </a:ext>
              </a:extLst>
            </p:cNvPr>
            <p:cNvPicPr>
              <a:picLocks noChangeAspect="1"/>
            </p:cNvPicPr>
            <p:nvPr/>
          </p:nvPicPr>
          <p:blipFill rotWithShape="1">
            <a:blip r:embed="rId7">
              <a:extLst>
                <a:ext uri="{28A0092B-C50C-407E-A947-70E740481C1C}">
                  <a14:useLocalDpi xmlns:a14="http://schemas.microsoft.com/office/drawing/2010/main" val="0"/>
                </a:ext>
              </a:extLst>
            </a:blip>
            <a:srcRect l="30270" r="31417" b="2264"/>
            <a:stretch/>
          </p:blipFill>
          <p:spPr bwMode="auto">
            <a:xfrm>
              <a:off x="7178602" y="2276778"/>
              <a:ext cx="1550238" cy="1333578"/>
            </a:xfrm>
            <a:prstGeom prst="rect">
              <a:avLst/>
            </a:prstGeom>
            <a:ln>
              <a:noFill/>
            </a:ln>
            <a:extLst>
              <a:ext uri="{53640926-AAD7-44D8-BBD7-CCE9431645EC}">
                <a14:shadowObscured xmlns:a14="http://schemas.microsoft.com/office/drawing/2010/main"/>
              </a:ext>
            </a:extLst>
          </p:spPr>
        </p:pic>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07964-2350-D0ED-4FE6-7C7C5EB265AF}"/>
            </a:ext>
          </a:extLst>
        </p:cNvPr>
        <p:cNvGrpSpPr/>
        <p:nvPr/>
      </p:nvGrpSpPr>
      <p:grpSpPr>
        <a:xfrm>
          <a:off x="0" y="0"/>
          <a:ext cx="0" cy="0"/>
          <a:chOff x="0" y="0"/>
          <a:chExt cx="0" cy="0"/>
        </a:xfrm>
      </p:grpSpPr>
      <p:sp>
        <p:nvSpPr>
          <p:cNvPr id="3" name="Title">
            <a:extLst>
              <a:ext uri="{FF2B5EF4-FFF2-40B4-BE49-F238E27FC236}">
                <a16:creationId xmlns:a16="http://schemas.microsoft.com/office/drawing/2014/main" id="{A55FBD10-B8FC-D2F1-8B58-59D335EE57AA}"/>
              </a:ext>
            </a:extLst>
          </p:cNvPr>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rPr>
              <a:t>SHAP</a:t>
            </a:r>
          </a:p>
        </p:txBody>
      </p:sp>
      <p:sp>
        <p:nvSpPr>
          <p:cNvPr id="4" name="Divider">
            <a:extLst>
              <a:ext uri="{FF2B5EF4-FFF2-40B4-BE49-F238E27FC236}">
                <a16:creationId xmlns:a16="http://schemas.microsoft.com/office/drawing/2014/main" id="{40FF1F96-5603-3154-3EBA-840E9ADE249B}"/>
              </a:ext>
            </a:extLst>
          </p:cNvPr>
          <p:cNvSpPr/>
          <p:nvPr/>
        </p:nvSpPr>
        <p:spPr>
          <a:xfrm>
            <a:off x="365760" y="1069848"/>
            <a:ext cx="8412480" cy="20117"/>
          </a:xfrm>
          <a:prstGeom prst="rect">
            <a:avLst/>
          </a:prstGeom>
          <a:solidFill>
            <a:srgbClr val="3D3D3D"/>
          </a:solidFill>
          <a:ln w="12700">
            <a:solidFill>
              <a:srgbClr val="3D3D3D"/>
            </a:solidFill>
          </a:ln>
        </p:spPr>
      </p:sp>
      <p:sp>
        <p:nvSpPr>
          <p:cNvPr id="5" name="Shape 2">
            <a:extLst>
              <a:ext uri="{FF2B5EF4-FFF2-40B4-BE49-F238E27FC236}">
                <a16:creationId xmlns:a16="http://schemas.microsoft.com/office/drawing/2014/main" id="{C4787CB4-E1D9-FE0D-04CB-E0CAB0AF0461}"/>
              </a:ext>
            </a:extLst>
          </p:cNvPr>
          <p:cNvSpPr/>
          <p:nvPr/>
        </p:nvSpPr>
        <p:spPr>
          <a:xfrm>
            <a:off x="0" y="4850892"/>
            <a:ext cx="9144000" cy="292608"/>
          </a:xfrm>
          <a:prstGeom prst="rect">
            <a:avLst/>
          </a:prstGeom>
          <a:solidFill>
            <a:srgbClr val="E87722"/>
          </a:solidFill>
          <a:ln w="12700">
            <a:solidFill>
              <a:srgbClr val="E87722"/>
            </a:solidFill>
            <a:prstDash val="solid"/>
          </a:ln>
        </p:spPr>
      </p:sp>
      <p:sp>
        <p:nvSpPr>
          <p:cNvPr id="6" name="PageNum">
            <a:extLst>
              <a:ext uri="{FF2B5EF4-FFF2-40B4-BE49-F238E27FC236}">
                <a16:creationId xmlns:a16="http://schemas.microsoft.com/office/drawing/2014/main" id="{FB20F648-94BA-72DE-A839-4BAD390B26C6}"/>
              </a:ext>
            </a:extLst>
          </p:cNvPr>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rPr>
              <a:t>18</a:t>
            </a:r>
          </a:p>
        </p:txBody>
      </p:sp>
      <p:pic>
        <p:nvPicPr>
          <p:cNvPr id="200" name="Img200">
            <a:extLst>
              <a:ext uri="{FF2B5EF4-FFF2-40B4-BE49-F238E27FC236}">
                <a16:creationId xmlns:a16="http://schemas.microsoft.com/office/drawing/2014/main" id="{816388B1-0531-236B-1CF5-07C4CE639A76}"/>
              </a:ext>
            </a:extLst>
          </p:cNvPr>
          <p:cNvPicPr>
            <a:picLocks noChangeAspect="1"/>
          </p:cNvPicPr>
          <p:nvPr/>
        </p:nvPicPr>
        <p:blipFill>
          <a:blip r:embed="rId3"/>
          <a:srcRect/>
          <a:stretch/>
        </p:blipFill>
        <p:spPr>
          <a:xfrm>
            <a:off x="845327" y="1365000"/>
            <a:ext cx="2775106" cy="1639999"/>
          </a:xfrm>
          <a:prstGeom prst="rect">
            <a:avLst/>
          </a:prstGeom>
        </p:spPr>
      </p:pic>
      <p:pic>
        <p:nvPicPr>
          <p:cNvPr id="201" name="Img201">
            <a:extLst>
              <a:ext uri="{FF2B5EF4-FFF2-40B4-BE49-F238E27FC236}">
                <a16:creationId xmlns:a16="http://schemas.microsoft.com/office/drawing/2014/main" id="{8C356DEE-BA2A-BD7C-E58A-3893BDF510E9}"/>
              </a:ext>
            </a:extLst>
          </p:cNvPr>
          <p:cNvPicPr>
            <a:picLocks noChangeAspect="1"/>
          </p:cNvPicPr>
          <p:nvPr/>
        </p:nvPicPr>
        <p:blipFill>
          <a:blip r:embed="rId4"/>
          <a:srcRect/>
          <a:stretch/>
        </p:blipFill>
        <p:spPr>
          <a:xfrm>
            <a:off x="4506986" y="1293000"/>
            <a:ext cx="4446028" cy="1783999"/>
          </a:xfrm>
          <a:prstGeom prst="rect">
            <a:avLst/>
          </a:prstGeom>
        </p:spPr>
      </p:pic>
      <p:pic>
        <p:nvPicPr>
          <p:cNvPr id="7" name="Image 0" descr="preencoded.png">
            <a:extLst>
              <a:ext uri="{FF2B5EF4-FFF2-40B4-BE49-F238E27FC236}">
                <a16:creationId xmlns:a16="http://schemas.microsoft.com/office/drawing/2014/main" id="{0ED81E24-08B2-02D4-2009-A6CB52AA4F9C}"/>
              </a:ext>
            </a:extLst>
          </p:cNvPr>
          <p:cNvPicPr>
            <a:picLocks noChangeAspect="1"/>
          </p:cNvPicPr>
          <p:nvPr/>
        </p:nvPicPr>
        <p:blipFill>
          <a:blip r:embed="rId5"/>
          <a:stretch>
            <a:fillRect/>
          </a:stretch>
        </p:blipFill>
        <p:spPr>
          <a:xfrm>
            <a:off x="0" y="126492"/>
            <a:ext cx="1143000" cy="475488"/>
          </a:xfrm>
          <a:prstGeom prst="rect">
            <a:avLst/>
          </a:prstGeom>
        </p:spPr>
      </p:pic>
      <p:grpSp>
        <p:nvGrpSpPr>
          <p:cNvPr id="8" name="Group 7">
            <a:extLst>
              <a:ext uri="{FF2B5EF4-FFF2-40B4-BE49-F238E27FC236}">
                <a16:creationId xmlns:a16="http://schemas.microsoft.com/office/drawing/2014/main" id="{6E4101BF-C90D-226A-D21A-89B475AB54B3}"/>
              </a:ext>
            </a:extLst>
          </p:cNvPr>
          <p:cNvGrpSpPr/>
          <p:nvPr/>
        </p:nvGrpSpPr>
        <p:grpSpPr>
          <a:xfrm>
            <a:off x="7960583" y="126493"/>
            <a:ext cx="1143001" cy="475487"/>
            <a:chOff x="6173572" y="2276778"/>
            <a:chExt cx="2555268" cy="1333578"/>
          </a:xfrm>
        </p:grpSpPr>
        <p:pic>
          <p:nvPicPr>
            <p:cNvPr id="9" name="Picture 8" descr="A logo with blue and orange lines  AI-generated content may be incorrect.">
              <a:extLst>
                <a:ext uri="{FF2B5EF4-FFF2-40B4-BE49-F238E27FC236}">
                  <a16:creationId xmlns:a16="http://schemas.microsoft.com/office/drawing/2014/main" id="{E1503797-8E48-1D69-2B33-080DE12BE7FA}"/>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6173572" y="2276778"/>
              <a:ext cx="936104" cy="1295756"/>
            </a:xfrm>
            <a:prstGeom prst="rect">
              <a:avLst/>
            </a:prstGeom>
            <a:noFill/>
            <a:ln>
              <a:noFill/>
            </a:ln>
          </p:spPr>
        </p:pic>
        <p:pic>
          <p:nvPicPr>
            <p:cNvPr id="10" name="Picture 9">
              <a:extLst>
                <a:ext uri="{FF2B5EF4-FFF2-40B4-BE49-F238E27FC236}">
                  <a16:creationId xmlns:a16="http://schemas.microsoft.com/office/drawing/2014/main" id="{9DE9A3CB-4EFD-FA83-CD79-C312EF40A2AA}"/>
                </a:ext>
              </a:extLst>
            </p:cNvPr>
            <p:cNvPicPr>
              <a:picLocks noChangeAspect="1"/>
            </p:cNvPicPr>
            <p:nvPr/>
          </p:nvPicPr>
          <p:blipFill rotWithShape="1">
            <a:blip r:embed="rId7">
              <a:extLst>
                <a:ext uri="{28A0092B-C50C-407E-A947-70E740481C1C}">
                  <a14:useLocalDpi xmlns:a14="http://schemas.microsoft.com/office/drawing/2010/main" val="0"/>
                </a:ext>
              </a:extLst>
            </a:blip>
            <a:srcRect l="30270" r="31417" b="2264"/>
            <a:stretch/>
          </p:blipFill>
          <p:spPr bwMode="auto">
            <a:xfrm>
              <a:off x="7178602" y="2276778"/>
              <a:ext cx="1550238" cy="1333578"/>
            </a:xfrm>
            <a:prstGeom prst="rect">
              <a:avLst/>
            </a:prstGeom>
            <a:ln>
              <a:noFill/>
            </a:ln>
            <a:extLst>
              <a:ext uri="{53640926-AAD7-44D8-BBD7-CCE9431645EC}">
                <a14:shadowObscured xmlns:a14="http://schemas.microsoft.com/office/drawing/2010/main"/>
              </a:ext>
            </a:extLst>
          </p:spPr>
        </p:pic>
      </p:grpSp>
      <p:grpSp>
        <p:nvGrpSpPr>
          <p:cNvPr id="2" name="Group 1">
            <a:extLst>
              <a:ext uri="{FF2B5EF4-FFF2-40B4-BE49-F238E27FC236}">
                <a16:creationId xmlns:a16="http://schemas.microsoft.com/office/drawing/2014/main" id="{204EF54E-B257-C71E-0622-1C4DB96710AB}"/>
              </a:ext>
            </a:extLst>
          </p:cNvPr>
          <p:cNvGrpSpPr/>
          <p:nvPr/>
        </p:nvGrpSpPr>
        <p:grpSpPr>
          <a:xfrm>
            <a:off x="365761" y="3249700"/>
            <a:ext cx="8412480" cy="1528040"/>
            <a:chOff x="5989320" y="3264408"/>
            <a:chExt cx="2788920" cy="1513332"/>
          </a:xfrm>
        </p:grpSpPr>
        <p:sp>
          <p:nvSpPr>
            <p:cNvPr id="11" name="Shape 12">
              <a:extLst>
                <a:ext uri="{FF2B5EF4-FFF2-40B4-BE49-F238E27FC236}">
                  <a16:creationId xmlns:a16="http://schemas.microsoft.com/office/drawing/2014/main" id="{1FA1A5F7-A9D9-F806-085B-4D59344DA2CF}"/>
                </a:ext>
              </a:extLst>
            </p:cNvPr>
            <p:cNvSpPr/>
            <p:nvPr/>
          </p:nvSpPr>
          <p:spPr>
            <a:xfrm>
              <a:off x="5989320" y="3264408"/>
              <a:ext cx="2788920" cy="1513332"/>
            </a:xfrm>
            <a:prstGeom prst="rect">
              <a:avLst/>
            </a:prstGeom>
            <a:solidFill>
              <a:srgbClr val="FFF4EC"/>
            </a:solidFill>
            <a:ln w="12700">
              <a:solidFill>
                <a:srgbClr val="E87722"/>
              </a:solidFill>
              <a:prstDash val="solid"/>
            </a:ln>
          </p:spPr>
        </p:sp>
        <p:sp>
          <p:nvSpPr>
            <p:cNvPr id="12" name="Shape 13">
              <a:extLst>
                <a:ext uri="{FF2B5EF4-FFF2-40B4-BE49-F238E27FC236}">
                  <a16:creationId xmlns:a16="http://schemas.microsoft.com/office/drawing/2014/main" id="{61195C4B-1731-B1A2-A906-E64741618151}"/>
                </a:ext>
              </a:extLst>
            </p:cNvPr>
            <p:cNvSpPr/>
            <p:nvPr/>
          </p:nvSpPr>
          <p:spPr>
            <a:xfrm>
              <a:off x="5989320" y="3264408"/>
              <a:ext cx="2788920" cy="329184"/>
            </a:xfrm>
            <a:prstGeom prst="rect">
              <a:avLst/>
            </a:prstGeom>
            <a:solidFill>
              <a:srgbClr val="E87722"/>
            </a:solidFill>
            <a:ln w="12700">
              <a:solidFill>
                <a:srgbClr val="E87722"/>
              </a:solidFill>
              <a:prstDash val="solid"/>
            </a:ln>
          </p:spPr>
        </p:sp>
        <p:sp>
          <p:nvSpPr>
            <p:cNvPr id="13" name="Text 14">
              <a:extLst>
                <a:ext uri="{FF2B5EF4-FFF2-40B4-BE49-F238E27FC236}">
                  <a16:creationId xmlns:a16="http://schemas.microsoft.com/office/drawing/2014/main" id="{00C3C06E-63E2-7904-C15E-46D846F9DB09}"/>
                </a:ext>
              </a:extLst>
            </p:cNvPr>
            <p:cNvSpPr/>
            <p:nvPr/>
          </p:nvSpPr>
          <p:spPr>
            <a:xfrm>
              <a:off x="5989320" y="3264408"/>
              <a:ext cx="2788920"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SHAP (</a:t>
              </a:r>
              <a:r>
                <a:rPr lang="en-US" sz="1400" b="1" dirty="0" err="1">
                  <a:solidFill>
                    <a:srgbClr val="FFFFFF"/>
                  </a:solidFill>
                  <a:latin typeface="Times New Roman" pitchFamily="34" charset="0"/>
                  <a:ea typeface="Times New Roman" pitchFamily="34" charset="-122"/>
                  <a:cs typeface="Times New Roman" pitchFamily="34" charset="-120"/>
                </a:rPr>
                <a:t>SHapley</a:t>
              </a:r>
              <a:r>
                <a:rPr lang="en-US" sz="1400" b="1" dirty="0">
                  <a:solidFill>
                    <a:srgbClr val="FFFFFF"/>
                  </a:solidFill>
                  <a:latin typeface="Times New Roman" pitchFamily="34" charset="0"/>
                  <a:ea typeface="Times New Roman" pitchFamily="34" charset="-122"/>
                  <a:cs typeface="Times New Roman" pitchFamily="34" charset="-120"/>
                </a:rPr>
                <a:t> Additive </a:t>
              </a:r>
              <a:r>
                <a:rPr lang="en-US" sz="1400" b="1" dirty="0" err="1">
                  <a:solidFill>
                    <a:srgbClr val="FFFFFF"/>
                  </a:solidFill>
                  <a:latin typeface="Times New Roman" pitchFamily="34" charset="0"/>
                  <a:ea typeface="Times New Roman" pitchFamily="34" charset="-122"/>
                  <a:cs typeface="Times New Roman" pitchFamily="34" charset="-120"/>
                </a:rPr>
                <a:t>exPlanations</a:t>
              </a:r>
              <a:r>
                <a:rPr lang="en-US" sz="1400" b="1" dirty="0">
                  <a:solidFill>
                    <a:srgbClr val="FFFFFF"/>
                  </a:solidFill>
                  <a:latin typeface="Times New Roman" pitchFamily="34" charset="0"/>
                  <a:ea typeface="Times New Roman" pitchFamily="34" charset="-122"/>
                  <a:cs typeface="Times New Roman" pitchFamily="34" charset="-120"/>
                </a:rPr>
                <a:t>) is a game-theory algorithm that cracks open that black box. </a:t>
              </a:r>
            </a:p>
          </p:txBody>
        </p:sp>
        <p:sp>
          <p:nvSpPr>
            <p:cNvPr id="14" name="Text 15">
              <a:extLst>
                <a:ext uri="{FF2B5EF4-FFF2-40B4-BE49-F238E27FC236}">
                  <a16:creationId xmlns:a16="http://schemas.microsoft.com/office/drawing/2014/main" id="{3F6F1F65-ED27-28AE-2AD2-F07EBA16B547}"/>
                </a:ext>
              </a:extLst>
            </p:cNvPr>
            <p:cNvSpPr/>
            <p:nvPr/>
          </p:nvSpPr>
          <p:spPr>
            <a:xfrm>
              <a:off x="6099048" y="3666744"/>
              <a:ext cx="2569464" cy="1037844"/>
            </a:xfrm>
            <a:prstGeom prst="rect">
              <a:avLst/>
            </a:prstGeom>
            <a:noFill/>
            <a:ln/>
          </p:spPr>
          <p:txBody>
            <a:bodyPr wrap="square" rtlCol="0" anchor="ctr"/>
            <a:lstStyle/>
            <a:p>
              <a:pPr marL="171450" indent="-171450">
                <a:buFont typeface="Arial" panose="020B0604020202020204" pitchFamily="34" charset="0"/>
                <a:buChar char="•"/>
              </a:pPr>
              <a:r>
                <a:rPr lang="en-US" sz="1400" dirty="0">
                  <a:solidFill>
                    <a:srgbClr val="3D3D3D"/>
                  </a:solidFill>
                  <a:latin typeface="Times New Roman" pitchFamily="34" charset="0"/>
                  <a:ea typeface="Times New Roman" pitchFamily="34" charset="-122"/>
                  <a:cs typeface="Times New Roman" pitchFamily="34" charset="-120"/>
                </a:rPr>
                <a:t>It calculates the exact mathematical contribution of every single feature (like Glucose or Age) for every single patient. </a:t>
              </a:r>
            </a:p>
            <a:p>
              <a:pPr marL="171450" indent="-171450">
                <a:buFont typeface="Arial" panose="020B0604020202020204" pitchFamily="34" charset="0"/>
                <a:buChar char="•"/>
              </a:pPr>
              <a:r>
                <a:rPr lang="en-US" sz="1400" dirty="0">
                  <a:solidFill>
                    <a:srgbClr val="3D3D3D"/>
                  </a:solidFill>
                  <a:latin typeface="Times New Roman" pitchFamily="34" charset="0"/>
                  <a:ea typeface="Times New Roman" pitchFamily="34" charset="-122"/>
                  <a:cs typeface="Times New Roman" pitchFamily="34" charset="-120"/>
                </a:rPr>
                <a:t>The summary plots it generates show you not only Feature Importance (which variables matter most), but also Impact Direction (e.g., proving that higher blood pressure pushes the risk score up, while lower blood pressure pushes the risk score down).</a:t>
              </a:r>
              <a:endParaRPr lang="en-US" sz="1400" dirty="0"/>
            </a:p>
          </p:txBody>
        </p:sp>
      </p:grpSp>
    </p:spTree>
    <p:extLst>
      <p:ext uri="{BB962C8B-B14F-4D97-AF65-F5344CB8AC3E}">
        <p14:creationId xmlns:p14="http://schemas.microsoft.com/office/powerpoint/2010/main" val="28931969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rPr>
              <a:t>Results — Diabetes &amp; CKD Pipelines</a:t>
            </a:r>
          </a:p>
        </p:txBody>
      </p:sp>
      <p:sp>
        <p:nvSpPr>
          <p:cNvPr id="4" name="Div"/>
          <p:cNvSpPr/>
          <p:nvPr/>
        </p:nvSpPr>
        <p:spPr>
          <a:xfrm>
            <a:off x="365760" y="1069848"/>
            <a:ext cx="8412480" cy="20117"/>
          </a:xfrm>
          <a:prstGeom prst="rect">
            <a:avLst/>
          </a:prstGeom>
          <a:solidFill>
            <a:srgbClr val="3D3D3D"/>
          </a:solidFill>
          <a:ln w="12700">
            <a:solidFill>
              <a:srgbClr val="3D3D3D"/>
            </a:solidFill>
          </a:ln>
        </p:spPr>
      </p:sp>
      <p:sp>
        <p:nvSpPr>
          <p:cNvPr id="5" name="Shape 2"/>
          <p:cNvSpPr/>
          <p:nvPr/>
        </p:nvSpPr>
        <p:spPr>
          <a:xfrm>
            <a:off x="0" y="4850892"/>
            <a:ext cx="9144000" cy="292608"/>
          </a:xfrm>
          <a:prstGeom prst="rect">
            <a:avLst/>
          </a:prstGeom>
          <a:solidFill>
            <a:srgbClr val="E87722"/>
          </a:solidFill>
          <a:ln w="12700">
            <a:solidFill>
              <a:srgbClr val="E87722"/>
            </a:solidFill>
            <a:prstDash val="solid"/>
          </a:ln>
        </p:spPr>
      </p:sp>
      <p:sp>
        <p:nvSpPr>
          <p:cNvPr id="6" name="Pg"/>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rPr>
              <a:t>21</a:t>
            </a:r>
          </a:p>
        </p:txBody>
      </p:sp>
      <p:pic>
        <p:nvPicPr>
          <p:cNvPr id="200" name="I200"/>
          <p:cNvPicPr>
            <a:picLocks noChangeAspect="1"/>
          </p:cNvPicPr>
          <p:nvPr/>
        </p:nvPicPr>
        <p:blipFill>
          <a:blip r:embed="rId3"/>
          <a:srcRect/>
          <a:stretch/>
        </p:blipFill>
        <p:spPr>
          <a:xfrm>
            <a:off x="365760" y="1201954"/>
            <a:ext cx="2080001" cy="1768638"/>
          </a:xfrm>
          <a:prstGeom prst="rect">
            <a:avLst/>
          </a:prstGeom>
        </p:spPr>
      </p:pic>
      <p:pic>
        <p:nvPicPr>
          <p:cNvPr id="201" name="I201"/>
          <p:cNvPicPr>
            <a:picLocks noChangeAspect="1"/>
          </p:cNvPicPr>
          <p:nvPr/>
        </p:nvPicPr>
        <p:blipFill>
          <a:blip r:embed="rId4"/>
          <a:srcRect/>
          <a:stretch/>
        </p:blipFill>
        <p:spPr>
          <a:xfrm>
            <a:off x="2499999" y="1201954"/>
            <a:ext cx="2080001" cy="1768638"/>
          </a:xfrm>
          <a:prstGeom prst="rect">
            <a:avLst/>
          </a:prstGeom>
        </p:spPr>
      </p:pic>
      <p:sp>
        <p:nvSpPr>
          <p:cNvPr id="13" name="CBB3"/>
          <p:cNvSpPr/>
          <p:nvPr/>
        </p:nvSpPr>
        <p:spPr>
          <a:xfrm>
            <a:off x="365760" y="3276916"/>
            <a:ext cx="2080000" cy="1250000"/>
          </a:xfrm>
          <a:prstGeom prst="rect">
            <a:avLst/>
          </a:prstGeom>
          <a:solidFill>
            <a:srgbClr val="FFF4EC"/>
          </a:solidFill>
          <a:ln w="9525">
            <a:solidFill>
              <a:srgbClr val="E87722"/>
            </a:solidFill>
          </a:ln>
        </p:spPr>
      </p:sp>
      <p:sp>
        <p:nvSpPr>
          <p:cNvPr id="14" name="CHB3"/>
          <p:cNvSpPr/>
          <p:nvPr/>
        </p:nvSpPr>
        <p:spPr>
          <a:xfrm>
            <a:off x="405760" y="3311916"/>
            <a:ext cx="2000000" cy="1163000"/>
          </a:xfrm>
          <a:prstGeom prst="rect">
            <a:avLst/>
          </a:prstGeom>
          <a:noFill/>
          <a:ln>
            <a:noFill/>
          </a:ln>
        </p:spPr>
        <p:txBody>
          <a:bodyPr wrap="square" lIns="0" tIns="0" rIns="0" bIns="0" rtlCol="0" anchor="ctr"/>
          <a:lstStyle/>
          <a:p>
            <a:pPr marL="0" indent="0">
              <a:buNone/>
            </a:pPr>
            <a:r>
              <a:rPr lang="en-US" sz="1050" b="1" dirty="0">
                <a:solidFill>
                  <a:srgbClr val="E87722"/>
                </a:solidFill>
                <a:latin typeface="Times New Roman" pitchFamily="34" charset="0"/>
              </a:rPr>
              <a:t>Diabetes Model: Gradient Boosting | 10-Fold AUC: 0.838 | Threshold: 0.148 | Recall: 90.7% | Precision: 53.8%</a:t>
            </a:r>
          </a:p>
        </p:txBody>
      </p:sp>
      <p:sp>
        <p:nvSpPr>
          <p:cNvPr id="16" name="CBB4"/>
          <p:cNvSpPr/>
          <p:nvPr/>
        </p:nvSpPr>
        <p:spPr>
          <a:xfrm>
            <a:off x="2545760" y="3276916"/>
            <a:ext cx="2280000" cy="1250000"/>
          </a:xfrm>
          <a:prstGeom prst="rect">
            <a:avLst/>
          </a:prstGeom>
          <a:solidFill>
            <a:srgbClr val="FFF0F0"/>
          </a:solidFill>
          <a:ln w="9525">
            <a:solidFill>
              <a:srgbClr val="990011"/>
            </a:solidFill>
          </a:ln>
        </p:spPr>
      </p:sp>
      <p:sp>
        <p:nvSpPr>
          <p:cNvPr id="17" name="CHB4"/>
          <p:cNvSpPr/>
          <p:nvPr/>
        </p:nvSpPr>
        <p:spPr>
          <a:xfrm>
            <a:off x="2585760" y="3311916"/>
            <a:ext cx="2200000" cy="1163000"/>
          </a:xfrm>
          <a:prstGeom prst="rect">
            <a:avLst/>
          </a:prstGeom>
          <a:noFill/>
          <a:ln>
            <a:noFill/>
          </a:ln>
        </p:spPr>
        <p:txBody>
          <a:bodyPr wrap="square" lIns="0" tIns="0" rIns="0" bIns="0" rtlCol="0" anchor="ctr"/>
          <a:lstStyle/>
          <a:p>
            <a:pPr marL="0" indent="0">
              <a:buNone/>
            </a:pPr>
            <a:r>
              <a:rPr lang="en-US" sz="1050" b="1" dirty="0">
                <a:solidFill>
                  <a:srgbClr val="990011"/>
                </a:solidFill>
                <a:latin typeface="Times New Roman" pitchFamily="34" charset="0"/>
              </a:rPr>
              <a:t>CKD Model: Gradient Boosting | 10-Fold AUC: 0.941 | Threshold: 0.644 | Recall: 90.0% | Precision: 100%</a:t>
            </a:r>
          </a:p>
        </p:txBody>
      </p:sp>
      <p:pic>
        <p:nvPicPr>
          <p:cNvPr id="21" name="I200">
            <a:extLst>
              <a:ext uri="{FF2B5EF4-FFF2-40B4-BE49-F238E27FC236}">
                <a16:creationId xmlns:a16="http://schemas.microsoft.com/office/drawing/2014/main" id="{B43B0F61-BCC5-C5F5-93A9-168526778751}"/>
              </a:ext>
            </a:extLst>
          </p:cNvPr>
          <p:cNvPicPr>
            <a:picLocks noChangeAspect="1"/>
          </p:cNvPicPr>
          <p:nvPr/>
        </p:nvPicPr>
        <p:blipFill>
          <a:blip r:embed="rId5"/>
          <a:srcRect/>
          <a:stretch/>
        </p:blipFill>
        <p:spPr>
          <a:xfrm>
            <a:off x="4634238" y="1219606"/>
            <a:ext cx="2080001" cy="1733334"/>
          </a:xfrm>
          <a:prstGeom prst="rect">
            <a:avLst/>
          </a:prstGeom>
        </p:spPr>
      </p:pic>
      <p:pic>
        <p:nvPicPr>
          <p:cNvPr id="22" name="I201">
            <a:extLst>
              <a:ext uri="{FF2B5EF4-FFF2-40B4-BE49-F238E27FC236}">
                <a16:creationId xmlns:a16="http://schemas.microsoft.com/office/drawing/2014/main" id="{D1212C25-1D83-124F-EF56-15AD62BE5D47}"/>
              </a:ext>
            </a:extLst>
          </p:cNvPr>
          <p:cNvPicPr>
            <a:picLocks noChangeAspect="1"/>
          </p:cNvPicPr>
          <p:nvPr/>
        </p:nvPicPr>
        <p:blipFill>
          <a:blip r:embed="rId6"/>
          <a:srcRect/>
          <a:stretch/>
        </p:blipFill>
        <p:spPr>
          <a:xfrm>
            <a:off x="6768477" y="1219606"/>
            <a:ext cx="2080001" cy="1733334"/>
          </a:xfrm>
          <a:prstGeom prst="rect">
            <a:avLst/>
          </a:prstGeom>
        </p:spPr>
      </p:pic>
      <p:pic>
        <p:nvPicPr>
          <p:cNvPr id="8" name="Picture 7">
            <a:extLst>
              <a:ext uri="{FF2B5EF4-FFF2-40B4-BE49-F238E27FC236}">
                <a16:creationId xmlns:a16="http://schemas.microsoft.com/office/drawing/2014/main" id="{4868F700-8D45-FF3A-649E-813D6B3038A9}"/>
              </a:ext>
            </a:extLst>
          </p:cNvPr>
          <p:cNvPicPr>
            <a:picLocks noChangeAspect="1"/>
          </p:cNvPicPr>
          <p:nvPr/>
        </p:nvPicPr>
        <p:blipFill>
          <a:blip r:embed="rId7"/>
          <a:stretch>
            <a:fillRect/>
          </a:stretch>
        </p:blipFill>
        <p:spPr>
          <a:xfrm>
            <a:off x="4991100" y="3082581"/>
            <a:ext cx="3857378" cy="1662240"/>
          </a:xfrm>
          <a:prstGeom prst="rect">
            <a:avLst/>
          </a:prstGeom>
        </p:spPr>
      </p:pic>
      <p:pic>
        <p:nvPicPr>
          <p:cNvPr id="9" name="Image 0" descr="preencoded.png">
            <a:extLst>
              <a:ext uri="{FF2B5EF4-FFF2-40B4-BE49-F238E27FC236}">
                <a16:creationId xmlns:a16="http://schemas.microsoft.com/office/drawing/2014/main" id="{01C8A399-2B33-88F6-18FA-73788B602D82}"/>
              </a:ext>
            </a:extLst>
          </p:cNvPr>
          <p:cNvPicPr>
            <a:picLocks noChangeAspect="1"/>
          </p:cNvPicPr>
          <p:nvPr/>
        </p:nvPicPr>
        <p:blipFill>
          <a:blip r:embed="rId8"/>
          <a:stretch>
            <a:fillRect/>
          </a:stretch>
        </p:blipFill>
        <p:spPr>
          <a:xfrm>
            <a:off x="0" y="126492"/>
            <a:ext cx="1143000" cy="475488"/>
          </a:xfrm>
          <a:prstGeom prst="rect">
            <a:avLst/>
          </a:prstGeom>
        </p:spPr>
      </p:pic>
      <p:grpSp>
        <p:nvGrpSpPr>
          <p:cNvPr id="10" name="Group 9">
            <a:extLst>
              <a:ext uri="{FF2B5EF4-FFF2-40B4-BE49-F238E27FC236}">
                <a16:creationId xmlns:a16="http://schemas.microsoft.com/office/drawing/2014/main" id="{9018BB22-5A80-E2BC-C520-7C2FC350F8FB}"/>
              </a:ext>
            </a:extLst>
          </p:cNvPr>
          <p:cNvGrpSpPr/>
          <p:nvPr/>
        </p:nvGrpSpPr>
        <p:grpSpPr>
          <a:xfrm>
            <a:off x="7960583" y="126493"/>
            <a:ext cx="1143001" cy="475487"/>
            <a:chOff x="6173572" y="2276778"/>
            <a:chExt cx="2555268" cy="1333578"/>
          </a:xfrm>
        </p:grpSpPr>
        <p:pic>
          <p:nvPicPr>
            <p:cNvPr id="11" name="Picture 10" descr="A logo with blue and orange lines  AI-generated content may be incorrect.">
              <a:extLst>
                <a:ext uri="{FF2B5EF4-FFF2-40B4-BE49-F238E27FC236}">
                  <a16:creationId xmlns:a16="http://schemas.microsoft.com/office/drawing/2014/main" id="{42942743-0CC1-D8DB-F1E9-32572BBE8F8A}"/>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6173572" y="2276778"/>
              <a:ext cx="936104" cy="1295756"/>
            </a:xfrm>
            <a:prstGeom prst="rect">
              <a:avLst/>
            </a:prstGeom>
            <a:noFill/>
            <a:ln>
              <a:noFill/>
            </a:ln>
          </p:spPr>
        </p:pic>
        <p:pic>
          <p:nvPicPr>
            <p:cNvPr id="12" name="Picture 11">
              <a:extLst>
                <a:ext uri="{FF2B5EF4-FFF2-40B4-BE49-F238E27FC236}">
                  <a16:creationId xmlns:a16="http://schemas.microsoft.com/office/drawing/2014/main" id="{19C533F3-0223-5915-2DC5-CDDE00F09E1E}"/>
                </a:ext>
              </a:extLst>
            </p:cNvPr>
            <p:cNvPicPr>
              <a:picLocks noChangeAspect="1"/>
            </p:cNvPicPr>
            <p:nvPr/>
          </p:nvPicPr>
          <p:blipFill rotWithShape="1">
            <a:blip r:embed="rId10">
              <a:extLst>
                <a:ext uri="{28A0092B-C50C-407E-A947-70E740481C1C}">
                  <a14:useLocalDpi xmlns:a14="http://schemas.microsoft.com/office/drawing/2010/main" val="0"/>
                </a:ext>
              </a:extLst>
            </a:blip>
            <a:srcRect l="30270" r="31417" b="2264"/>
            <a:stretch/>
          </p:blipFill>
          <p:spPr bwMode="auto">
            <a:xfrm>
              <a:off x="7178602" y="2276778"/>
              <a:ext cx="1550238" cy="1333578"/>
            </a:xfrm>
            <a:prstGeom prst="rect">
              <a:avLst/>
            </a:prstGeom>
            <a:ln>
              <a:noFill/>
            </a:ln>
            <a:extLst>
              <a:ext uri="{53640926-AAD7-44D8-BBD7-CCE9431645EC}">
                <a14:shadowObscured xmlns:a14="http://schemas.microsoft.com/office/drawing/2010/main"/>
              </a:ext>
            </a:extLst>
          </p:spPr>
        </p:pic>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BF8FF-6B0D-6126-1083-4913191A876B}"/>
            </a:ext>
          </a:extLst>
        </p:cNvPr>
        <p:cNvGrpSpPr/>
        <p:nvPr/>
      </p:nvGrpSpPr>
      <p:grpSpPr>
        <a:xfrm>
          <a:off x="0" y="0"/>
          <a:ext cx="0" cy="0"/>
          <a:chOff x="0" y="0"/>
          <a:chExt cx="0" cy="0"/>
        </a:xfrm>
      </p:grpSpPr>
      <p:sp>
        <p:nvSpPr>
          <p:cNvPr id="3" name="Title">
            <a:extLst>
              <a:ext uri="{FF2B5EF4-FFF2-40B4-BE49-F238E27FC236}">
                <a16:creationId xmlns:a16="http://schemas.microsoft.com/office/drawing/2014/main" id="{50339DC1-1BC2-2467-894F-54EB858602C9}"/>
              </a:ext>
            </a:extLst>
          </p:cNvPr>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rPr>
              <a:t>Results — Diabetes &amp; CKD Pipelines</a:t>
            </a:r>
          </a:p>
        </p:txBody>
      </p:sp>
      <p:sp>
        <p:nvSpPr>
          <p:cNvPr id="4" name="Div">
            <a:extLst>
              <a:ext uri="{FF2B5EF4-FFF2-40B4-BE49-F238E27FC236}">
                <a16:creationId xmlns:a16="http://schemas.microsoft.com/office/drawing/2014/main" id="{77C533E7-87FB-1B8A-8D2E-A1DDE009EA54}"/>
              </a:ext>
            </a:extLst>
          </p:cNvPr>
          <p:cNvSpPr/>
          <p:nvPr/>
        </p:nvSpPr>
        <p:spPr>
          <a:xfrm>
            <a:off x="365760" y="1069848"/>
            <a:ext cx="8412480" cy="20117"/>
          </a:xfrm>
          <a:prstGeom prst="rect">
            <a:avLst/>
          </a:prstGeom>
          <a:solidFill>
            <a:srgbClr val="3D3D3D"/>
          </a:solidFill>
          <a:ln w="12700">
            <a:solidFill>
              <a:srgbClr val="3D3D3D"/>
            </a:solidFill>
          </a:ln>
        </p:spPr>
      </p:sp>
      <p:sp>
        <p:nvSpPr>
          <p:cNvPr id="5" name="Shape 2">
            <a:extLst>
              <a:ext uri="{FF2B5EF4-FFF2-40B4-BE49-F238E27FC236}">
                <a16:creationId xmlns:a16="http://schemas.microsoft.com/office/drawing/2014/main" id="{B0F1CD38-8AC6-A481-BB38-D68FE297A3BC}"/>
              </a:ext>
            </a:extLst>
          </p:cNvPr>
          <p:cNvSpPr/>
          <p:nvPr/>
        </p:nvSpPr>
        <p:spPr>
          <a:xfrm>
            <a:off x="0" y="4850892"/>
            <a:ext cx="9144000" cy="292608"/>
          </a:xfrm>
          <a:prstGeom prst="rect">
            <a:avLst/>
          </a:prstGeom>
          <a:solidFill>
            <a:srgbClr val="E87722"/>
          </a:solidFill>
          <a:ln w="12700">
            <a:solidFill>
              <a:srgbClr val="E87722"/>
            </a:solidFill>
            <a:prstDash val="solid"/>
          </a:ln>
        </p:spPr>
      </p:sp>
      <p:sp>
        <p:nvSpPr>
          <p:cNvPr id="6" name="Pg">
            <a:extLst>
              <a:ext uri="{FF2B5EF4-FFF2-40B4-BE49-F238E27FC236}">
                <a16:creationId xmlns:a16="http://schemas.microsoft.com/office/drawing/2014/main" id="{79A9CF9B-3671-109D-EA0D-DC0A6FC7E134}"/>
              </a:ext>
            </a:extLst>
          </p:cNvPr>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rPr>
              <a:t>21</a:t>
            </a:r>
          </a:p>
        </p:txBody>
      </p:sp>
      <p:pic>
        <p:nvPicPr>
          <p:cNvPr id="8" name="Picture 7">
            <a:extLst>
              <a:ext uri="{FF2B5EF4-FFF2-40B4-BE49-F238E27FC236}">
                <a16:creationId xmlns:a16="http://schemas.microsoft.com/office/drawing/2014/main" id="{7616A80A-A45D-952F-D676-BDF59E4F4B66}"/>
              </a:ext>
            </a:extLst>
          </p:cNvPr>
          <p:cNvPicPr>
            <a:picLocks noChangeAspect="1"/>
          </p:cNvPicPr>
          <p:nvPr/>
        </p:nvPicPr>
        <p:blipFill>
          <a:blip r:embed="rId3"/>
          <a:stretch>
            <a:fillRect/>
          </a:stretch>
        </p:blipFill>
        <p:spPr>
          <a:xfrm>
            <a:off x="365760" y="1307897"/>
            <a:ext cx="8482718" cy="3436924"/>
          </a:xfrm>
          <a:prstGeom prst="rect">
            <a:avLst/>
          </a:prstGeom>
        </p:spPr>
      </p:pic>
      <p:pic>
        <p:nvPicPr>
          <p:cNvPr id="7" name="Image 0" descr="preencoded.png">
            <a:extLst>
              <a:ext uri="{FF2B5EF4-FFF2-40B4-BE49-F238E27FC236}">
                <a16:creationId xmlns:a16="http://schemas.microsoft.com/office/drawing/2014/main" id="{33215101-6B82-8EC2-DACE-CE07A18F87E6}"/>
              </a:ext>
            </a:extLst>
          </p:cNvPr>
          <p:cNvPicPr>
            <a:picLocks noChangeAspect="1"/>
          </p:cNvPicPr>
          <p:nvPr/>
        </p:nvPicPr>
        <p:blipFill>
          <a:blip r:embed="rId4"/>
          <a:stretch>
            <a:fillRect/>
          </a:stretch>
        </p:blipFill>
        <p:spPr>
          <a:xfrm>
            <a:off x="0" y="126492"/>
            <a:ext cx="1143000" cy="475488"/>
          </a:xfrm>
          <a:prstGeom prst="rect">
            <a:avLst/>
          </a:prstGeom>
        </p:spPr>
      </p:pic>
      <p:grpSp>
        <p:nvGrpSpPr>
          <p:cNvPr id="9" name="Group 8">
            <a:extLst>
              <a:ext uri="{FF2B5EF4-FFF2-40B4-BE49-F238E27FC236}">
                <a16:creationId xmlns:a16="http://schemas.microsoft.com/office/drawing/2014/main" id="{4751EAF8-0E0B-178B-00AB-A7F61A9EBA1E}"/>
              </a:ext>
            </a:extLst>
          </p:cNvPr>
          <p:cNvGrpSpPr/>
          <p:nvPr/>
        </p:nvGrpSpPr>
        <p:grpSpPr>
          <a:xfrm>
            <a:off x="7960583" y="126493"/>
            <a:ext cx="1143001" cy="475487"/>
            <a:chOff x="6173572" y="2276778"/>
            <a:chExt cx="2555268" cy="1333578"/>
          </a:xfrm>
        </p:grpSpPr>
        <p:pic>
          <p:nvPicPr>
            <p:cNvPr id="10" name="Picture 9" descr="A logo with blue and orange lines  AI-generated content may be incorrect.">
              <a:extLst>
                <a:ext uri="{FF2B5EF4-FFF2-40B4-BE49-F238E27FC236}">
                  <a16:creationId xmlns:a16="http://schemas.microsoft.com/office/drawing/2014/main" id="{A93238CB-4E67-C685-2B78-03337782E3AE}"/>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173572" y="2276778"/>
              <a:ext cx="936104" cy="1295756"/>
            </a:xfrm>
            <a:prstGeom prst="rect">
              <a:avLst/>
            </a:prstGeom>
            <a:noFill/>
            <a:ln>
              <a:noFill/>
            </a:ln>
          </p:spPr>
        </p:pic>
        <p:pic>
          <p:nvPicPr>
            <p:cNvPr id="11" name="Picture 10">
              <a:extLst>
                <a:ext uri="{FF2B5EF4-FFF2-40B4-BE49-F238E27FC236}">
                  <a16:creationId xmlns:a16="http://schemas.microsoft.com/office/drawing/2014/main" id="{79777E6B-2DBD-3D40-CF95-79837D678DE8}"/>
                </a:ext>
              </a:extLst>
            </p:cNvPr>
            <p:cNvPicPr>
              <a:picLocks noChangeAspect="1"/>
            </p:cNvPicPr>
            <p:nvPr/>
          </p:nvPicPr>
          <p:blipFill rotWithShape="1">
            <a:blip r:embed="rId6">
              <a:extLst>
                <a:ext uri="{28A0092B-C50C-407E-A947-70E740481C1C}">
                  <a14:useLocalDpi xmlns:a14="http://schemas.microsoft.com/office/drawing/2010/main" val="0"/>
                </a:ext>
              </a:extLst>
            </a:blip>
            <a:srcRect l="30270" r="31417" b="2264"/>
            <a:stretch/>
          </p:blipFill>
          <p:spPr bwMode="auto">
            <a:xfrm>
              <a:off x="7178602" y="2276778"/>
              <a:ext cx="1550238" cy="1333578"/>
            </a:xfrm>
            <a:prstGeom prst="rect">
              <a:avLst/>
            </a:prstGeom>
            <a:ln>
              <a:noFill/>
            </a:ln>
            <a:extLst>
              <a:ext uri="{53640926-AAD7-44D8-BBD7-CCE9431645EC}">
                <a14:shadowObscured xmlns:a14="http://schemas.microsoft.com/office/drawing/2010/main"/>
              </a:ext>
            </a:extLst>
          </p:spPr>
        </p:pic>
      </p:grpSp>
    </p:spTree>
    <p:extLst>
      <p:ext uri="{BB962C8B-B14F-4D97-AF65-F5344CB8AC3E}">
        <p14:creationId xmlns:p14="http://schemas.microsoft.com/office/powerpoint/2010/main" val="15122864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144000" cy="5143500"/>
          <a:chOff x="0" y="0"/>
          <a:chExt cx="9144000" cy="5143500"/>
        </a:xfrm>
      </p:grpSpPr>
      <p:sp>
        <p:nvSpPr>
          <p:cNvPr id="100" name="Footer"/>
          <p:cNvSpPr>
            <a:spLocks noGrp="1"/>
          </p:cNvSpPr>
          <p:nvPr/>
        </p:nvSpPr>
        <p:spPr>
          <a:xfrm>
            <a:off x="0" y="4846560"/>
            <a:ext cx="9144000" cy="296640"/>
          </a:xfrm>
          <a:prstGeom prst="rect">
            <a:avLst/>
          </a:prstGeom>
          <a:solidFill>
            <a:srgbClr val="E87722"/>
          </a:solidFill>
          <a:ln>
            <a:noFill/>
          </a:ln>
        </p:spPr>
        <p:txBody>
          <a:bodyPr/>
          <a:lstStyle/>
          <a:p>
            <a:endParaRPr lang="en-US" dirty="0"/>
          </a:p>
        </p:txBody>
      </p:sp>
      <p:sp>
        <p:nvSpPr>
          <p:cNvPr id="101" name="Title"/>
          <p:cNvSpPr/>
          <p:nvPr/>
        </p:nvSpPr>
        <p:spPr>
          <a:xfrm>
            <a:off x="365760" y="657720"/>
            <a:ext cx="8412480" cy="365760"/>
          </a:xfrm>
          <a:prstGeom prst="rect">
            <a:avLst/>
          </a:prstGeom>
          <a:noFill/>
          <a:ln>
            <a:noFill/>
          </a:ln>
        </p:spPr>
        <p:txBody>
          <a:bodyPr wrap="square" lIns="0" tIns="0" rIns="0" bIns="0" rtlCol="0" anchor="ctr"/>
          <a:lstStyle/>
          <a:p>
            <a:pPr marL="0" indent="0" algn="r">
              <a:buNone/>
            </a:pPr>
            <a:r>
              <a:rPr lang="en-US" sz="2400" dirty="0">
                <a:solidFill>
                  <a:srgbClr val="1F3864"/>
                </a:solidFill>
                <a:latin typeface="Calibri" pitchFamily="34" charset="0"/>
              </a:rPr>
              <a:t>End-to-End Inference: Flask REST API Summary</a:t>
            </a:r>
          </a:p>
        </p:txBody>
      </p:sp>
      <p:sp>
        <p:nvSpPr>
          <p:cNvPr id="102" name="TitleLine"/>
          <p:cNvSpPr/>
          <p:nvPr/>
        </p:nvSpPr>
        <p:spPr>
          <a:xfrm>
            <a:off x="365760" y="1069848"/>
            <a:ext cx="8412480" cy="18288"/>
          </a:xfrm>
          <a:prstGeom prst="rect">
            <a:avLst/>
          </a:prstGeom>
          <a:solidFill>
            <a:srgbClr val="E87722"/>
          </a:solidFill>
          <a:ln>
            <a:noFill/>
          </a:ln>
        </p:spPr>
        <p:txBody>
          <a:bodyPr/>
          <a:lstStyle/>
          <a:p>
            <a:endParaRPr lang="en-US" dirty="0"/>
          </a:p>
        </p:txBody>
      </p:sp>
      <p:sp>
        <p:nvSpPr>
          <p:cNvPr id="103" name="Subtitle"/>
          <p:cNvSpPr/>
          <p:nvPr/>
        </p:nvSpPr>
        <p:spPr>
          <a:xfrm>
            <a:off x="182880" y="1135380"/>
            <a:ext cx="8778240" cy="457200"/>
          </a:xfrm>
          <a:prstGeom prst="rect">
            <a:avLst/>
          </a:prstGeom>
          <a:solidFill>
            <a:srgbClr val="1F3864"/>
          </a:solidFill>
          <a:ln>
            <a:noFill/>
          </a:ln>
        </p:spPr>
        <p:txBody>
          <a:bodyPr wrap="square" lIns="91440" tIns="91440" rIns="91440" bIns="91440" rtlCol="0" anchor="ctr"/>
          <a:lstStyle/>
          <a:p>
            <a:pPr marL="0" indent="0" algn="ctr">
              <a:buNone/>
            </a:pPr>
            <a:r>
              <a:rPr lang="en-US" sz="1100" b="1" dirty="0">
                <a:solidFill>
                  <a:srgbClr val="FFFFFF"/>
                </a:solidFill>
                <a:latin typeface="Calibri" pitchFamily="34" charset="0"/>
              </a:rPr>
              <a:t>Clinician enters 8 basic vitals → Backend runs Diabetes pipeline → Bridges DM flag → Runs CKD pipeline → Color-coded output in real-time</a:t>
            </a:r>
          </a:p>
        </p:txBody>
      </p:sp>
      <p:sp>
        <p:nvSpPr>
          <p:cNvPr id="104" name="PageNum"/>
          <p:cNvSpPr/>
          <p:nvPr/>
        </p:nvSpPr>
        <p:spPr>
          <a:xfrm>
            <a:off x="8686080" y="4883760"/>
            <a:ext cx="347472" cy="238368"/>
          </a:xfrm>
          <a:prstGeom prst="rect">
            <a:avLst/>
          </a:prstGeom>
          <a:noFill/>
          <a:ln>
            <a:noFill/>
          </a:ln>
        </p:spPr>
        <p:txBody>
          <a:bodyPr wrap="square" lIns="0" tIns="0" rIns="0" bIns="0" rtlCol="0" anchor="ctr"/>
          <a:lstStyle/>
          <a:p>
            <a:pPr marL="0" indent="0" algn="r">
              <a:buNone/>
            </a:pPr>
            <a:r>
              <a:rPr lang="en-US" sz="1000" b="1" dirty="0">
                <a:solidFill>
                  <a:srgbClr val="FFFFFF"/>
                </a:solidFill>
                <a:latin typeface="Calibri" pitchFamily="34" charset="0"/>
              </a:rPr>
              <a:t>37</a:t>
            </a:r>
          </a:p>
        </p:txBody>
      </p:sp>
      <p:sp>
        <p:nvSpPr>
          <p:cNvPr id="200" name="Box0"/>
          <p:cNvSpPr/>
          <p:nvPr/>
        </p:nvSpPr>
        <p:spPr>
          <a:xfrm>
            <a:off x="182880" y="1611060"/>
            <a:ext cx="2926079" cy="559980"/>
          </a:xfrm>
          <a:prstGeom prst="rect">
            <a:avLst/>
          </a:prstGeom>
          <a:solidFill>
            <a:srgbClr val="F0F4FF"/>
          </a:solidFill>
          <a:ln w="12700">
            <a:solidFill>
              <a:srgbClr val="1F3864"/>
            </a:solidFill>
          </a:ln>
        </p:spPr>
        <p:txBody>
          <a:bodyPr/>
          <a:lstStyle/>
          <a:p>
            <a:endParaRPr lang="en-US" dirty="0"/>
          </a:p>
        </p:txBody>
      </p:sp>
      <p:sp>
        <p:nvSpPr>
          <p:cNvPr id="201" name="Hdr0"/>
          <p:cNvSpPr/>
          <p:nvPr/>
        </p:nvSpPr>
        <p:spPr>
          <a:xfrm>
            <a:off x="274320" y="1655220"/>
            <a:ext cx="2816351" cy="515820"/>
          </a:xfrm>
          <a:prstGeom prst="rect">
            <a:avLst/>
          </a:prstGeom>
          <a:noFill/>
          <a:ln>
            <a:noFill/>
          </a:ln>
        </p:spPr>
        <p:txBody>
          <a:bodyPr wrap="square" lIns="0" tIns="0" rIns="0" bIns="0" rtlCol="0" anchor="ctr"/>
          <a:lstStyle/>
          <a:p>
            <a:pPr marL="0" indent="0">
              <a:buNone/>
            </a:pPr>
            <a:r>
              <a:rPr lang="en-US" sz="1300" b="1" dirty="0">
                <a:solidFill>
                  <a:srgbClr val="1F3864"/>
                </a:solidFill>
                <a:latin typeface="Times New Roman" pitchFamily="34" charset="0"/>
              </a:rPr>
              <a:t>Age 15, normal vitals → Diabetes score 0.01, CKD score 0.15 — both below thresholds</a:t>
            </a:r>
          </a:p>
        </p:txBody>
      </p:sp>
      <p:sp>
        <p:nvSpPr>
          <p:cNvPr id="210" name="Box1"/>
          <p:cNvSpPr/>
          <p:nvPr/>
        </p:nvSpPr>
        <p:spPr>
          <a:xfrm>
            <a:off x="3108960" y="1611060"/>
            <a:ext cx="2926079" cy="559980"/>
          </a:xfrm>
          <a:prstGeom prst="rect">
            <a:avLst/>
          </a:prstGeom>
          <a:solidFill>
            <a:srgbClr val="FFF8F0"/>
          </a:solidFill>
          <a:ln w="12700">
            <a:solidFill>
              <a:srgbClr val="E87722"/>
            </a:solidFill>
          </a:ln>
        </p:spPr>
        <p:txBody>
          <a:bodyPr/>
          <a:lstStyle/>
          <a:p>
            <a:endParaRPr lang="en-US" dirty="0"/>
          </a:p>
        </p:txBody>
      </p:sp>
      <p:sp>
        <p:nvSpPr>
          <p:cNvPr id="211" name="Hdr1"/>
          <p:cNvSpPr/>
          <p:nvPr/>
        </p:nvSpPr>
        <p:spPr>
          <a:xfrm>
            <a:off x="3200400" y="1655220"/>
            <a:ext cx="2816351" cy="515820"/>
          </a:xfrm>
          <a:prstGeom prst="rect">
            <a:avLst/>
          </a:prstGeom>
          <a:noFill/>
          <a:ln>
            <a:noFill/>
          </a:ln>
        </p:spPr>
        <p:txBody>
          <a:bodyPr wrap="square" lIns="0" tIns="0" rIns="0" bIns="0" rtlCol="0" anchor="ctr"/>
          <a:lstStyle/>
          <a:p>
            <a:pPr marL="0" indent="0">
              <a:buNone/>
            </a:pPr>
            <a:r>
              <a:rPr lang="en-US" sz="1300" b="1" dirty="0">
                <a:solidFill>
                  <a:srgbClr val="E87722"/>
                </a:solidFill>
                <a:latin typeface="Times New Roman" pitchFamily="34" charset="0"/>
              </a:rPr>
              <a:t>Age 78, BP 180 → CKD score 1.00 exceeds 0.64 threshold despite low diabetes risk (0.06</a:t>
            </a:r>
          </a:p>
        </p:txBody>
      </p:sp>
      <p:sp>
        <p:nvSpPr>
          <p:cNvPr id="220" name="Box2"/>
          <p:cNvSpPr/>
          <p:nvPr/>
        </p:nvSpPr>
        <p:spPr>
          <a:xfrm>
            <a:off x="6035040" y="1611060"/>
            <a:ext cx="2926079" cy="559980"/>
          </a:xfrm>
          <a:prstGeom prst="rect">
            <a:avLst/>
          </a:prstGeom>
          <a:solidFill>
            <a:srgbClr val="F0FFF0"/>
          </a:solidFill>
          <a:ln w="12700">
            <a:solidFill>
              <a:srgbClr val="1F7A1F"/>
            </a:solidFill>
          </a:ln>
        </p:spPr>
        <p:txBody>
          <a:bodyPr/>
          <a:lstStyle/>
          <a:p>
            <a:endParaRPr lang="en-US" dirty="0"/>
          </a:p>
        </p:txBody>
      </p:sp>
      <p:sp>
        <p:nvSpPr>
          <p:cNvPr id="221" name="Hdr2"/>
          <p:cNvSpPr/>
          <p:nvPr/>
        </p:nvSpPr>
        <p:spPr>
          <a:xfrm>
            <a:off x="6126479" y="1655220"/>
            <a:ext cx="2816351" cy="515820"/>
          </a:xfrm>
          <a:prstGeom prst="rect">
            <a:avLst/>
          </a:prstGeom>
          <a:noFill/>
          <a:ln>
            <a:noFill/>
          </a:ln>
        </p:spPr>
        <p:txBody>
          <a:bodyPr wrap="square" lIns="0" tIns="0" rIns="0" bIns="0" rtlCol="0" anchor="ctr"/>
          <a:lstStyle/>
          <a:p>
            <a:pPr marL="0" indent="0">
              <a:buNone/>
            </a:pPr>
            <a:r>
              <a:rPr lang="en-US" sz="1300" b="1" dirty="0">
                <a:solidFill>
                  <a:srgbClr val="1F7A1F"/>
                </a:solidFill>
                <a:latin typeface="Times New Roman" pitchFamily="34" charset="0"/>
              </a:rPr>
              <a:t>Age 35, Glucose 145, BMI 31 → Diabetes 0.77, CKD 0.99 — both exceed thresholds</a:t>
            </a:r>
          </a:p>
        </p:txBody>
      </p:sp>
      <p:pic>
        <p:nvPicPr>
          <p:cNvPr id="3" name="Picture 2">
            <a:extLst>
              <a:ext uri="{FF2B5EF4-FFF2-40B4-BE49-F238E27FC236}">
                <a16:creationId xmlns:a16="http://schemas.microsoft.com/office/drawing/2014/main" id="{BCAA4F47-2B91-1F6E-A768-4304809B7CAE}"/>
              </a:ext>
            </a:extLst>
          </p:cNvPr>
          <p:cNvPicPr>
            <a:picLocks noChangeAspect="1"/>
          </p:cNvPicPr>
          <p:nvPr/>
        </p:nvPicPr>
        <p:blipFill>
          <a:blip r:embed="rId2"/>
          <a:stretch>
            <a:fillRect/>
          </a:stretch>
        </p:blipFill>
        <p:spPr>
          <a:xfrm>
            <a:off x="182880" y="2215200"/>
            <a:ext cx="3160579" cy="2547300"/>
          </a:xfrm>
          <a:prstGeom prst="rect">
            <a:avLst/>
          </a:prstGeom>
        </p:spPr>
      </p:pic>
      <p:pic>
        <p:nvPicPr>
          <p:cNvPr id="5" name="Picture 4">
            <a:extLst>
              <a:ext uri="{FF2B5EF4-FFF2-40B4-BE49-F238E27FC236}">
                <a16:creationId xmlns:a16="http://schemas.microsoft.com/office/drawing/2014/main" id="{0E345B9C-2D84-9A99-2191-41E48DA3394E}"/>
              </a:ext>
            </a:extLst>
          </p:cNvPr>
          <p:cNvPicPr>
            <a:picLocks noChangeAspect="1"/>
          </p:cNvPicPr>
          <p:nvPr/>
        </p:nvPicPr>
        <p:blipFill>
          <a:blip r:embed="rId3"/>
          <a:stretch>
            <a:fillRect/>
          </a:stretch>
        </p:blipFill>
        <p:spPr>
          <a:xfrm>
            <a:off x="2848688" y="2215200"/>
            <a:ext cx="3186352" cy="2547300"/>
          </a:xfrm>
          <a:prstGeom prst="rect">
            <a:avLst/>
          </a:prstGeom>
        </p:spPr>
      </p:pic>
      <p:pic>
        <p:nvPicPr>
          <p:cNvPr id="7" name="Picture 6">
            <a:extLst>
              <a:ext uri="{FF2B5EF4-FFF2-40B4-BE49-F238E27FC236}">
                <a16:creationId xmlns:a16="http://schemas.microsoft.com/office/drawing/2014/main" id="{7CDC45F8-24F7-4FA0-B023-9E11247325E0}"/>
              </a:ext>
            </a:extLst>
          </p:cNvPr>
          <p:cNvPicPr>
            <a:picLocks noChangeAspect="1"/>
          </p:cNvPicPr>
          <p:nvPr/>
        </p:nvPicPr>
        <p:blipFill>
          <a:blip r:embed="rId4"/>
          <a:stretch>
            <a:fillRect/>
          </a:stretch>
        </p:blipFill>
        <p:spPr>
          <a:xfrm>
            <a:off x="5911784" y="2215200"/>
            <a:ext cx="3031046" cy="2547300"/>
          </a:xfrm>
          <a:prstGeom prst="rect">
            <a:avLst/>
          </a:prstGeom>
        </p:spPr>
      </p:pic>
      <p:pic>
        <p:nvPicPr>
          <p:cNvPr id="2" name="Image 0" descr="preencoded.png">
            <a:extLst>
              <a:ext uri="{FF2B5EF4-FFF2-40B4-BE49-F238E27FC236}">
                <a16:creationId xmlns:a16="http://schemas.microsoft.com/office/drawing/2014/main" id="{11ED783A-38AD-54E5-8164-107FE8C156F7}"/>
              </a:ext>
            </a:extLst>
          </p:cNvPr>
          <p:cNvPicPr>
            <a:picLocks noChangeAspect="1"/>
          </p:cNvPicPr>
          <p:nvPr/>
        </p:nvPicPr>
        <p:blipFill>
          <a:blip r:embed="rId5"/>
          <a:stretch>
            <a:fillRect/>
          </a:stretch>
        </p:blipFill>
        <p:spPr>
          <a:xfrm>
            <a:off x="0" y="126492"/>
            <a:ext cx="1143000" cy="475488"/>
          </a:xfrm>
          <a:prstGeom prst="rect">
            <a:avLst/>
          </a:prstGeom>
        </p:spPr>
      </p:pic>
      <p:grpSp>
        <p:nvGrpSpPr>
          <p:cNvPr id="4" name="Group 3">
            <a:extLst>
              <a:ext uri="{FF2B5EF4-FFF2-40B4-BE49-F238E27FC236}">
                <a16:creationId xmlns:a16="http://schemas.microsoft.com/office/drawing/2014/main" id="{033B9909-4B59-07F9-82AA-87C0BF86F388}"/>
              </a:ext>
            </a:extLst>
          </p:cNvPr>
          <p:cNvGrpSpPr/>
          <p:nvPr/>
        </p:nvGrpSpPr>
        <p:grpSpPr>
          <a:xfrm>
            <a:off x="7960583" y="126493"/>
            <a:ext cx="1143001" cy="475487"/>
            <a:chOff x="6173572" y="2276778"/>
            <a:chExt cx="2555268" cy="1333578"/>
          </a:xfrm>
        </p:grpSpPr>
        <p:pic>
          <p:nvPicPr>
            <p:cNvPr id="6" name="Picture 5" descr="A logo with blue and orange lines  AI-generated content may be incorrect.">
              <a:extLst>
                <a:ext uri="{FF2B5EF4-FFF2-40B4-BE49-F238E27FC236}">
                  <a16:creationId xmlns:a16="http://schemas.microsoft.com/office/drawing/2014/main" id="{0936AE31-81A4-8EEB-0A0B-3BA35DCBD05A}"/>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6173572" y="2276778"/>
              <a:ext cx="936104" cy="1295756"/>
            </a:xfrm>
            <a:prstGeom prst="rect">
              <a:avLst/>
            </a:prstGeom>
            <a:noFill/>
            <a:ln>
              <a:noFill/>
            </a:ln>
          </p:spPr>
        </p:pic>
        <p:pic>
          <p:nvPicPr>
            <p:cNvPr id="8" name="Picture 7">
              <a:extLst>
                <a:ext uri="{FF2B5EF4-FFF2-40B4-BE49-F238E27FC236}">
                  <a16:creationId xmlns:a16="http://schemas.microsoft.com/office/drawing/2014/main" id="{12BE30A3-71E9-38DF-5066-FBD3C6459CB1}"/>
                </a:ext>
              </a:extLst>
            </p:cNvPr>
            <p:cNvPicPr>
              <a:picLocks noChangeAspect="1"/>
            </p:cNvPicPr>
            <p:nvPr/>
          </p:nvPicPr>
          <p:blipFill rotWithShape="1">
            <a:blip r:embed="rId7">
              <a:extLst>
                <a:ext uri="{28A0092B-C50C-407E-A947-70E740481C1C}">
                  <a14:useLocalDpi xmlns:a14="http://schemas.microsoft.com/office/drawing/2010/main" val="0"/>
                </a:ext>
              </a:extLst>
            </a:blip>
            <a:srcRect l="30270" r="31417" b="2264"/>
            <a:stretch/>
          </p:blipFill>
          <p:spPr bwMode="auto">
            <a:xfrm>
              <a:off x="7178602" y="2276778"/>
              <a:ext cx="1550238" cy="1333578"/>
            </a:xfrm>
            <a:prstGeom prst="rect">
              <a:avLst/>
            </a:prstGeom>
            <a:ln>
              <a:noFill/>
            </a:ln>
            <a:extLst>
              <a:ext uri="{53640926-AAD7-44D8-BBD7-CCE9431645EC}">
                <a14:shadowObscured xmlns:a14="http://schemas.microsoft.com/office/drawing/2010/main"/>
              </a:ext>
            </a:extLst>
          </p:spPr>
        </p:pic>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ea typeface="Times New Roman" pitchFamily="34" charset="-122"/>
                <a:cs typeface="Times New Roman" pitchFamily="34" charset="-120"/>
              </a:rPr>
              <a:t>Conclusion</a:t>
            </a:r>
            <a:endParaRPr lang="en-US" sz="2600" dirty="0"/>
          </a:p>
        </p:txBody>
      </p:sp>
      <p:sp>
        <p:nvSpPr>
          <p:cNvPr id="4" name="Shape 1"/>
          <p:cNvSpPr/>
          <p:nvPr/>
        </p:nvSpPr>
        <p:spPr>
          <a:xfrm>
            <a:off x="365760" y="1069848"/>
            <a:ext cx="8412480" cy="20117"/>
          </a:xfrm>
          <a:prstGeom prst="rect">
            <a:avLst/>
          </a:prstGeom>
          <a:solidFill>
            <a:srgbClr val="3D3D3D"/>
          </a:solidFill>
          <a:ln w="12700">
            <a:solidFill>
              <a:srgbClr val="3D3D3D"/>
            </a:solidFill>
            <a:prstDash val="solid"/>
          </a:ln>
        </p:spPr>
      </p:sp>
      <p:sp>
        <p:nvSpPr>
          <p:cNvPr id="5" name="Shape 2"/>
          <p:cNvSpPr/>
          <p:nvPr/>
        </p:nvSpPr>
        <p:spPr>
          <a:xfrm>
            <a:off x="0" y="4850892"/>
            <a:ext cx="9144000" cy="292608"/>
          </a:xfrm>
          <a:prstGeom prst="rect">
            <a:avLst/>
          </a:prstGeom>
          <a:solidFill>
            <a:srgbClr val="E87722"/>
          </a:solidFill>
          <a:ln w="12700">
            <a:solidFill>
              <a:srgbClr val="E87722"/>
            </a:solidFill>
            <a:prstDash val="solid"/>
          </a:ln>
        </p:spPr>
      </p:sp>
      <p:sp>
        <p:nvSpPr>
          <p:cNvPr id="6" name="Text 3"/>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cs typeface="Times New Roman" pitchFamily="34" charset="-120"/>
              </a:rPr>
              <a:t>24</a:t>
            </a:r>
            <a:endParaRPr lang="en-US" sz="1400" dirty="0"/>
          </a:p>
        </p:txBody>
      </p:sp>
      <p:sp>
        <p:nvSpPr>
          <p:cNvPr id="7" name="Text 4"/>
          <p:cNvSpPr/>
          <p:nvPr/>
        </p:nvSpPr>
        <p:spPr>
          <a:xfrm>
            <a:off x="365760" y="1325879"/>
            <a:ext cx="8412480" cy="1885416"/>
          </a:xfrm>
          <a:prstGeom prst="rect">
            <a:avLst/>
          </a:prstGeom>
          <a:noFill/>
          <a:ln/>
        </p:spPr>
        <p:txBody>
          <a:bodyPr wrap="square" rtlCol="0" anchor="ctr"/>
          <a:lstStyle/>
          <a:p>
            <a:r>
              <a:rPr lang="en-US" sz="1600" i="1" dirty="0">
                <a:solidFill>
                  <a:srgbClr val="3D3D3D"/>
                </a:solidFill>
                <a:latin typeface="Times New Roman" pitchFamily="34" charset="0"/>
                <a:ea typeface="Times New Roman" pitchFamily="34" charset="-122"/>
                <a:cs typeface="Times New Roman" pitchFamily="34" charset="-120"/>
              </a:rPr>
              <a:t>Summary: Built a clinically viable Software as a Medical Device (SaMD) prototype for frictionless dual-disease early screening using only 8 non-invasive vitals</a:t>
            </a:r>
          </a:p>
          <a:p>
            <a:r>
              <a:rPr lang="en-US" sz="1600" i="1" dirty="0">
                <a:solidFill>
                  <a:srgbClr val="3D3D3D"/>
                </a:solidFill>
                <a:latin typeface="Times New Roman" pitchFamily="34" charset="0"/>
                <a:ea typeface="Times New Roman" pitchFamily="34" charset="-122"/>
                <a:cs typeface="Times New Roman" pitchFamily="34" charset="-120"/>
              </a:rPr>
              <a:t>Key Achievement 1: Proved CKD risk can be accurately forecast using only 4 non-invasive features via the novel Dual-Disease Bridge mechanism — AUC 0.941</a:t>
            </a:r>
          </a:p>
          <a:p>
            <a:r>
              <a:rPr lang="en-US" sz="1600" i="1" dirty="0">
                <a:solidFill>
                  <a:srgbClr val="3D3D3D"/>
                </a:solidFill>
                <a:latin typeface="Times New Roman" pitchFamily="34" charset="0"/>
                <a:ea typeface="Times New Roman" pitchFamily="34" charset="-122"/>
                <a:cs typeface="Times New Roman" pitchFamily="34" charset="-120"/>
              </a:rPr>
              <a:t>Key Achievement 2: Completely eliminated SMOTE data leakage via </a:t>
            </a:r>
            <a:r>
              <a:rPr lang="en-US" sz="1600" i="1" dirty="0" err="1">
                <a:solidFill>
                  <a:srgbClr val="3D3D3D"/>
                </a:solidFill>
                <a:latin typeface="Times New Roman" pitchFamily="34" charset="0"/>
                <a:ea typeface="Times New Roman" pitchFamily="34" charset="-122"/>
                <a:cs typeface="Times New Roman" pitchFamily="34" charset="-120"/>
              </a:rPr>
              <a:t>imblearn.pipeline</a:t>
            </a:r>
            <a:r>
              <a:rPr lang="en-US" sz="1600" i="1" dirty="0">
                <a:solidFill>
                  <a:srgbClr val="3D3D3D"/>
                </a:solidFill>
                <a:latin typeface="Times New Roman" pitchFamily="34" charset="0"/>
                <a:ea typeface="Times New Roman" pitchFamily="34" charset="-122"/>
                <a:cs typeface="Times New Roman" pitchFamily="34" charset="-120"/>
              </a:rPr>
              <a:t> + Stratified 10-Fold CV — all reported metrics reflect 100% real patient data</a:t>
            </a:r>
          </a:p>
          <a:p>
            <a:r>
              <a:rPr lang="en-US" sz="1600" i="1" dirty="0">
                <a:solidFill>
                  <a:srgbClr val="3D3D3D"/>
                </a:solidFill>
                <a:latin typeface="Times New Roman" pitchFamily="34" charset="0"/>
                <a:ea typeface="Times New Roman" pitchFamily="34" charset="-122"/>
                <a:cs typeface="Times New Roman" pitchFamily="34" charset="-120"/>
              </a:rPr>
              <a:t>Key Achievement 3: Computed mathematically safe clinical thresholds (Diabetes: 0.148, CKD: 0.644) guaranteeing ≥90% Sensitivity for both models</a:t>
            </a:r>
          </a:p>
          <a:p>
            <a:pPr marL="0" indent="0">
              <a:buNone/>
            </a:pPr>
            <a:endParaRPr lang="en-US" sz="1600" dirty="0"/>
          </a:p>
        </p:txBody>
      </p:sp>
      <p:grpSp>
        <p:nvGrpSpPr>
          <p:cNvPr id="33" name="Group 32">
            <a:extLst>
              <a:ext uri="{FF2B5EF4-FFF2-40B4-BE49-F238E27FC236}">
                <a16:creationId xmlns:a16="http://schemas.microsoft.com/office/drawing/2014/main" id="{0979D7EC-6808-056B-8569-A31EC43E3AA0}"/>
              </a:ext>
            </a:extLst>
          </p:cNvPr>
          <p:cNvGrpSpPr/>
          <p:nvPr/>
        </p:nvGrpSpPr>
        <p:grpSpPr>
          <a:xfrm>
            <a:off x="365761" y="3249700"/>
            <a:ext cx="8412480" cy="1528040"/>
            <a:chOff x="5989320" y="3264408"/>
            <a:chExt cx="2788920" cy="1513332"/>
          </a:xfrm>
        </p:grpSpPr>
        <p:sp>
          <p:nvSpPr>
            <p:cNvPr id="15" name="Shape 12"/>
            <p:cNvSpPr/>
            <p:nvPr/>
          </p:nvSpPr>
          <p:spPr>
            <a:xfrm>
              <a:off x="5989320" y="3264408"/>
              <a:ext cx="2788920" cy="1513332"/>
            </a:xfrm>
            <a:prstGeom prst="rect">
              <a:avLst/>
            </a:prstGeom>
            <a:solidFill>
              <a:srgbClr val="FFF4EC"/>
            </a:solidFill>
            <a:ln w="12700">
              <a:solidFill>
                <a:srgbClr val="E87722"/>
              </a:solidFill>
              <a:prstDash val="solid"/>
            </a:ln>
          </p:spPr>
        </p:sp>
        <p:sp>
          <p:nvSpPr>
            <p:cNvPr id="16" name="Shape 13"/>
            <p:cNvSpPr/>
            <p:nvPr/>
          </p:nvSpPr>
          <p:spPr>
            <a:xfrm>
              <a:off x="5989320" y="3264408"/>
              <a:ext cx="2788920" cy="329184"/>
            </a:xfrm>
            <a:prstGeom prst="rect">
              <a:avLst/>
            </a:prstGeom>
            <a:solidFill>
              <a:srgbClr val="E87722"/>
            </a:solidFill>
            <a:ln w="12700">
              <a:solidFill>
                <a:srgbClr val="E87722"/>
              </a:solidFill>
              <a:prstDash val="solid"/>
            </a:ln>
          </p:spPr>
        </p:sp>
        <p:sp>
          <p:nvSpPr>
            <p:cNvPr id="17" name="Text 14"/>
            <p:cNvSpPr/>
            <p:nvPr/>
          </p:nvSpPr>
          <p:spPr>
            <a:xfrm>
              <a:off x="5989320" y="3264408"/>
              <a:ext cx="2788920" cy="329184"/>
            </a:xfrm>
            <a:prstGeom prst="rect">
              <a:avLst/>
            </a:prstGeom>
            <a:noFill/>
            <a:ln/>
          </p:spPr>
          <p:txBody>
            <a:bodyPr wrap="square" lIns="0" tIns="0" rIns="0" bIns="0" rtlCol="0" anchor="ctr"/>
            <a:lstStyle/>
            <a:p>
              <a:pPr marL="0" indent="0" algn="ctr">
                <a:buNone/>
              </a:pPr>
              <a:r>
                <a:rPr lang="en-US" b="1" dirty="0">
                  <a:solidFill>
                    <a:srgbClr val="FFFFFF"/>
                  </a:solidFill>
                  <a:latin typeface="Times New Roman" pitchFamily="34" charset="0"/>
                  <a:ea typeface="Times New Roman" pitchFamily="34" charset="-122"/>
                  <a:cs typeface="Times New Roman" pitchFamily="34" charset="-120"/>
                </a:rPr>
                <a:t>Future Work</a:t>
              </a:r>
              <a:endParaRPr lang="en-US" dirty="0"/>
            </a:p>
          </p:txBody>
        </p:sp>
        <p:sp>
          <p:nvSpPr>
            <p:cNvPr id="18" name="Text 15"/>
            <p:cNvSpPr/>
            <p:nvPr/>
          </p:nvSpPr>
          <p:spPr>
            <a:xfrm>
              <a:off x="6099048" y="3666744"/>
              <a:ext cx="2569464" cy="1037844"/>
            </a:xfrm>
            <a:prstGeom prst="rect">
              <a:avLst/>
            </a:prstGeom>
            <a:noFill/>
            <a:ln/>
          </p:spPr>
          <p:txBody>
            <a:bodyPr wrap="square" rtlCol="0" anchor="ctr"/>
            <a:lstStyle/>
            <a:p>
              <a:pPr marL="171450" indent="-171450">
                <a:buFont typeface="Arial" panose="020B0604020202020204" pitchFamily="34" charset="0"/>
                <a:buChar char="•"/>
              </a:pPr>
              <a:r>
                <a:rPr lang="en-US" sz="1400" dirty="0">
                  <a:solidFill>
                    <a:srgbClr val="3D3D3D"/>
                  </a:solidFill>
                  <a:latin typeface="Times New Roman" pitchFamily="34" charset="0"/>
                  <a:ea typeface="Times New Roman" pitchFamily="34" charset="-122"/>
                  <a:cs typeface="Times New Roman" pitchFamily="34" charset="-120"/>
                </a:rPr>
                <a:t>Multimodal data fusion incorporating imaging, genomics, and clinical notes to enhance diagnostic accuracy and clinical utility.</a:t>
              </a:r>
            </a:p>
            <a:p>
              <a:pPr marL="171450" indent="-171450">
                <a:buFont typeface="Arial" panose="020B0604020202020204" pitchFamily="34" charset="0"/>
                <a:buChar char="•"/>
              </a:pPr>
              <a:r>
                <a:rPr lang="en-US" sz="1400" dirty="0">
                  <a:solidFill>
                    <a:srgbClr val="3D3D3D"/>
                  </a:solidFill>
                  <a:latin typeface="Times New Roman" pitchFamily="34" charset="0"/>
                  <a:ea typeface="Times New Roman" pitchFamily="34" charset="-122"/>
                  <a:cs typeface="Times New Roman" pitchFamily="34" charset="-120"/>
                </a:rPr>
                <a:t>Expand the ML pipeline to cover other major chronic disease clusters defined by the WHO/IHME, such as Cardiovascular Diseases (CVD) and Respiratory conditions.</a:t>
              </a:r>
              <a:endParaRPr lang="en-US" sz="1400" dirty="0"/>
            </a:p>
          </p:txBody>
        </p:sp>
      </p:grpSp>
      <p:sp>
        <p:nvSpPr>
          <p:cNvPr id="29" name="Text 26"/>
          <p:cNvSpPr/>
          <p:nvPr/>
        </p:nvSpPr>
        <p:spPr>
          <a:xfrm>
            <a:off x="365760" y="4156371"/>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Times New Roman" pitchFamily="34" charset="0"/>
                <a:ea typeface="Times New Roman" pitchFamily="34" charset="-122"/>
                <a:cs typeface="Times New Roman" pitchFamily="34" charset="-120"/>
              </a:rPr>
              <a:t>3</a:t>
            </a:r>
            <a:endParaRPr lang="en-US" sz="1500" dirty="0"/>
          </a:p>
        </p:txBody>
      </p:sp>
      <p:pic>
        <p:nvPicPr>
          <p:cNvPr id="8" name="Image 0" descr="preencoded.png">
            <a:extLst>
              <a:ext uri="{FF2B5EF4-FFF2-40B4-BE49-F238E27FC236}">
                <a16:creationId xmlns:a16="http://schemas.microsoft.com/office/drawing/2014/main" id="{AFD0A0B9-3109-F72E-0601-F53D7A7EBE81}"/>
              </a:ext>
            </a:extLst>
          </p:cNvPr>
          <p:cNvPicPr>
            <a:picLocks noChangeAspect="1"/>
          </p:cNvPicPr>
          <p:nvPr/>
        </p:nvPicPr>
        <p:blipFill>
          <a:blip r:embed="rId3"/>
          <a:stretch>
            <a:fillRect/>
          </a:stretch>
        </p:blipFill>
        <p:spPr>
          <a:xfrm>
            <a:off x="0" y="126492"/>
            <a:ext cx="1143000" cy="475488"/>
          </a:xfrm>
          <a:prstGeom prst="rect">
            <a:avLst/>
          </a:prstGeom>
        </p:spPr>
      </p:pic>
      <p:grpSp>
        <p:nvGrpSpPr>
          <p:cNvPr id="9" name="Group 8">
            <a:extLst>
              <a:ext uri="{FF2B5EF4-FFF2-40B4-BE49-F238E27FC236}">
                <a16:creationId xmlns:a16="http://schemas.microsoft.com/office/drawing/2014/main" id="{D3026E2B-A73C-24B6-537D-33C5DBCD26F0}"/>
              </a:ext>
            </a:extLst>
          </p:cNvPr>
          <p:cNvGrpSpPr/>
          <p:nvPr/>
        </p:nvGrpSpPr>
        <p:grpSpPr>
          <a:xfrm>
            <a:off x="7960583" y="126493"/>
            <a:ext cx="1143001" cy="475487"/>
            <a:chOff x="6173572" y="2276778"/>
            <a:chExt cx="2555268" cy="1333578"/>
          </a:xfrm>
        </p:grpSpPr>
        <p:pic>
          <p:nvPicPr>
            <p:cNvPr id="10" name="Picture 9" descr="A logo with blue and orange lines  AI-generated content may be incorrect.">
              <a:extLst>
                <a:ext uri="{FF2B5EF4-FFF2-40B4-BE49-F238E27FC236}">
                  <a16:creationId xmlns:a16="http://schemas.microsoft.com/office/drawing/2014/main" id="{D5F034EF-0060-0639-B7B5-7E2FF279EA4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173572" y="2276778"/>
              <a:ext cx="936104" cy="1295756"/>
            </a:xfrm>
            <a:prstGeom prst="rect">
              <a:avLst/>
            </a:prstGeom>
            <a:noFill/>
            <a:ln>
              <a:noFill/>
            </a:ln>
          </p:spPr>
        </p:pic>
        <p:pic>
          <p:nvPicPr>
            <p:cNvPr id="11" name="Picture 10">
              <a:extLst>
                <a:ext uri="{FF2B5EF4-FFF2-40B4-BE49-F238E27FC236}">
                  <a16:creationId xmlns:a16="http://schemas.microsoft.com/office/drawing/2014/main" id="{37100D65-7241-0FDA-F023-FB9E0A234F1E}"/>
                </a:ext>
              </a:extLst>
            </p:cNvPr>
            <p:cNvPicPr>
              <a:picLocks noChangeAspect="1"/>
            </p:cNvPicPr>
            <p:nvPr/>
          </p:nvPicPr>
          <p:blipFill rotWithShape="1">
            <a:blip r:embed="rId5">
              <a:extLst>
                <a:ext uri="{28A0092B-C50C-407E-A947-70E740481C1C}">
                  <a14:useLocalDpi xmlns:a14="http://schemas.microsoft.com/office/drawing/2010/main" val="0"/>
                </a:ext>
              </a:extLst>
            </a:blip>
            <a:srcRect l="30270" r="31417" b="2264"/>
            <a:stretch/>
          </p:blipFill>
          <p:spPr bwMode="auto">
            <a:xfrm>
              <a:off x="7178602" y="2276778"/>
              <a:ext cx="1550238" cy="1333578"/>
            </a:xfrm>
            <a:prstGeom prst="rect">
              <a:avLst/>
            </a:prstGeom>
            <a:ln>
              <a:noFill/>
            </a:ln>
            <a:extLst>
              <a:ext uri="{53640926-AAD7-44D8-BBD7-CCE9431645EC}">
                <a14:shadowObscured xmlns:a14="http://schemas.microsoft.com/office/drawing/2010/main"/>
              </a:ext>
            </a:extLst>
          </p:spPr>
        </p:pic>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ea typeface="Times New Roman" pitchFamily="34" charset="-122"/>
                <a:cs typeface="Times New Roman" pitchFamily="34" charset="-120"/>
              </a:rPr>
              <a:t>References</a:t>
            </a:r>
            <a:endParaRPr lang="en-US" sz="2600" dirty="0"/>
          </a:p>
        </p:txBody>
      </p:sp>
      <p:sp>
        <p:nvSpPr>
          <p:cNvPr id="4" name="Shape 1"/>
          <p:cNvSpPr/>
          <p:nvPr/>
        </p:nvSpPr>
        <p:spPr>
          <a:xfrm>
            <a:off x="365760" y="1069848"/>
            <a:ext cx="8412480" cy="20117"/>
          </a:xfrm>
          <a:prstGeom prst="rect">
            <a:avLst/>
          </a:prstGeom>
          <a:solidFill>
            <a:srgbClr val="3D3D3D"/>
          </a:solidFill>
          <a:ln w="12700">
            <a:solidFill>
              <a:srgbClr val="3D3D3D"/>
            </a:solidFill>
            <a:prstDash val="solid"/>
          </a:ln>
        </p:spPr>
      </p:sp>
      <p:sp>
        <p:nvSpPr>
          <p:cNvPr id="5" name="Shape 2"/>
          <p:cNvSpPr/>
          <p:nvPr/>
        </p:nvSpPr>
        <p:spPr>
          <a:xfrm>
            <a:off x="0" y="4850892"/>
            <a:ext cx="9144000" cy="292608"/>
          </a:xfrm>
          <a:prstGeom prst="rect">
            <a:avLst/>
          </a:prstGeom>
          <a:solidFill>
            <a:srgbClr val="E87722"/>
          </a:solidFill>
          <a:ln w="12700">
            <a:solidFill>
              <a:srgbClr val="E87722"/>
            </a:solidFill>
            <a:prstDash val="solid"/>
          </a:ln>
        </p:spPr>
      </p:sp>
      <p:sp>
        <p:nvSpPr>
          <p:cNvPr id="6" name="Text 3"/>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cs typeface="Times New Roman" pitchFamily="34" charset="-120"/>
              </a:rPr>
              <a:t>25</a:t>
            </a:r>
            <a:endParaRPr lang="en-US" sz="1400" dirty="0"/>
          </a:p>
        </p:txBody>
      </p:sp>
      <p:sp>
        <p:nvSpPr>
          <p:cNvPr id="7" name="Shape 4"/>
          <p:cNvSpPr/>
          <p:nvPr/>
        </p:nvSpPr>
        <p:spPr>
          <a:xfrm>
            <a:off x="365760" y="1325880"/>
            <a:ext cx="4114800" cy="644652"/>
          </a:xfrm>
          <a:prstGeom prst="rect">
            <a:avLst/>
          </a:prstGeom>
          <a:solidFill>
            <a:srgbClr val="F5F8FF"/>
          </a:solidFill>
          <a:ln w="12700">
            <a:solidFill>
              <a:srgbClr val="E0E0E0"/>
            </a:solidFill>
            <a:prstDash val="solid"/>
          </a:ln>
        </p:spPr>
      </p:sp>
      <p:sp>
        <p:nvSpPr>
          <p:cNvPr id="8" name="Shape 5"/>
          <p:cNvSpPr/>
          <p:nvPr/>
        </p:nvSpPr>
        <p:spPr>
          <a:xfrm>
            <a:off x="365760" y="1325880"/>
            <a:ext cx="54864" cy="644652"/>
          </a:xfrm>
          <a:prstGeom prst="rect">
            <a:avLst/>
          </a:prstGeom>
          <a:solidFill>
            <a:srgbClr val="E87722"/>
          </a:solidFill>
          <a:ln w="12700">
            <a:solidFill>
              <a:srgbClr val="E87722"/>
            </a:solidFill>
            <a:prstDash val="solid"/>
          </a:ln>
        </p:spPr>
      </p:sp>
      <p:sp>
        <p:nvSpPr>
          <p:cNvPr id="9" name="Text 6"/>
          <p:cNvSpPr/>
          <p:nvPr/>
        </p:nvSpPr>
        <p:spPr>
          <a:xfrm>
            <a:off x="475488" y="1362456"/>
            <a:ext cx="3950208" cy="562356"/>
          </a:xfrm>
          <a:prstGeom prst="rect">
            <a:avLst/>
          </a:prstGeom>
          <a:noFill/>
          <a:ln/>
        </p:spPr>
        <p:txBody>
          <a:bodyPr wrap="square" rtlCol="0" anchor="t"/>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1. Naz S, et al. The early prediction of chronic diseases through diverse ML algorithms. IEEE Access. 2024;12:11004–11015.</a:t>
            </a:r>
            <a:endParaRPr lang="en-US" sz="1200" dirty="0"/>
          </a:p>
        </p:txBody>
      </p:sp>
      <p:sp>
        <p:nvSpPr>
          <p:cNvPr id="10" name="Shape 7"/>
          <p:cNvSpPr/>
          <p:nvPr/>
        </p:nvSpPr>
        <p:spPr>
          <a:xfrm>
            <a:off x="365760" y="2016252"/>
            <a:ext cx="4114800" cy="644652"/>
          </a:xfrm>
          <a:prstGeom prst="rect">
            <a:avLst/>
          </a:prstGeom>
          <a:solidFill>
            <a:srgbClr val="FFFFFF"/>
          </a:solidFill>
          <a:ln w="12700">
            <a:solidFill>
              <a:srgbClr val="E0E0E0"/>
            </a:solidFill>
            <a:prstDash val="solid"/>
          </a:ln>
        </p:spPr>
      </p:sp>
      <p:sp>
        <p:nvSpPr>
          <p:cNvPr id="11" name="Shape 8"/>
          <p:cNvSpPr/>
          <p:nvPr/>
        </p:nvSpPr>
        <p:spPr>
          <a:xfrm>
            <a:off x="365760" y="2016252"/>
            <a:ext cx="54864" cy="644652"/>
          </a:xfrm>
          <a:prstGeom prst="rect">
            <a:avLst/>
          </a:prstGeom>
          <a:solidFill>
            <a:srgbClr val="E87722"/>
          </a:solidFill>
          <a:ln w="12700">
            <a:solidFill>
              <a:srgbClr val="E87722"/>
            </a:solidFill>
            <a:prstDash val="solid"/>
          </a:ln>
        </p:spPr>
      </p:sp>
      <p:sp>
        <p:nvSpPr>
          <p:cNvPr id="12" name="Text 9"/>
          <p:cNvSpPr/>
          <p:nvPr/>
        </p:nvSpPr>
        <p:spPr>
          <a:xfrm>
            <a:off x="475488" y="2052828"/>
            <a:ext cx="3950208" cy="562356"/>
          </a:xfrm>
          <a:prstGeom prst="rect">
            <a:avLst/>
          </a:prstGeom>
          <a:noFill/>
          <a:ln/>
        </p:spPr>
        <p:txBody>
          <a:bodyPr wrap="square" rtlCol="0" anchor="t"/>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2. Delpino FM, et al. Machine learning for predicting chronic diseases: A systematic review. Public Health. 2022;205:15–25.</a:t>
            </a:r>
            <a:endParaRPr lang="en-US" sz="1200" dirty="0"/>
          </a:p>
        </p:txBody>
      </p:sp>
      <p:sp>
        <p:nvSpPr>
          <p:cNvPr id="13" name="Shape 10"/>
          <p:cNvSpPr/>
          <p:nvPr/>
        </p:nvSpPr>
        <p:spPr>
          <a:xfrm>
            <a:off x="365760" y="2706624"/>
            <a:ext cx="4114800" cy="644652"/>
          </a:xfrm>
          <a:prstGeom prst="rect">
            <a:avLst/>
          </a:prstGeom>
          <a:solidFill>
            <a:srgbClr val="F5F8FF"/>
          </a:solidFill>
          <a:ln w="12700">
            <a:solidFill>
              <a:srgbClr val="E0E0E0"/>
            </a:solidFill>
            <a:prstDash val="solid"/>
          </a:ln>
        </p:spPr>
      </p:sp>
      <p:sp>
        <p:nvSpPr>
          <p:cNvPr id="14" name="Shape 11"/>
          <p:cNvSpPr/>
          <p:nvPr/>
        </p:nvSpPr>
        <p:spPr>
          <a:xfrm>
            <a:off x="365760" y="2706624"/>
            <a:ext cx="54864" cy="644652"/>
          </a:xfrm>
          <a:prstGeom prst="rect">
            <a:avLst/>
          </a:prstGeom>
          <a:solidFill>
            <a:srgbClr val="E87722"/>
          </a:solidFill>
          <a:ln w="12700">
            <a:solidFill>
              <a:srgbClr val="E87722"/>
            </a:solidFill>
            <a:prstDash val="solid"/>
          </a:ln>
        </p:spPr>
      </p:sp>
      <p:sp>
        <p:nvSpPr>
          <p:cNvPr id="15" name="Text 12"/>
          <p:cNvSpPr/>
          <p:nvPr/>
        </p:nvSpPr>
        <p:spPr>
          <a:xfrm>
            <a:off x="475488" y="2743200"/>
            <a:ext cx="3950208" cy="562356"/>
          </a:xfrm>
          <a:prstGeom prst="rect">
            <a:avLst/>
          </a:prstGeom>
          <a:noFill/>
          <a:ln/>
        </p:spPr>
        <p:txBody>
          <a:bodyPr wrap="square" rtlCol="0" anchor="t"/>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3. Abbas Q, et al. Explainable AI in clinical decision support systems. PMC Med Inform. 2025;14(1):102–115.</a:t>
            </a:r>
            <a:endParaRPr lang="en-US" sz="1200" dirty="0"/>
          </a:p>
        </p:txBody>
      </p:sp>
      <p:sp>
        <p:nvSpPr>
          <p:cNvPr id="16" name="Shape 13"/>
          <p:cNvSpPr/>
          <p:nvPr/>
        </p:nvSpPr>
        <p:spPr>
          <a:xfrm>
            <a:off x="365760" y="3396996"/>
            <a:ext cx="4114800" cy="644652"/>
          </a:xfrm>
          <a:prstGeom prst="rect">
            <a:avLst/>
          </a:prstGeom>
          <a:solidFill>
            <a:srgbClr val="FFFFFF"/>
          </a:solidFill>
          <a:ln w="12700">
            <a:solidFill>
              <a:srgbClr val="E0E0E0"/>
            </a:solidFill>
            <a:prstDash val="solid"/>
          </a:ln>
        </p:spPr>
      </p:sp>
      <p:sp>
        <p:nvSpPr>
          <p:cNvPr id="17" name="Shape 14"/>
          <p:cNvSpPr/>
          <p:nvPr/>
        </p:nvSpPr>
        <p:spPr>
          <a:xfrm>
            <a:off x="365760" y="3396996"/>
            <a:ext cx="54864" cy="644652"/>
          </a:xfrm>
          <a:prstGeom prst="rect">
            <a:avLst/>
          </a:prstGeom>
          <a:solidFill>
            <a:srgbClr val="E87722"/>
          </a:solidFill>
          <a:ln w="12700">
            <a:solidFill>
              <a:srgbClr val="E87722"/>
            </a:solidFill>
            <a:prstDash val="solid"/>
          </a:ln>
        </p:spPr>
      </p:sp>
      <p:sp>
        <p:nvSpPr>
          <p:cNvPr id="18" name="Text 15"/>
          <p:cNvSpPr/>
          <p:nvPr/>
        </p:nvSpPr>
        <p:spPr>
          <a:xfrm>
            <a:off x="475488" y="3433572"/>
            <a:ext cx="3950208" cy="562356"/>
          </a:xfrm>
          <a:prstGeom prst="rect">
            <a:avLst/>
          </a:prstGeom>
          <a:noFill/>
          <a:ln/>
        </p:spPr>
        <p:txBody>
          <a:bodyPr wrap="square" rtlCol="0" anchor="t"/>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4. Jung Y, et al. Evaluating XAI impact on clinical trust. Int J Med Inform. 2025;105943.</a:t>
            </a:r>
            <a:endParaRPr lang="en-US" sz="1200" dirty="0"/>
          </a:p>
        </p:txBody>
      </p:sp>
      <p:sp>
        <p:nvSpPr>
          <p:cNvPr id="19" name="Shape 16"/>
          <p:cNvSpPr/>
          <p:nvPr/>
        </p:nvSpPr>
        <p:spPr>
          <a:xfrm>
            <a:off x="365760" y="4087368"/>
            <a:ext cx="4114800" cy="644652"/>
          </a:xfrm>
          <a:prstGeom prst="rect">
            <a:avLst/>
          </a:prstGeom>
          <a:solidFill>
            <a:srgbClr val="F5F8FF"/>
          </a:solidFill>
          <a:ln w="12700">
            <a:solidFill>
              <a:srgbClr val="E0E0E0"/>
            </a:solidFill>
            <a:prstDash val="solid"/>
          </a:ln>
        </p:spPr>
      </p:sp>
      <p:sp>
        <p:nvSpPr>
          <p:cNvPr id="20" name="Shape 17"/>
          <p:cNvSpPr/>
          <p:nvPr/>
        </p:nvSpPr>
        <p:spPr>
          <a:xfrm>
            <a:off x="365760" y="4087368"/>
            <a:ext cx="54864" cy="644652"/>
          </a:xfrm>
          <a:prstGeom prst="rect">
            <a:avLst/>
          </a:prstGeom>
          <a:solidFill>
            <a:srgbClr val="E87722"/>
          </a:solidFill>
          <a:ln w="12700">
            <a:solidFill>
              <a:srgbClr val="E87722"/>
            </a:solidFill>
            <a:prstDash val="solid"/>
          </a:ln>
        </p:spPr>
      </p:sp>
      <p:sp>
        <p:nvSpPr>
          <p:cNvPr id="21" name="Text 18"/>
          <p:cNvSpPr/>
          <p:nvPr/>
        </p:nvSpPr>
        <p:spPr>
          <a:xfrm>
            <a:off x="475488" y="4123944"/>
            <a:ext cx="3950208" cy="562356"/>
          </a:xfrm>
          <a:prstGeom prst="rect">
            <a:avLst/>
          </a:prstGeom>
          <a:noFill/>
          <a:ln/>
        </p:spPr>
        <p:txBody>
          <a:bodyPr wrap="square" rtlCol="0" anchor="t"/>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5. Nikolaou N. Multimodal data fusion in precision oncology. Nat Commun. 2025;16:142.</a:t>
            </a:r>
            <a:endParaRPr lang="en-US" sz="1200" dirty="0"/>
          </a:p>
        </p:txBody>
      </p:sp>
      <p:sp>
        <p:nvSpPr>
          <p:cNvPr id="22" name="Shape 19"/>
          <p:cNvSpPr/>
          <p:nvPr/>
        </p:nvSpPr>
        <p:spPr>
          <a:xfrm>
            <a:off x="4663440" y="1325880"/>
            <a:ext cx="4114800" cy="644652"/>
          </a:xfrm>
          <a:prstGeom prst="rect">
            <a:avLst/>
          </a:prstGeom>
          <a:solidFill>
            <a:srgbClr val="F5F8FF"/>
          </a:solidFill>
          <a:ln w="12700">
            <a:solidFill>
              <a:srgbClr val="E0E0E0"/>
            </a:solidFill>
            <a:prstDash val="solid"/>
          </a:ln>
        </p:spPr>
      </p:sp>
      <p:sp>
        <p:nvSpPr>
          <p:cNvPr id="23" name="Shape 20"/>
          <p:cNvSpPr/>
          <p:nvPr/>
        </p:nvSpPr>
        <p:spPr>
          <a:xfrm>
            <a:off x="4663440" y="1325880"/>
            <a:ext cx="54864" cy="644652"/>
          </a:xfrm>
          <a:prstGeom prst="rect">
            <a:avLst/>
          </a:prstGeom>
          <a:solidFill>
            <a:srgbClr val="E87722"/>
          </a:solidFill>
          <a:ln w="12700">
            <a:solidFill>
              <a:srgbClr val="E87722"/>
            </a:solidFill>
            <a:prstDash val="solid"/>
          </a:ln>
        </p:spPr>
      </p:sp>
      <p:sp>
        <p:nvSpPr>
          <p:cNvPr id="24" name="Text 21"/>
          <p:cNvSpPr/>
          <p:nvPr/>
        </p:nvSpPr>
        <p:spPr>
          <a:xfrm>
            <a:off x="4773168" y="1362456"/>
            <a:ext cx="3950208" cy="562356"/>
          </a:xfrm>
          <a:prstGeom prst="rect">
            <a:avLst/>
          </a:prstGeom>
          <a:noFill/>
          <a:ln/>
        </p:spPr>
        <p:txBody>
          <a:bodyPr wrap="square" rtlCol="0" anchor="t"/>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6. Kumar A, et al. Review of fusion aspects in medical diagnosis. Diagnostics. 2024.</a:t>
            </a:r>
            <a:endParaRPr lang="en-US" sz="1200" dirty="0"/>
          </a:p>
        </p:txBody>
      </p:sp>
      <p:sp>
        <p:nvSpPr>
          <p:cNvPr id="25" name="Shape 22"/>
          <p:cNvSpPr/>
          <p:nvPr/>
        </p:nvSpPr>
        <p:spPr>
          <a:xfrm>
            <a:off x="4663440" y="2016252"/>
            <a:ext cx="4114800" cy="644652"/>
          </a:xfrm>
          <a:prstGeom prst="rect">
            <a:avLst/>
          </a:prstGeom>
          <a:solidFill>
            <a:srgbClr val="FFFFFF"/>
          </a:solidFill>
          <a:ln w="12700">
            <a:solidFill>
              <a:srgbClr val="E0E0E0"/>
            </a:solidFill>
            <a:prstDash val="solid"/>
          </a:ln>
        </p:spPr>
      </p:sp>
      <p:sp>
        <p:nvSpPr>
          <p:cNvPr id="26" name="Shape 23"/>
          <p:cNvSpPr/>
          <p:nvPr/>
        </p:nvSpPr>
        <p:spPr>
          <a:xfrm>
            <a:off x="4663440" y="2016252"/>
            <a:ext cx="54864" cy="644652"/>
          </a:xfrm>
          <a:prstGeom prst="rect">
            <a:avLst/>
          </a:prstGeom>
          <a:solidFill>
            <a:srgbClr val="E87722"/>
          </a:solidFill>
          <a:ln w="12700">
            <a:solidFill>
              <a:srgbClr val="E87722"/>
            </a:solidFill>
            <a:prstDash val="solid"/>
          </a:ln>
        </p:spPr>
      </p:sp>
      <p:sp>
        <p:nvSpPr>
          <p:cNvPr id="27" name="Text 24"/>
          <p:cNvSpPr/>
          <p:nvPr/>
        </p:nvSpPr>
        <p:spPr>
          <a:xfrm>
            <a:off x="4773168" y="2052828"/>
            <a:ext cx="3950208" cy="562356"/>
          </a:xfrm>
          <a:prstGeom prst="rect">
            <a:avLst/>
          </a:prstGeom>
          <a:noFill/>
          <a:ln/>
        </p:spPr>
        <p:txBody>
          <a:bodyPr wrap="square" rtlCol="0" anchor="t"/>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7. Mahmud M, et al. Early detection of CKD using Gradient Boosting. IEEE Xplore. 2024.</a:t>
            </a:r>
            <a:endParaRPr lang="en-US" sz="1200" dirty="0"/>
          </a:p>
        </p:txBody>
      </p:sp>
      <p:sp>
        <p:nvSpPr>
          <p:cNvPr id="28" name="Shape 25"/>
          <p:cNvSpPr/>
          <p:nvPr/>
        </p:nvSpPr>
        <p:spPr>
          <a:xfrm>
            <a:off x="4663440" y="2706624"/>
            <a:ext cx="4114800" cy="644652"/>
          </a:xfrm>
          <a:prstGeom prst="rect">
            <a:avLst/>
          </a:prstGeom>
          <a:solidFill>
            <a:srgbClr val="F5F8FF"/>
          </a:solidFill>
          <a:ln w="12700">
            <a:solidFill>
              <a:srgbClr val="E0E0E0"/>
            </a:solidFill>
            <a:prstDash val="solid"/>
          </a:ln>
        </p:spPr>
      </p:sp>
      <p:sp>
        <p:nvSpPr>
          <p:cNvPr id="29" name="Shape 26"/>
          <p:cNvSpPr/>
          <p:nvPr/>
        </p:nvSpPr>
        <p:spPr>
          <a:xfrm>
            <a:off x="4663440" y="2706624"/>
            <a:ext cx="54864" cy="644652"/>
          </a:xfrm>
          <a:prstGeom prst="rect">
            <a:avLst/>
          </a:prstGeom>
          <a:solidFill>
            <a:srgbClr val="E87722"/>
          </a:solidFill>
          <a:ln w="12700">
            <a:solidFill>
              <a:srgbClr val="E87722"/>
            </a:solidFill>
            <a:prstDash val="solid"/>
          </a:ln>
        </p:spPr>
      </p:sp>
      <p:sp>
        <p:nvSpPr>
          <p:cNvPr id="30" name="Text 27"/>
          <p:cNvSpPr/>
          <p:nvPr/>
        </p:nvSpPr>
        <p:spPr>
          <a:xfrm>
            <a:off x="4773168" y="2743200"/>
            <a:ext cx="3950208" cy="562356"/>
          </a:xfrm>
          <a:prstGeom prst="rect">
            <a:avLst/>
          </a:prstGeom>
          <a:noFill/>
          <a:ln/>
        </p:spPr>
        <p:txBody>
          <a:bodyPr wrap="square" rtlCol="0" anchor="t"/>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8. Polat H, et al. Feature selection for CKD diagnosis. Med Hypotheses. 2017;103:68–75.</a:t>
            </a:r>
            <a:endParaRPr lang="en-US" sz="1200" dirty="0"/>
          </a:p>
        </p:txBody>
      </p:sp>
      <p:sp>
        <p:nvSpPr>
          <p:cNvPr id="31" name="Shape 28"/>
          <p:cNvSpPr/>
          <p:nvPr/>
        </p:nvSpPr>
        <p:spPr>
          <a:xfrm>
            <a:off x="4663440" y="3396996"/>
            <a:ext cx="4114800" cy="644652"/>
          </a:xfrm>
          <a:prstGeom prst="rect">
            <a:avLst/>
          </a:prstGeom>
          <a:solidFill>
            <a:srgbClr val="FFFFFF"/>
          </a:solidFill>
          <a:ln w="12700">
            <a:solidFill>
              <a:srgbClr val="E0E0E0"/>
            </a:solidFill>
            <a:prstDash val="solid"/>
          </a:ln>
        </p:spPr>
      </p:sp>
      <p:sp>
        <p:nvSpPr>
          <p:cNvPr id="32" name="Shape 29"/>
          <p:cNvSpPr/>
          <p:nvPr/>
        </p:nvSpPr>
        <p:spPr>
          <a:xfrm>
            <a:off x="4663440" y="3396996"/>
            <a:ext cx="54864" cy="644652"/>
          </a:xfrm>
          <a:prstGeom prst="rect">
            <a:avLst/>
          </a:prstGeom>
          <a:solidFill>
            <a:srgbClr val="E87722"/>
          </a:solidFill>
          <a:ln w="12700">
            <a:solidFill>
              <a:srgbClr val="E87722"/>
            </a:solidFill>
            <a:prstDash val="solid"/>
          </a:ln>
        </p:spPr>
      </p:sp>
      <p:sp>
        <p:nvSpPr>
          <p:cNvPr id="33" name="Text 30"/>
          <p:cNvSpPr/>
          <p:nvPr/>
        </p:nvSpPr>
        <p:spPr>
          <a:xfrm>
            <a:off x="4773168" y="3433572"/>
            <a:ext cx="3950208" cy="562356"/>
          </a:xfrm>
          <a:prstGeom prst="rect">
            <a:avLst/>
          </a:prstGeom>
          <a:noFill/>
          <a:ln/>
        </p:spPr>
        <p:txBody>
          <a:bodyPr wrap="square" rtlCol="0" anchor="t"/>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9. Lundberg SM, Lee SI. A unified approach to model interpretation. NeurIPS. 2017.</a:t>
            </a:r>
            <a:endParaRPr lang="en-US" sz="1200" dirty="0"/>
          </a:p>
        </p:txBody>
      </p:sp>
      <p:sp>
        <p:nvSpPr>
          <p:cNvPr id="34" name="Shape 31"/>
          <p:cNvSpPr/>
          <p:nvPr/>
        </p:nvSpPr>
        <p:spPr>
          <a:xfrm>
            <a:off x="4663440" y="4087368"/>
            <a:ext cx="4114800" cy="644652"/>
          </a:xfrm>
          <a:prstGeom prst="rect">
            <a:avLst/>
          </a:prstGeom>
          <a:solidFill>
            <a:srgbClr val="F5F8FF"/>
          </a:solidFill>
          <a:ln w="12700">
            <a:solidFill>
              <a:srgbClr val="E0E0E0"/>
            </a:solidFill>
            <a:prstDash val="solid"/>
          </a:ln>
        </p:spPr>
      </p:sp>
      <p:sp>
        <p:nvSpPr>
          <p:cNvPr id="35" name="Shape 32"/>
          <p:cNvSpPr/>
          <p:nvPr/>
        </p:nvSpPr>
        <p:spPr>
          <a:xfrm>
            <a:off x="4663440" y="4087368"/>
            <a:ext cx="54864" cy="644652"/>
          </a:xfrm>
          <a:prstGeom prst="rect">
            <a:avLst/>
          </a:prstGeom>
          <a:solidFill>
            <a:srgbClr val="E87722"/>
          </a:solidFill>
          <a:ln w="12700">
            <a:solidFill>
              <a:srgbClr val="E87722"/>
            </a:solidFill>
            <a:prstDash val="solid"/>
          </a:ln>
        </p:spPr>
      </p:sp>
      <p:sp>
        <p:nvSpPr>
          <p:cNvPr id="36" name="Text 33"/>
          <p:cNvSpPr/>
          <p:nvPr/>
        </p:nvSpPr>
        <p:spPr>
          <a:xfrm>
            <a:off x="4773168" y="4123944"/>
            <a:ext cx="3950208" cy="562356"/>
          </a:xfrm>
          <a:prstGeom prst="rect">
            <a:avLst/>
          </a:prstGeom>
          <a:noFill/>
          <a:ln/>
        </p:spPr>
        <p:txBody>
          <a:bodyPr wrap="square" rtlCol="0" anchor="t"/>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10. Chawla NV, et al. SMOTE: Synthetic minority over-sampling. J Artif Intell Res. 2002;16:321–357.</a:t>
            </a:r>
            <a:endParaRPr lang="en-US" sz="1200" dirty="0"/>
          </a:p>
        </p:txBody>
      </p:sp>
      <p:pic>
        <p:nvPicPr>
          <p:cNvPr id="37" name="Image 0" descr="preencoded.png">
            <a:extLst>
              <a:ext uri="{FF2B5EF4-FFF2-40B4-BE49-F238E27FC236}">
                <a16:creationId xmlns:a16="http://schemas.microsoft.com/office/drawing/2014/main" id="{A48B9EE7-613B-0886-E8BC-D5CE3086EAB1}"/>
              </a:ext>
            </a:extLst>
          </p:cNvPr>
          <p:cNvPicPr>
            <a:picLocks noChangeAspect="1"/>
          </p:cNvPicPr>
          <p:nvPr/>
        </p:nvPicPr>
        <p:blipFill>
          <a:blip r:embed="rId3"/>
          <a:stretch>
            <a:fillRect/>
          </a:stretch>
        </p:blipFill>
        <p:spPr>
          <a:xfrm>
            <a:off x="0" y="126492"/>
            <a:ext cx="1143000" cy="475488"/>
          </a:xfrm>
          <a:prstGeom prst="rect">
            <a:avLst/>
          </a:prstGeom>
        </p:spPr>
      </p:pic>
      <p:grpSp>
        <p:nvGrpSpPr>
          <p:cNvPr id="38" name="Group 37">
            <a:extLst>
              <a:ext uri="{FF2B5EF4-FFF2-40B4-BE49-F238E27FC236}">
                <a16:creationId xmlns:a16="http://schemas.microsoft.com/office/drawing/2014/main" id="{4911DB03-4E5B-BB24-89EA-7DCF8E642D23}"/>
              </a:ext>
            </a:extLst>
          </p:cNvPr>
          <p:cNvGrpSpPr/>
          <p:nvPr/>
        </p:nvGrpSpPr>
        <p:grpSpPr>
          <a:xfrm>
            <a:off x="7960583" y="126493"/>
            <a:ext cx="1143001" cy="475487"/>
            <a:chOff x="6173572" y="2276778"/>
            <a:chExt cx="2555268" cy="1333578"/>
          </a:xfrm>
        </p:grpSpPr>
        <p:pic>
          <p:nvPicPr>
            <p:cNvPr id="39" name="Picture 38" descr="A logo with blue and orange lines  AI-generated content may be incorrect.">
              <a:extLst>
                <a:ext uri="{FF2B5EF4-FFF2-40B4-BE49-F238E27FC236}">
                  <a16:creationId xmlns:a16="http://schemas.microsoft.com/office/drawing/2014/main" id="{0CEA4EBB-FAD3-7CA5-5508-E427A36F103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173572" y="2276778"/>
              <a:ext cx="936104" cy="1295756"/>
            </a:xfrm>
            <a:prstGeom prst="rect">
              <a:avLst/>
            </a:prstGeom>
            <a:noFill/>
            <a:ln>
              <a:noFill/>
            </a:ln>
          </p:spPr>
        </p:pic>
        <p:pic>
          <p:nvPicPr>
            <p:cNvPr id="40" name="Picture 39">
              <a:extLst>
                <a:ext uri="{FF2B5EF4-FFF2-40B4-BE49-F238E27FC236}">
                  <a16:creationId xmlns:a16="http://schemas.microsoft.com/office/drawing/2014/main" id="{27F0D4F9-AE8D-48F7-324F-A8BB35AE34CF}"/>
                </a:ext>
              </a:extLst>
            </p:cNvPr>
            <p:cNvPicPr>
              <a:picLocks noChangeAspect="1"/>
            </p:cNvPicPr>
            <p:nvPr/>
          </p:nvPicPr>
          <p:blipFill rotWithShape="1">
            <a:blip r:embed="rId5">
              <a:extLst>
                <a:ext uri="{28A0092B-C50C-407E-A947-70E740481C1C}">
                  <a14:useLocalDpi xmlns:a14="http://schemas.microsoft.com/office/drawing/2010/main" val="0"/>
                </a:ext>
              </a:extLst>
            </a:blip>
            <a:srcRect l="30270" r="31417" b="2264"/>
            <a:stretch/>
          </p:blipFill>
          <p:spPr bwMode="auto">
            <a:xfrm>
              <a:off x="7178602" y="2276778"/>
              <a:ext cx="1550238" cy="1333578"/>
            </a:xfrm>
            <a:prstGeom prst="rect">
              <a:avLst/>
            </a:prstGeom>
            <a:ln>
              <a:noFill/>
            </a:ln>
            <a:extLst>
              <a:ext uri="{53640926-AAD7-44D8-BBD7-CCE9431645EC}">
                <a14:shadowObscured xmlns:a14="http://schemas.microsoft.com/office/drawing/2010/main"/>
              </a:ext>
            </a:extLst>
          </p:spPr>
        </p:pic>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79D3260-014B-379E-B208-3860CC4924E8}"/>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E4FDBBEF-A6BD-3161-83D9-E4B13C899F38}"/>
              </a:ext>
            </a:extLst>
          </p:cNvPr>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ea typeface="Times New Roman" pitchFamily="34" charset="-122"/>
                <a:cs typeface="Times New Roman" pitchFamily="34" charset="-120"/>
              </a:rPr>
              <a:t>References</a:t>
            </a:r>
            <a:endParaRPr lang="en-US" sz="2600" dirty="0"/>
          </a:p>
        </p:txBody>
      </p:sp>
      <p:sp>
        <p:nvSpPr>
          <p:cNvPr id="4" name="Shape 1">
            <a:extLst>
              <a:ext uri="{FF2B5EF4-FFF2-40B4-BE49-F238E27FC236}">
                <a16:creationId xmlns:a16="http://schemas.microsoft.com/office/drawing/2014/main" id="{C340F68D-7ED6-B0E5-6546-6765FB2A6D18}"/>
              </a:ext>
            </a:extLst>
          </p:cNvPr>
          <p:cNvSpPr/>
          <p:nvPr/>
        </p:nvSpPr>
        <p:spPr>
          <a:xfrm>
            <a:off x="365760" y="1069848"/>
            <a:ext cx="8412480" cy="20117"/>
          </a:xfrm>
          <a:prstGeom prst="rect">
            <a:avLst/>
          </a:prstGeom>
          <a:solidFill>
            <a:srgbClr val="3D3D3D"/>
          </a:solidFill>
          <a:ln w="12700">
            <a:solidFill>
              <a:srgbClr val="3D3D3D"/>
            </a:solidFill>
            <a:prstDash val="solid"/>
          </a:ln>
        </p:spPr>
      </p:sp>
      <p:sp>
        <p:nvSpPr>
          <p:cNvPr id="5" name="Shape 2">
            <a:extLst>
              <a:ext uri="{FF2B5EF4-FFF2-40B4-BE49-F238E27FC236}">
                <a16:creationId xmlns:a16="http://schemas.microsoft.com/office/drawing/2014/main" id="{81100E7D-81BD-CD5E-818D-31C7D4D0B625}"/>
              </a:ext>
            </a:extLst>
          </p:cNvPr>
          <p:cNvSpPr/>
          <p:nvPr/>
        </p:nvSpPr>
        <p:spPr>
          <a:xfrm>
            <a:off x="0" y="4850892"/>
            <a:ext cx="9144000" cy="292608"/>
          </a:xfrm>
          <a:prstGeom prst="rect">
            <a:avLst/>
          </a:prstGeom>
          <a:solidFill>
            <a:srgbClr val="E87722"/>
          </a:solidFill>
          <a:ln w="12700">
            <a:solidFill>
              <a:srgbClr val="E87722"/>
            </a:solidFill>
            <a:prstDash val="solid"/>
          </a:ln>
        </p:spPr>
      </p:sp>
      <p:sp>
        <p:nvSpPr>
          <p:cNvPr id="6" name="Text 3">
            <a:extLst>
              <a:ext uri="{FF2B5EF4-FFF2-40B4-BE49-F238E27FC236}">
                <a16:creationId xmlns:a16="http://schemas.microsoft.com/office/drawing/2014/main" id="{D415708E-C549-43EB-440E-A1239C266887}"/>
              </a:ext>
            </a:extLst>
          </p:cNvPr>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cs typeface="Times New Roman" pitchFamily="34" charset="-120"/>
              </a:rPr>
              <a:t>26</a:t>
            </a:r>
            <a:endParaRPr lang="en-US" sz="1400" dirty="0"/>
          </a:p>
        </p:txBody>
      </p:sp>
      <p:sp>
        <p:nvSpPr>
          <p:cNvPr id="7" name="Shape 4">
            <a:extLst>
              <a:ext uri="{FF2B5EF4-FFF2-40B4-BE49-F238E27FC236}">
                <a16:creationId xmlns:a16="http://schemas.microsoft.com/office/drawing/2014/main" id="{C782FEAA-573A-25D3-D838-FDEBAB98FFEB}"/>
              </a:ext>
            </a:extLst>
          </p:cNvPr>
          <p:cNvSpPr/>
          <p:nvPr/>
        </p:nvSpPr>
        <p:spPr>
          <a:xfrm>
            <a:off x="365760" y="1325880"/>
            <a:ext cx="4114800" cy="644652"/>
          </a:xfrm>
          <a:prstGeom prst="rect">
            <a:avLst/>
          </a:prstGeom>
          <a:solidFill>
            <a:srgbClr val="F5F8FF"/>
          </a:solidFill>
          <a:ln w="12700">
            <a:solidFill>
              <a:srgbClr val="E0E0E0"/>
            </a:solidFill>
            <a:prstDash val="solid"/>
          </a:ln>
        </p:spPr>
      </p:sp>
      <p:sp>
        <p:nvSpPr>
          <p:cNvPr id="8" name="Shape 5">
            <a:extLst>
              <a:ext uri="{FF2B5EF4-FFF2-40B4-BE49-F238E27FC236}">
                <a16:creationId xmlns:a16="http://schemas.microsoft.com/office/drawing/2014/main" id="{C7790236-7B7A-0B05-D5EE-29856265F2C2}"/>
              </a:ext>
            </a:extLst>
          </p:cNvPr>
          <p:cNvSpPr/>
          <p:nvPr/>
        </p:nvSpPr>
        <p:spPr>
          <a:xfrm>
            <a:off x="365760" y="1325880"/>
            <a:ext cx="54864" cy="644652"/>
          </a:xfrm>
          <a:prstGeom prst="rect">
            <a:avLst/>
          </a:prstGeom>
          <a:solidFill>
            <a:srgbClr val="E87722"/>
          </a:solidFill>
          <a:ln w="12700">
            <a:solidFill>
              <a:srgbClr val="E87722"/>
            </a:solidFill>
            <a:prstDash val="solid"/>
          </a:ln>
        </p:spPr>
      </p:sp>
      <p:sp>
        <p:nvSpPr>
          <p:cNvPr id="9" name="Text 6">
            <a:extLst>
              <a:ext uri="{FF2B5EF4-FFF2-40B4-BE49-F238E27FC236}">
                <a16:creationId xmlns:a16="http://schemas.microsoft.com/office/drawing/2014/main" id="{43D84CA3-3F6B-A263-F027-BF5DAD3E0732}"/>
              </a:ext>
            </a:extLst>
          </p:cNvPr>
          <p:cNvSpPr/>
          <p:nvPr/>
        </p:nvSpPr>
        <p:spPr>
          <a:xfrm>
            <a:off x="475488" y="1362456"/>
            <a:ext cx="3950208" cy="562356"/>
          </a:xfrm>
          <a:prstGeom prst="rect">
            <a:avLst/>
          </a:prstGeom>
          <a:noFill/>
          <a:ln/>
        </p:spPr>
        <p:txBody>
          <a:bodyPr wrap="square" rtlCol="0" anchor="t"/>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11. </a:t>
            </a:r>
            <a:r>
              <a:rPr lang="en-US" sz="1200" dirty="0" err="1">
                <a:solidFill>
                  <a:srgbClr val="3D3D3D"/>
                </a:solidFill>
                <a:latin typeface="Times New Roman" pitchFamily="34" charset="0"/>
                <a:ea typeface="Times New Roman" pitchFamily="34" charset="-122"/>
                <a:cs typeface="Times New Roman" pitchFamily="34" charset="-120"/>
              </a:rPr>
              <a:t>Kavakiotis</a:t>
            </a:r>
            <a:r>
              <a:rPr lang="en-US" sz="1200" dirty="0">
                <a:solidFill>
                  <a:srgbClr val="3D3D3D"/>
                </a:solidFill>
                <a:latin typeface="Times New Roman" pitchFamily="34" charset="0"/>
                <a:ea typeface="Times New Roman" pitchFamily="34" charset="-122"/>
                <a:cs typeface="Times New Roman" pitchFamily="34" charset="-120"/>
              </a:rPr>
              <a:t> I, et al. Machine Learning and Data Mining Methods in Diabetes Research. </a:t>
            </a:r>
            <a:r>
              <a:rPr lang="en-US" sz="1200" dirty="0" err="1">
                <a:solidFill>
                  <a:srgbClr val="3D3D3D"/>
                </a:solidFill>
                <a:latin typeface="Times New Roman" pitchFamily="34" charset="0"/>
                <a:ea typeface="Times New Roman" pitchFamily="34" charset="-122"/>
                <a:cs typeface="Times New Roman" pitchFamily="34" charset="-120"/>
              </a:rPr>
              <a:t>Comput</a:t>
            </a:r>
            <a:r>
              <a:rPr lang="en-US" sz="1200" dirty="0">
                <a:solidFill>
                  <a:srgbClr val="3D3D3D"/>
                </a:solidFill>
                <a:latin typeface="Times New Roman" pitchFamily="34" charset="0"/>
                <a:ea typeface="Times New Roman" pitchFamily="34" charset="-122"/>
                <a:cs typeface="Times New Roman" pitchFamily="34" charset="-120"/>
              </a:rPr>
              <a:t> Struct </a:t>
            </a:r>
            <a:r>
              <a:rPr lang="en-US" sz="1200" dirty="0" err="1">
                <a:solidFill>
                  <a:srgbClr val="3D3D3D"/>
                </a:solidFill>
                <a:latin typeface="Times New Roman" pitchFamily="34" charset="0"/>
                <a:ea typeface="Times New Roman" pitchFamily="34" charset="-122"/>
                <a:cs typeface="Times New Roman" pitchFamily="34" charset="-120"/>
              </a:rPr>
              <a:t>Biotechnol</a:t>
            </a:r>
            <a:r>
              <a:rPr lang="en-US" sz="1200" dirty="0">
                <a:solidFill>
                  <a:srgbClr val="3D3D3D"/>
                </a:solidFill>
                <a:latin typeface="Times New Roman" pitchFamily="34" charset="0"/>
                <a:ea typeface="Times New Roman" pitchFamily="34" charset="-122"/>
                <a:cs typeface="Times New Roman" pitchFamily="34" charset="-120"/>
              </a:rPr>
              <a:t> J. 2017.</a:t>
            </a:r>
            <a:endParaRPr lang="en-US" sz="1200" dirty="0"/>
          </a:p>
        </p:txBody>
      </p:sp>
      <p:sp>
        <p:nvSpPr>
          <p:cNvPr id="10" name="Shape 7">
            <a:extLst>
              <a:ext uri="{FF2B5EF4-FFF2-40B4-BE49-F238E27FC236}">
                <a16:creationId xmlns:a16="http://schemas.microsoft.com/office/drawing/2014/main" id="{DC4DC9FD-B233-2EA4-24B7-EF1C74468D9A}"/>
              </a:ext>
            </a:extLst>
          </p:cNvPr>
          <p:cNvSpPr/>
          <p:nvPr/>
        </p:nvSpPr>
        <p:spPr>
          <a:xfrm>
            <a:off x="365760" y="2016252"/>
            <a:ext cx="4114800" cy="644652"/>
          </a:xfrm>
          <a:prstGeom prst="rect">
            <a:avLst/>
          </a:prstGeom>
          <a:solidFill>
            <a:srgbClr val="FFFFFF"/>
          </a:solidFill>
          <a:ln w="12700">
            <a:solidFill>
              <a:srgbClr val="E0E0E0"/>
            </a:solidFill>
            <a:prstDash val="solid"/>
          </a:ln>
        </p:spPr>
      </p:sp>
      <p:sp>
        <p:nvSpPr>
          <p:cNvPr id="11" name="Shape 8">
            <a:extLst>
              <a:ext uri="{FF2B5EF4-FFF2-40B4-BE49-F238E27FC236}">
                <a16:creationId xmlns:a16="http://schemas.microsoft.com/office/drawing/2014/main" id="{7C68BBD7-3B48-E6B5-8160-B4A532F4DE5C}"/>
              </a:ext>
            </a:extLst>
          </p:cNvPr>
          <p:cNvSpPr/>
          <p:nvPr/>
        </p:nvSpPr>
        <p:spPr>
          <a:xfrm>
            <a:off x="365760" y="2016252"/>
            <a:ext cx="54864" cy="644652"/>
          </a:xfrm>
          <a:prstGeom prst="rect">
            <a:avLst/>
          </a:prstGeom>
          <a:solidFill>
            <a:srgbClr val="E87722"/>
          </a:solidFill>
          <a:ln w="12700">
            <a:solidFill>
              <a:srgbClr val="E87722"/>
            </a:solidFill>
            <a:prstDash val="solid"/>
          </a:ln>
        </p:spPr>
      </p:sp>
      <p:sp>
        <p:nvSpPr>
          <p:cNvPr id="12" name="Text 9">
            <a:extLst>
              <a:ext uri="{FF2B5EF4-FFF2-40B4-BE49-F238E27FC236}">
                <a16:creationId xmlns:a16="http://schemas.microsoft.com/office/drawing/2014/main" id="{11B585D9-0AE3-A803-1412-8DEC6BBA6A32}"/>
              </a:ext>
            </a:extLst>
          </p:cNvPr>
          <p:cNvSpPr/>
          <p:nvPr/>
        </p:nvSpPr>
        <p:spPr>
          <a:xfrm>
            <a:off x="475488" y="2052828"/>
            <a:ext cx="3950208" cy="562356"/>
          </a:xfrm>
          <a:prstGeom prst="rect">
            <a:avLst/>
          </a:prstGeom>
          <a:noFill/>
          <a:ln/>
        </p:spPr>
        <p:txBody>
          <a:bodyPr wrap="square" rtlCol="0" anchor="t"/>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12. </a:t>
            </a:r>
            <a:r>
              <a:rPr lang="en-US" sz="1200" dirty="0" err="1">
                <a:solidFill>
                  <a:srgbClr val="3D3D3D"/>
                </a:solidFill>
                <a:latin typeface="Times New Roman" pitchFamily="34" charset="0"/>
                <a:ea typeface="Times New Roman" pitchFamily="34" charset="-122"/>
                <a:cs typeface="Times New Roman" pitchFamily="34" charset="-120"/>
              </a:rPr>
              <a:t>Maniruzzaman</a:t>
            </a:r>
            <a:r>
              <a:rPr lang="en-US" sz="1200" dirty="0">
                <a:solidFill>
                  <a:srgbClr val="3D3D3D"/>
                </a:solidFill>
                <a:latin typeface="Times New Roman" pitchFamily="34" charset="0"/>
                <a:ea typeface="Times New Roman" pitchFamily="34" charset="-122"/>
                <a:cs typeface="Times New Roman" pitchFamily="34" charset="-120"/>
              </a:rPr>
              <a:t> M, et al. Accurate Risk Prediction of Type 2 Diabetes using Machine Learning. J Med Syst. 2018.</a:t>
            </a:r>
            <a:endParaRPr lang="en-US" sz="1200" dirty="0"/>
          </a:p>
        </p:txBody>
      </p:sp>
      <p:sp>
        <p:nvSpPr>
          <p:cNvPr id="16" name="Shape 7">
            <a:extLst>
              <a:ext uri="{FF2B5EF4-FFF2-40B4-BE49-F238E27FC236}">
                <a16:creationId xmlns:a16="http://schemas.microsoft.com/office/drawing/2014/main" id="{E2B2E999-FF11-9E4E-23D1-5E83DDF37166}"/>
              </a:ext>
            </a:extLst>
          </p:cNvPr>
          <p:cNvSpPr/>
          <p:nvPr/>
        </p:nvSpPr>
        <p:spPr>
          <a:xfrm>
            <a:off x="365760" y="2708673"/>
            <a:ext cx="4114800" cy="644652"/>
          </a:xfrm>
          <a:prstGeom prst="rect">
            <a:avLst/>
          </a:prstGeom>
          <a:solidFill>
            <a:srgbClr val="FFFFFF"/>
          </a:solidFill>
          <a:ln w="12700">
            <a:solidFill>
              <a:srgbClr val="E0E0E0"/>
            </a:solidFill>
            <a:prstDash val="solid"/>
          </a:ln>
        </p:spPr>
      </p:sp>
      <p:sp>
        <p:nvSpPr>
          <p:cNvPr id="17" name="Shape 8">
            <a:extLst>
              <a:ext uri="{FF2B5EF4-FFF2-40B4-BE49-F238E27FC236}">
                <a16:creationId xmlns:a16="http://schemas.microsoft.com/office/drawing/2014/main" id="{71AD1A99-0528-852E-BEB0-ECAFD4306A83}"/>
              </a:ext>
            </a:extLst>
          </p:cNvPr>
          <p:cNvSpPr/>
          <p:nvPr/>
        </p:nvSpPr>
        <p:spPr>
          <a:xfrm>
            <a:off x="365760" y="2708673"/>
            <a:ext cx="54864" cy="644652"/>
          </a:xfrm>
          <a:prstGeom prst="rect">
            <a:avLst/>
          </a:prstGeom>
          <a:solidFill>
            <a:srgbClr val="E87722"/>
          </a:solidFill>
          <a:ln w="12700">
            <a:solidFill>
              <a:srgbClr val="E87722"/>
            </a:solidFill>
            <a:prstDash val="solid"/>
          </a:ln>
        </p:spPr>
      </p:sp>
      <p:sp>
        <p:nvSpPr>
          <p:cNvPr id="18" name="Text 9">
            <a:extLst>
              <a:ext uri="{FF2B5EF4-FFF2-40B4-BE49-F238E27FC236}">
                <a16:creationId xmlns:a16="http://schemas.microsoft.com/office/drawing/2014/main" id="{A3AC8FB1-2C1A-FC46-73C6-84ED425C0B75}"/>
              </a:ext>
            </a:extLst>
          </p:cNvPr>
          <p:cNvSpPr/>
          <p:nvPr/>
        </p:nvSpPr>
        <p:spPr>
          <a:xfrm>
            <a:off x="475488" y="2745249"/>
            <a:ext cx="3950208" cy="562356"/>
          </a:xfrm>
          <a:prstGeom prst="rect">
            <a:avLst/>
          </a:prstGeom>
          <a:noFill/>
          <a:ln/>
        </p:spPr>
        <p:txBody>
          <a:bodyPr wrap="square" rtlCol="0" anchor="t"/>
          <a:lstStyle/>
          <a:p>
            <a:r>
              <a:rPr lang="en-US" sz="1200" dirty="0">
                <a:solidFill>
                  <a:srgbClr val="3D3D3D"/>
                </a:solidFill>
                <a:latin typeface="Times New Roman" pitchFamily="34" charset="0"/>
                <a:ea typeface="Times New Roman" pitchFamily="34" charset="-122"/>
                <a:cs typeface="Times New Roman" pitchFamily="34" charset="-120"/>
              </a:rPr>
              <a:t>13. Zhang et al., ML for CKD prediction from diabetes records — Computers in Biology and Medicine, 2022.</a:t>
            </a:r>
            <a:endParaRPr lang="en-US" sz="1200" dirty="0"/>
          </a:p>
        </p:txBody>
      </p:sp>
      <p:pic>
        <p:nvPicPr>
          <p:cNvPr id="13" name="Image 0" descr="preencoded.png">
            <a:extLst>
              <a:ext uri="{FF2B5EF4-FFF2-40B4-BE49-F238E27FC236}">
                <a16:creationId xmlns:a16="http://schemas.microsoft.com/office/drawing/2014/main" id="{AD3CED5F-0890-481A-9CB9-1A3F79A46E38}"/>
              </a:ext>
            </a:extLst>
          </p:cNvPr>
          <p:cNvPicPr>
            <a:picLocks noChangeAspect="1"/>
          </p:cNvPicPr>
          <p:nvPr/>
        </p:nvPicPr>
        <p:blipFill>
          <a:blip r:embed="rId3"/>
          <a:stretch>
            <a:fillRect/>
          </a:stretch>
        </p:blipFill>
        <p:spPr>
          <a:xfrm>
            <a:off x="0" y="126492"/>
            <a:ext cx="1143000" cy="475488"/>
          </a:xfrm>
          <a:prstGeom prst="rect">
            <a:avLst/>
          </a:prstGeom>
        </p:spPr>
      </p:pic>
      <p:grpSp>
        <p:nvGrpSpPr>
          <p:cNvPr id="14" name="Group 13">
            <a:extLst>
              <a:ext uri="{FF2B5EF4-FFF2-40B4-BE49-F238E27FC236}">
                <a16:creationId xmlns:a16="http://schemas.microsoft.com/office/drawing/2014/main" id="{6C5F93F5-770E-B8B4-0C9C-AE1EB55C13B7}"/>
              </a:ext>
            </a:extLst>
          </p:cNvPr>
          <p:cNvGrpSpPr/>
          <p:nvPr/>
        </p:nvGrpSpPr>
        <p:grpSpPr>
          <a:xfrm>
            <a:off x="7960583" y="126493"/>
            <a:ext cx="1143001" cy="475487"/>
            <a:chOff x="6173572" y="2276778"/>
            <a:chExt cx="2555268" cy="1333578"/>
          </a:xfrm>
        </p:grpSpPr>
        <p:pic>
          <p:nvPicPr>
            <p:cNvPr id="15" name="Picture 14" descr="A logo with blue and orange lines  AI-generated content may be incorrect.">
              <a:extLst>
                <a:ext uri="{FF2B5EF4-FFF2-40B4-BE49-F238E27FC236}">
                  <a16:creationId xmlns:a16="http://schemas.microsoft.com/office/drawing/2014/main" id="{757F8D95-0B12-A2F8-342E-730764CBFF7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173572" y="2276778"/>
              <a:ext cx="936104" cy="1295756"/>
            </a:xfrm>
            <a:prstGeom prst="rect">
              <a:avLst/>
            </a:prstGeom>
            <a:noFill/>
            <a:ln>
              <a:noFill/>
            </a:ln>
          </p:spPr>
        </p:pic>
        <p:pic>
          <p:nvPicPr>
            <p:cNvPr id="19" name="Picture 18">
              <a:extLst>
                <a:ext uri="{FF2B5EF4-FFF2-40B4-BE49-F238E27FC236}">
                  <a16:creationId xmlns:a16="http://schemas.microsoft.com/office/drawing/2014/main" id="{7419DB28-F34D-61F1-D59D-2486B641800B}"/>
                </a:ext>
              </a:extLst>
            </p:cNvPr>
            <p:cNvPicPr>
              <a:picLocks noChangeAspect="1"/>
            </p:cNvPicPr>
            <p:nvPr/>
          </p:nvPicPr>
          <p:blipFill rotWithShape="1">
            <a:blip r:embed="rId5">
              <a:extLst>
                <a:ext uri="{28A0092B-C50C-407E-A947-70E740481C1C}">
                  <a14:useLocalDpi xmlns:a14="http://schemas.microsoft.com/office/drawing/2010/main" val="0"/>
                </a:ext>
              </a:extLst>
            </a:blip>
            <a:srcRect l="30270" r="31417" b="2264"/>
            <a:stretch/>
          </p:blipFill>
          <p:spPr bwMode="auto">
            <a:xfrm>
              <a:off x="7178602" y="2276778"/>
              <a:ext cx="1550238" cy="1333578"/>
            </a:xfrm>
            <a:prstGeom prst="rect">
              <a:avLst/>
            </a:prstGeom>
            <a:ln>
              <a:noFill/>
            </a:ln>
            <a:extLst>
              <a:ext uri="{53640926-AAD7-44D8-BBD7-CCE9431645EC}">
                <a14:shadowObscured xmlns:a14="http://schemas.microsoft.com/office/drawing/2010/main"/>
              </a:ext>
            </a:extLst>
          </p:spPr>
        </p:pic>
      </p:grpSp>
    </p:spTree>
    <p:extLst>
      <p:ext uri="{BB962C8B-B14F-4D97-AF65-F5344CB8AC3E}">
        <p14:creationId xmlns:p14="http://schemas.microsoft.com/office/powerpoint/2010/main" val="23725980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1339</TotalTime>
  <Words>2438</Words>
  <Application>Microsoft Office PowerPoint</Application>
  <PresentationFormat>On-screen Show (16:9)</PresentationFormat>
  <Paragraphs>294</Paragraphs>
  <Slides>24</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Courier New</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Robust and Explainable Early Detection of Chronic Diseases</dc:title>
  <dc:subject>PptxGenJS Presentation</dc:subject>
  <dc:creator>PptxGenJS</dc:creator>
  <cp:lastModifiedBy>Shankara Narayana Rao K</cp:lastModifiedBy>
  <cp:revision>64</cp:revision>
  <dcterms:created xsi:type="dcterms:W3CDTF">2026-03-18T07:23:44Z</dcterms:created>
  <dcterms:modified xsi:type="dcterms:W3CDTF">2026-05-05T03:17:42Z</dcterms:modified>
</cp:coreProperties>
</file>